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[0:00–0:45] Apresente-se. Gancho: 'Uma rede neural consegue olhar um raio-X de 28 por 28 pixels e dizer se a criança tem pneumonia? Hoje vamos construir uma, do zero, em R.'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[0:45–1:30] Mostre o roteiro: primeiro a teoria, depois os dados, a ferramenta, a prática no RStudio, os resultados e exercícios no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[1:30–2:45] A ideia central: o computador não vê um pulmão, vê números. Estes são pixels reais deste raio-X, lidos pelo nosso script em R. O desafio é encontrar padrões nesses 784 números.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[2:45–4:00] Uma rede comum trata cada pixel como uma variável solta. A CNN olha pedaços pequenos e reaproveita o mesmo detector na imagem toda — muito menos pesos e respeito à vizinhança dos pixels.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[4:00–6:00] Este é o coração da CNN. Explique a conta devagar. Depois: numa região lisa, os valores da esquerda e da direita se cancelam e o resultado fica perto de zero. O filtro percorre a imagem toda e marca onde encontrou o padrão. E o ponto principal: a rede aprende sozinha quais filtros são úteis.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[6:00–7:00] Cada camada trabalha sobre os mapas da anterior. As primeiras enxergam coisas simples; as seguintes combinam essas coisas em padrões mais complexos. É parecido com o jeito como a gente reconhece um objeto: de traços a formas.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[7:00–8:30] ReLU: depois de cada convolução, valores negativos viram zero. Pooling: de cada bloco 2 por 2, fica só o maior valor — a imagem encolhe pela metade (28 → 14 → 7 na nossa rede) e o que importa é preservado.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[8:30–10:00] Percorra o caminho de um raio-X pela nossa rede, com os formatos reais. No fim, a rede dá duas notas; o softmax as transforma em probabilidades que somam 100%. Com notas 1,2 e 3,1, sai 13% normal e 87% pneumonia.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[10:00–11:30] O treino é esse ciclo repetido centenas de vezes: palpite, erro, descobrir a culpa de cada peso e ajustar. Cada volta melhora um pouco os filtros. No nosso caso: 37 lotes por época, 10 épocas, ou seja, 370 ajustes.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[11:30–12:45] Analogia: treino são os exercícios resolvidos, validação é o simulado e teste é a prova. Se medíssemos a nota no treino, seria como dar ao aluno a prova que ele usou para estudar. O dropout é uma defesa contra decorar.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[12:45–14:00] Apresente a base: radiografias reais de crianças, com diagnóstico normal ou pneumonia. Destaque o desbalanceamento: 74% pneumonia. Guarde esse número, ele volta nos resultados.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[14:00–14:45] Momento de interação: peça para quem assiste pausar e tentar adivinhar. Resposta: A é PNEUMONIA, B é NORMAL (no pulmão normal os campos pulmonares ficam mais escuros e nítidos). Comente: nem sempre é óbvio em 28 × 28 — é aí que a rede ajuda.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[14:45–15:45] O torch do R é uma das novidades do ecossistema R para ciência de dados — é o tipo de ferramenta que o projeto pede. Mostre que a instalação são três linhas e que funciona sem Python.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[15:45–17:00] Mapeie o código na teoria: duas convoluções com ReLU e pooling, achatar, camada densa com dropout, saída com 2 notas. Mostre a tabela: os filtros têm poucos pesos; quase tudo está na camada densa. Conta da conv1: 16 filtros × 9 pesos + 16 = 160.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[17:00–18:00] Ligue cada linha ao ciclo 'palpite, erro, culpa, ajuste'. Detalhe do R: no torch do R as classes começam em 1, não em 0 — por isso somamos 1 aos rótulos na preparação dos 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[18:00–25:00] PRÁTICA NO RSTUDIO (câmera opcional aqui). Rode seção por seção com Ctrl+Enter e comente o que aparece: seção 3 mostra os 10 raios-X e o table() com 1214 × 3494; seção 5 imprime a rede e os 105.346 parâmetros; seção 6 mostra a perda caindo e a AUC da validação subindo a cada época; seção 7 dá a matriz de confusão; seção 8 mostra a rede diagnosticando raios-X do teste.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[25:00–26:15] Leia a matriz: a diagonal são os acertos. A rede quase não deixa passar pneumonia — só 6 em 390 —, mas dá alarme falso em 76 das 234 crianças saudáveis.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[26:15–27:15] Duas lições. Primeira: a rede herdou o desbalanceamento dos dados. Segunda: para imagens pequenas assim, uma rede simples já chega perto de uma arquitetura de 11 milhões de parâmetros.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[27:15–28:30] Proponha os exercícios. Dica para o 1: é a troca entre sensibilidade e especificidade. Os pesos do 2 são o inverso da frequência de cada classe no treino (4708 / (2 × 1214) e 4708 / (2 × 3494)).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[28:30–29:00] Feche com o resumo em três frases e agradeça.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de Dados · 1ª VA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Redes Neurais Convolucionais</a:t>
            </a:r>
            <a:endParaRPr lang="en-US" sz="5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546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Diagnosticando pneumonia em raios-X com torch no R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760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 Pires Aquino de Carvalho · UFRPE</a:t>
            </a:r>
            <a:endParaRPr lang="en-US" sz="1400" dirty="0"/>
          </a:p>
        </p:txBody>
      </p:sp>
      <p:pic>
        <p:nvPicPr>
          <p:cNvPr id="6" name="Image 0" descr="/home/user/topicos-avancados-ia/code/cnn-pneumonia-r/slides/img/raiox_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0" y="1371600"/>
            <a:ext cx="3017520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vamos ver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2103120"/>
            <a:ext cx="1691640" cy="2377440"/>
          </a:xfrm>
          <a:prstGeom prst="roundRect">
            <a:avLst>
              <a:gd name="adj" fmla="val 648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28600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20040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65760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uma CNN enxerga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23160" y="2103120"/>
            <a:ext cx="1691640" cy="2377440"/>
          </a:xfrm>
          <a:prstGeom prst="roundRect">
            <a:avLst>
              <a:gd name="adj" fmla="val 648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423160" y="228600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2514600" y="320040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dados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514600" y="365760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raios-X de tórax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297680" y="2103120"/>
            <a:ext cx="1691640" cy="2377440"/>
          </a:xfrm>
          <a:prstGeom prst="roundRect">
            <a:avLst>
              <a:gd name="adj" fmla="val 648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297680" y="228600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4389120" y="320040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torch no R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389120" y="365760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ferramenta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72200" y="2103120"/>
            <a:ext cx="1691640" cy="2377440"/>
          </a:xfrm>
          <a:prstGeom prst="roundRect">
            <a:avLst>
              <a:gd name="adj" fmla="val 648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72200" y="228600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320040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Prática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365760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código rodando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046720" y="2103120"/>
            <a:ext cx="1691640" cy="2377440"/>
          </a:xfrm>
          <a:prstGeom prst="roundRect">
            <a:avLst>
              <a:gd name="adj" fmla="val 648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46720" y="228600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8138160" y="320040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8138160" y="365760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rede acertou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9921240" y="2103120"/>
            <a:ext cx="1691640" cy="2377440"/>
          </a:xfrm>
          <a:prstGeom prst="roundRect">
            <a:avLst>
              <a:gd name="adj" fmla="val 648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921240" y="228600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000" dirty="0"/>
          </a:p>
        </p:txBody>
      </p:sp>
      <p:sp>
        <p:nvSpPr>
          <p:cNvPr id="25" name="Text 23"/>
          <p:cNvSpPr txBox="1"/>
          <p:nvPr/>
        </p:nvSpPr>
        <p:spPr>
          <a:xfrm>
            <a:off x="10012680" y="320040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Exercícios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0012680" y="365760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você praticar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o computador, imagem é uma tabela</a:t>
            </a:r>
            <a:endParaRPr lang="en-US" sz="3200" dirty="0"/>
          </a:p>
        </p:txBody>
      </p:sp>
      <p:pic>
        <p:nvPicPr>
          <p:cNvPr id="3" name="Image 0" descr="/home/user/topicos-avancados-ia/code/cnn-pneumonia-r/slides/img/raiox_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4206240" cy="4206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074920" y="3291840"/>
            <a:ext cx="457200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760720" y="1371600"/>
            <a:ext cx="566928" cy="566928"/>
          </a:xfrm>
          <a:prstGeom prst="rect">
            <a:avLst/>
          </a:prstGeom>
          <a:solidFill>
            <a:srgbClr val="54545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760720" y="1371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327648" y="1371600"/>
            <a:ext cx="566928" cy="566928"/>
          </a:xfrm>
          <a:prstGeom prst="rect">
            <a:avLst/>
          </a:prstGeom>
          <a:solidFill>
            <a:srgbClr val="39393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327648" y="1371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894576" y="1371600"/>
            <a:ext cx="566928" cy="566928"/>
          </a:xfrm>
          <a:prstGeom prst="rect">
            <a:avLst/>
          </a:prstGeom>
          <a:solidFill>
            <a:srgbClr val="32323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94576" y="1371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7461504" y="1371600"/>
            <a:ext cx="566928" cy="566928"/>
          </a:xfrm>
          <a:prstGeom prst="rect">
            <a:avLst/>
          </a:prstGeom>
          <a:solidFill>
            <a:srgbClr val="26262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461504" y="1371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028432" y="1371600"/>
            <a:ext cx="566928" cy="566928"/>
          </a:xfrm>
          <a:prstGeom prst="rect">
            <a:avLst/>
          </a:prstGeom>
          <a:solidFill>
            <a:srgbClr val="39393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28432" y="1371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595360" y="1371600"/>
            <a:ext cx="566928" cy="566928"/>
          </a:xfrm>
          <a:prstGeom prst="rect">
            <a:avLst/>
          </a:prstGeom>
          <a:solidFill>
            <a:srgbClr val="3E3E3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595360" y="1371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5760720" y="1938528"/>
            <a:ext cx="566928" cy="566928"/>
          </a:xfrm>
          <a:prstGeom prst="rect">
            <a:avLst/>
          </a:prstGeom>
          <a:solidFill>
            <a:srgbClr val="55555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760720" y="19385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327648" y="1938528"/>
            <a:ext cx="566928" cy="566928"/>
          </a:xfrm>
          <a:prstGeom prst="rect">
            <a:avLst/>
          </a:prstGeom>
          <a:solidFill>
            <a:srgbClr val="41414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27648" y="19385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6894576" y="1938528"/>
            <a:ext cx="566928" cy="566928"/>
          </a:xfrm>
          <a:prstGeom prst="rect">
            <a:avLst/>
          </a:prstGeom>
          <a:solidFill>
            <a:srgbClr val="36363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94576" y="19385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7461504" y="1938528"/>
            <a:ext cx="566928" cy="566928"/>
          </a:xfrm>
          <a:prstGeom prst="rect">
            <a:avLst/>
          </a:prstGeom>
          <a:solidFill>
            <a:srgbClr val="31313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461504" y="19385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8028432" y="1938528"/>
            <a:ext cx="566928" cy="566928"/>
          </a:xfrm>
          <a:prstGeom prst="rect">
            <a:avLst/>
          </a:prstGeom>
          <a:solidFill>
            <a:srgbClr val="45454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028432" y="19385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8595360" y="1938528"/>
            <a:ext cx="566928" cy="566928"/>
          </a:xfrm>
          <a:prstGeom prst="rect">
            <a:avLst/>
          </a:prstGeom>
          <a:solidFill>
            <a:srgbClr val="46464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595360" y="19385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5760720" y="2505456"/>
            <a:ext cx="566928" cy="566928"/>
          </a:xfrm>
          <a:prstGeom prst="rect">
            <a:avLst/>
          </a:prstGeom>
          <a:solidFill>
            <a:srgbClr val="50505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760720" y="25054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6327648" y="2505456"/>
            <a:ext cx="566928" cy="566928"/>
          </a:xfrm>
          <a:prstGeom prst="rect">
            <a:avLst/>
          </a:prstGeom>
          <a:solidFill>
            <a:srgbClr val="44444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327648" y="25054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6894576" y="2505456"/>
            <a:ext cx="566928" cy="566928"/>
          </a:xfrm>
          <a:prstGeom prst="rect">
            <a:avLst/>
          </a:prstGeom>
          <a:solidFill>
            <a:srgbClr val="3B3B3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894576" y="25054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7461504" y="2505456"/>
            <a:ext cx="566928" cy="566928"/>
          </a:xfrm>
          <a:prstGeom prst="rect">
            <a:avLst/>
          </a:prstGeom>
          <a:solidFill>
            <a:srgbClr val="33333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461504" y="25054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600" dirty="0"/>
          </a:p>
        </p:txBody>
      </p:sp>
      <p:sp>
        <p:nvSpPr>
          <p:cNvPr id="37" name="Shape 34"/>
          <p:cNvSpPr/>
          <p:nvPr/>
        </p:nvSpPr>
        <p:spPr>
          <a:xfrm>
            <a:off x="8028432" y="2505456"/>
            <a:ext cx="566928" cy="566928"/>
          </a:xfrm>
          <a:prstGeom prst="rect">
            <a:avLst/>
          </a:prstGeom>
          <a:solidFill>
            <a:srgbClr val="48484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028432" y="25054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600" dirty="0"/>
          </a:p>
        </p:txBody>
      </p:sp>
      <p:sp>
        <p:nvSpPr>
          <p:cNvPr id="39" name="Shape 36"/>
          <p:cNvSpPr/>
          <p:nvPr/>
        </p:nvSpPr>
        <p:spPr>
          <a:xfrm>
            <a:off x="8595360" y="2505456"/>
            <a:ext cx="566928" cy="566928"/>
          </a:xfrm>
          <a:prstGeom prst="rect">
            <a:avLst/>
          </a:prstGeom>
          <a:solidFill>
            <a:srgbClr val="43434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595360" y="25054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1600" dirty="0"/>
          </a:p>
        </p:txBody>
      </p:sp>
      <p:sp>
        <p:nvSpPr>
          <p:cNvPr id="41" name="Shape 38"/>
          <p:cNvSpPr/>
          <p:nvPr/>
        </p:nvSpPr>
        <p:spPr>
          <a:xfrm>
            <a:off x="5760720" y="3072384"/>
            <a:ext cx="566928" cy="566928"/>
          </a:xfrm>
          <a:prstGeom prst="rect">
            <a:avLst/>
          </a:prstGeom>
          <a:solidFill>
            <a:srgbClr val="4F4F4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760720" y="30723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</a:t>
            </a:r>
            <a:endParaRPr lang="en-US" sz="1600" dirty="0"/>
          </a:p>
        </p:txBody>
      </p:sp>
      <p:sp>
        <p:nvSpPr>
          <p:cNvPr id="43" name="Shape 40"/>
          <p:cNvSpPr/>
          <p:nvPr/>
        </p:nvSpPr>
        <p:spPr>
          <a:xfrm>
            <a:off x="6327648" y="3072384"/>
            <a:ext cx="566928" cy="566928"/>
          </a:xfrm>
          <a:prstGeom prst="rect">
            <a:avLst/>
          </a:prstGeom>
          <a:solidFill>
            <a:srgbClr val="44444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327648" y="30723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1600" dirty="0"/>
          </a:p>
        </p:txBody>
      </p:sp>
      <p:sp>
        <p:nvSpPr>
          <p:cNvPr id="45" name="Shape 42"/>
          <p:cNvSpPr/>
          <p:nvPr/>
        </p:nvSpPr>
        <p:spPr>
          <a:xfrm>
            <a:off x="6894576" y="3072384"/>
            <a:ext cx="566928" cy="566928"/>
          </a:xfrm>
          <a:prstGeom prst="rect">
            <a:avLst/>
          </a:prstGeom>
          <a:solidFill>
            <a:srgbClr val="38383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894576" y="30723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1600" dirty="0"/>
          </a:p>
        </p:txBody>
      </p:sp>
      <p:sp>
        <p:nvSpPr>
          <p:cNvPr id="47" name="Shape 44"/>
          <p:cNvSpPr/>
          <p:nvPr/>
        </p:nvSpPr>
        <p:spPr>
          <a:xfrm>
            <a:off x="7461504" y="3072384"/>
            <a:ext cx="566928" cy="566928"/>
          </a:xfrm>
          <a:prstGeom prst="rect">
            <a:avLst/>
          </a:prstGeom>
          <a:solidFill>
            <a:srgbClr val="3A3A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7461504" y="30723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1600" dirty="0"/>
          </a:p>
        </p:txBody>
      </p:sp>
      <p:sp>
        <p:nvSpPr>
          <p:cNvPr id="49" name="Shape 46"/>
          <p:cNvSpPr/>
          <p:nvPr/>
        </p:nvSpPr>
        <p:spPr>
          <a:xfrm>
            <a:off x="8028432" y="3072384"/>
            <a:ext cx="566928" cy="566928"/>
          </a:xfrm>
          <a:prstGeom prst="rect">
            <a:avLst/>
          </a:prstGeom>
          <a:solidFill>
            <a:srgbClr val="50505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028432" y="30723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600" dirty="0"/>
          </a:p>
        </p:txBody>
      </p:sp>
      <p:sp>
        <p:nvSpPr>
          <p:cNvPr id="51" name="Shape 48"/>
          <p:cNvSpPr/>
          <p:nvPr/>
        </p:nvSpPr>
        <p:spPr>
          <a:xfrm>
            <a:off x="8595360" y="3072384"/>
            <a:ext cx="566928" cy="566928"/>
          </a:xfrm>
          <a:prstGeom prst="rect">
            <a:avLst/>
          </a:prstGeom>
          <a:solidFill>
            <a:srgbClr val="48484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595360" y="30723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600" dirty="0"/>
          </a:p>
        </p:txBody>
      </p:sp>
      <p:sp>
        <p:nvSpPr>
          <p:cNvPr id="53" name="Shape 50"/>
          <p:cNvSpPr/>
          <p:nvPr/>
        </p:nvSpPr>
        <p:spPr>
          <a:xfrm>
            <a:off x="5760720" y="3639312"/>
            <a:ext cx="566928" cy="566928"/>
          </a:xfrm>
          <a:prstGeom prst="rect">
            <a:avLst/>
          </a:prstGeom>
          <a:solidFill>
            <a:srgbClr val="53535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5760720" y="36393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</a:t>
            </a:r>
            <a:endParaRPr lang="en-US" sz="1600" dirty="0"/>
          </a:p>
        </p:txBody>
      </p:sp>
      <p:sp>
        <p:nvSpPr>
          <p:cNvPr id="55" name="Shape 52"/>
          <p:cNvSpPr/>
          <p:nvPr/>
        </p:nvSpPr>
        <p:spPr>
          <a:xfrm>
            <a:off x="6327648" y="3639312"/>
            <a:ext cx="566928" cy="566928"/>
          </a:xfrm>
          <a:prstGeom prst="rect">
            <a:avLst/>
          </a:prstGeom>
          <a:solidFill>
            <a:srgbClr val="48484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6327648" y="36393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600" dirty="0"/>
          </a:p>
        </p:txBody>
      </p:sp>
      <p:sp>
        <p:nvSpPr>
          <p:cNvPr id="57" name="Shape 54"/>
          <p:cNvSpPr/>
          <p:nvPr/>
        </p:nvSpPr>
        <p:spPr>
          <a:xfrm>
            <a:off x="6894576" y="3639312"/>
            <a:ext cx="566928" cy="566928"/>
          </a:xfrm>
          <a:prstGeom prst="rect">
            <a:avLst/>
          </a:prstGeom>
          <a:solidFill>
            <a:srgbClr val="33333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894576" y="36393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600" dirty="0"/>
          </a:p>
        </p:txBody>
      </p:sp>
      <p:sp>
        <p:nvSpPr>
          <p:cNvPr id="59" name="Shape 56"/>
          <p:cNvSpPr/>
          <p:nvPr/>
        </p:nvSpPr>
        <p:spPr>
          <a:xfrm>
            <a:off x="7461504" y="3639312"/>
            <a:ext cx="566928" cy="566928"/>
          </a:xfrm>
          <a:prstGeom prst="rect">
            <a:avLst/>
          </a:prstGeom>
          <a:solidFill>
            <a:srgbClr val="33333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7461504" y="36393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600" dirty="0"/>
          </a:p>
        </p:txBody>
      </p:sp>
      <p:sp>
        <p:nvSpPr>
          <p:cNvPr id="61" name="Shape 58"/>
          <p:cNvSpPr/>
          <p:nvPr/>
        </p:nvSpPr>
        <p:spPr>
          <a:xfrm>
            <a:off x="8028432" y="3639312"/>
            <a:ext cx="566928" cy="566928"/>
          </a:xfrm>
          <a:prstGeom prst="rect">
            <a:avLst/>
          </a:prstGeom>
          <a:solidFill>
            <a:srgbClr val="4A4A4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028432" y="36393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1600" dirty="0"/>
          </a:p>
        </p:txBody>
      </p:sp>
      <p:sp>
        <p:nvSpPr>
          <p:cNvPr id="63" name="Shape 60"/>
          <p:cNvSpPr/>
          <p:nvPr/>
        </p:nvSpPr>
        <p:spPr>
          <a:xfrm>
            <a:off x="8595360" y="3639312"/>
            <a:ext cx="566928" cy="566928"/>
          </a:xfrm>
          <a:prstGeom prst="rect">
            <a:avLst/>
          </a:prstGeom>
          <a:solidFill>
            <a:srgbClr val="42424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595360" y="36393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</a:t>
            </a:r>
            <a:endParaRPr lang="en-US" sz="1600" dirty="0"/>
          </a:p>
        </p:txBody>
      </p:sp>
      <p:sp>
        <p:nvSpPr>
          <p:cNvPr id="65" name="Shape 62"/>
          <p:cNvSpPr/>
          <p:nvPr/>
        </p:nvSpPr>
        <p:spPr>
          <a:xfrm>
            <a:off x="5760720" y="4206240"/>
            <a:ext cx="566928" cy="566928"/>
          </a:xfrm>
          <a:prstGeom prst="rect">
            <a:avLst/>
          </a:prstGeom>
          <a:solidFill>
            <a:srgbClr val="39393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5760720" y="4206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600" dirty="0"/>
          </a:p>
        </p:txBody>
      </p:sp>
      <p:sp>
        <p:nvSpPr>
          <p:cNvPr id="67" name="Shape 64"/>
          <p:cNvSpPr/>
          <p:nvPr/>
        </p:nvSpPr>
        <p:spPr>
          <a:xfrm>
            <a:off x="6327648" y="4206240"/>
            <a:ext cx="566928" cy="566928"/>
          </a:xfrm>
          <a:prstGeom prst="rect">
            <a:avLst/>
          </a:prstGeom>
          <a:solidFill>
            <a:srgbClr val="30303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6327648" y="4206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600" dirty="0"/>
          </a:p>
        </p:txBody>
      </p:sp>
      <p:sp>
        <p:nvSpPr>
          <p:cNvPr id="69" name="Shape 66"/>
          <p:cNvSpPr/>
          <p:nvPr/>
        </p:nvSpPr>
        <p:spPr>
          <a:xfrm>
            <a:off x="6894576" y="4206240"/>
            <a:ext cx="566928" cy="566928"/>
          </a:xfrm>
          <a:prstGeom prst="rect">
            <a:avLst/>
          </a:prstGeom>
          <a:solidFill>
            <a:srgbClr val="3E3E3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6894576" y="4206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1600" dirty="0"/>
          </a:p>
        </p:txBody>
      </p:sp>
      <p:sp>
        <p:nvSpPr>
          <p:cNvPr id="71" name="Shape 68"/>
          <p:cNvSpPr/>
          <p:nvPr/>
        </p:nvSpPr>
        <p:spPr>
          <a:xfrm>
            <a:off x="7461504" y="4206240"/>
            <a:ext cx="566928" cy="566928"/>
          </a:xfrm>
          <a:prstGeom prst="rect">
            <a:avLst/>
          </a:prstGeom>
          <a:solidFill>
            <a:srgbClr val="47474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7461504" y="4206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600" dirty="0"/>
          </a:p>
        </p:txBody>
      </p:sp>
      <p:sp>
        <p:nvSpPr>
          <p:cNvPr id="73" name="Shape 70"/>
          <p:cNvSpPr/>
          <p:nvPr/>
        </p:nvSpPr>
        <p:spPr>
          <a:xfrm>
            <a:off x="8028432" y="4206240"/>
            <a:ext cx="566928" cy="566928"/>
          </a:xfrm>
          <a:prstGeom prst="rect">
            <a:avLst/>
          </a:prstGeom>
          <a:solidFill>
            <a:srgbClr val="4D4D4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8028432" y="4206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600" dirty="0"/>
          </a:p>
        </p:txBody>
      </p:sp>
      <p:sp>
        <p:nvSpPr>
          <p:cNvPr id="75" name="Shape 72"/>
          <p:cNvSpPr/>
          <p:nvPr/>
        </p:nvSpPr>
        <p:spPr>
          <a:xfrm>
            <a:off x="8595360" y="4206240"/>
            <a:ext cx="566928" cy="566928"/>
          </a:xfrm>
          <a:prstGeom prst="rect">
            <a:avLst/>
          </a:prstGeom>
          <a:solidFill>
            <a:srgbClr val="4F4F4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8595360" y="4206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</a:t>
            </a:r>
            <a:endParaRPr lang="en-US" sz="1600" dirty="0"/>
          </a:p>
        </p:txBody>
      </p:sp>
      <p:sp>
        <p:nvSpPr>
          <p:cNvPr id="77" name="Text 74"/>
          <p:cNvSpPr txBox="1"/>
          <p:nvPr/>
        </p:nvSpPr>
        <p:spPr>
          <a:xfrm>
            <a:off x="9418320" y="1463040"/>
            <a:ext cx="222199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recorte de 6 × 6 pixels deste raio-X, como o R o lê.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é preto, 255 é branco.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imagem: 28 × 28 = 784 números.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não uma rede neural comum?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94960" cy="2743200"/>
          </a:xfrm>
          <a:prstGeom prst="roundRect">
            <a:avLst>
              <a:gd name="adj" fmla="val 4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784 pesos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8803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neurônio numa rede densa comum: ela achata a imagem numa fila de 784 números e perde a noção de vizinhança — quem está ao lado de quem.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45352" y="1463040"/>
            <a:ext cx="5394960" cy="2743200"/>
          </a:xfrm>
          <a:prstGeom prst="roundRect">
            <a:avLst>
              <a:gd name="adj" fmla="val 4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19672" y="1645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pesos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6519672" y="28803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filtro numa CNN: ele olha pedaços 3 × 3 e é reaproveitado na imagem inteira, então reconhece o mesmo padrão em qualquer posição.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6634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CNN aproveita a estrutura da imagem: pixels vizinhos têm relação.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Convolução: um filtro que desliza pela imagem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325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pedaço da imagem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737360"/>
            <a:ext cx="822960" cy="822960"/>
          </a:xfrm>
          <a:prstGeom prst="rect">
            <a:avLst/>
          </a:prstGeom>
          <a:solidFill>
            <a:srgbClr val="0A0A0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1645920" y="1737360"/>
            <a:ext cx="822960" cy="822960"/>
          </a:xfrm>
          <a:prstGeom prst="rect">
            <a:avLst/>
          </a:prstGeom>
          <a:solidFill>
            <a:srgbClr val="0A0A0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645920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300" dirty="0"/>
          </a:p>
        </p:txBody>
      </p:sp>
      <p:sp>
        <p:nvSpPr>
          <p:cNvPr id="8" name="Shape 6"/>
          <p:cNvSpPr/>
          <p:nvPr/>
        </p:nvSpPr>
        <p:spPr>
          <a:xfrm>
            <a:off x="2468880" y="1737360"/>
            <a:ext cx="822960" cy="822960"/>
          </a:xfrm>
          <a:prstGeom prst="rect">
            <a:avLst/>
          </a:prstGeom>
          <a:solidFill>
            <a:srgbClr val="C8C8C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468880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</a:t>
            </a:r>
            <a:endParaRPr lang="en-US" sz="2300" dirty="0"/>
          </a:p>
        </p:txBody>
      </p:sp>
      <p:sp>
        <p:nvSpPr>
          <p:cNvPr id="10" name="Shape 8"/>
          <p:cNvSpPr/>
          <p:nvPr/>
        </p:nvSpPr>
        <p:spPr>
          <a:xfrm>
            <a:off x="822960" y="2560320"/>
            <a:ext cx="822960" cy="822960"/>
          </a:xfrm>
          <a:prstGeom prst="rect">
            <a:avLst/>
          </a:prstGeom>
          <a:solidFill>
            <a:srgbClr val="0A0A0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2560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300" dirty="0"/>
          </a:p>
        </p:txBody>
      </p:sp>
      <p:sp>
        <p:nvSpPr>
          <p:cNvPr id="12" name="Shape 10"/>
          <p:cNvSpPr/>
          <p:nvPr/>
        </p:nvSpPr>
        <p:spPr>
          <a:xfrm>
            <a:off x="1645920" y="2560320"/>
            <a:ext cx="822960" cy="822960"/>
          </a:xfrm>
          <a:prstGeom prst="rect">
            <a:avLst/>
          </a:prstGeom>
          <a:solidFill>
            <a:srgbClr val="0A0A0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645920" y="2560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300" dirty="0"/>
          </a:p>
        </p:txBody>
      </p:sp>
      <p:sp>
        <p:nvSpPr>
          <p:cNvPr id="14" name="Shape 12"/>
          <p:cNvSpPr/>
          <p:nvPr/>
        </p:nvSpPr>
        <p:spPr>
          <a:xfrm>
            <a:off x="2468880" y="2560320"/>
            <a:ext cx="822960" cy="822960"/>
          </a:xfrm>
          <a:prstGeom prst="rect">
            <a:avLst/>
          </a:prstGeom>
          <a:solidFill>
            <a:srgbClr val="C8C8C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468880" y="2560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</a:t>
            </a:r>
            <a:endParaRPr lang="en-US" sz="2300" dirty="0"/>
          </a:p>
        </p:txBody>
      </p:sp>
      <p:sp>
        <p:nvSpPr>
          <p:cNvPr id="16" name="Shape 14"/>
          <p:cNvSpPr/>
          <p:nvPr/>
        </p:nvSpPr>
        <p:spPr>
          <a:xfrm>
            <a:off x="822960" y="3383280"/>
            <a:ext cx="822960" cy="822960"/>
          </a:xfrm>
          <a:prstGeom prst="rect">
            <a:avLst/>
          </a:prstGeom>
          <a:solidFill>
            <a:srgbClr val="0A0A0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3383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300" dirty="0"/>
          </a:p>
        </p:txBody>
      </p:sp>
      <p:sp>
        <p:nvSpPr>
          <p:cNvPr id="18" name="Shape 16"/>
          <p:cNvSpPr/>
          <p:nvPr/>
        </p:nvSpPr>
        <p:spPr>
          <a:xfrm>
            <a:off x="1645920" y="3383280"/>
            <a:ext cx="822960" cy="822960"/>
          </a:xfrm>
          <a:prstGeom prst="rect">
            <a:avLst/>
          </a:prstGeom>
          <a:solidFill>
            <a:srgbClr val="0A0A0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645920" y="3383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300" dirty="0"/>
          </a:p>
        </p:txBody>
      </p:sp>
      <p:sp>
        <p:nvSpPr>
          <p:cNvPr id="20" name="Shape 18"/>
          <p:cNvSpPr/>
          <p:nvPr/>
        </p:nvSpPr>
        <p:spPr>
          <a:xfrm>
            <a:off x="2468880" y="3383280"/>
            <a:ext cx="822960" cy="822960"/>
          </a:xfrm>
          <a:prstGeom prst="rect">
            <a:avLst/>
          </a:prstGeom>
          <a:solidFill>
            <a:srgbClr val="C8C8C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468880" y="3383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</a:t>
            </a:r>
            <a:endParaRPr lang="en-US" sz="2300" dirty="0"/>
          </a:p>
        </p:txBody>
      </p:sp>
      <p:sp>
        <p:nvSpPr>
          <p:cNvPr id="22" name="Text 20"/>
          <p:cNvSpPr txBox="1"/>
          <p:nvPr/>
        </p:nvSpPr>
        <p:spPr>
          <a:xfrm>
            <a:off x="3429000" y="26060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4000" dirty="0"/>
          </a:p>
        </p:txBody>
      </p:sp>
      <p:sp>
        <p:nvSpPr>
          <p:cNvPr id="23" name="Text 21"/>
          <p:cNvSpPr txBox="1"/>
          <p:nvPr/>
        </p:nvSpPr>
        <p:spPr>
          <a:xfrm>
            <a:off x="4206240" y="1325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3 × 3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206240" y="1737360"/>
            <a:ext cx="822960" cy="822960"/>
          </a:xfrm>
          <a:prstGeom prst="rect">
            <a:avLst/>
          </a:prstGeom>
          <a:solidFill>
            <a:srgbClr val="CADCF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06240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</a:t>
            </a:r>
            <a:endParaRPr lang="en-US" sz="2300" dirty="0"/>
          </a:p>
        </p:txBody>
      </p:sp>
      <p:sp>
        <p:nvSpPr>
          <p:cNvPr id="26" name="Shape 24"/>
          <p:cNvSpPr/>
          <p:nvPr/>
        </p:nvSpPr>
        <p:spPr>
          <a:xfrm>
            <a:off x="5029200" y="1737360"/>
            <a:ext cx="822960" cy="822960"/>
          </a:xfrm>
          <a:prstGeom prst="rect">
            <a:avLst/>
          </a:prstGeom>
          <a:solidFill>
            <a:srgbClr val="F2F4F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029200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300" dirty="0"/>
          </a:p>
        </p:txBody>
      </p:sp>
      <p:sp>
        <p:nvSpPr>
          <p:cNvPr id="28" name="Shape 26"/>
          <p:cNvSpPr/>
          <p:nvPr/>
        </p:nvSpPr>
        <p:spPr>
          <a:xfrm>
            <a:off x="5852160" y="1737360"/>
            <a:ext cx="822960" cy="822960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852160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300" dirty="0"/>
          </a:p>
        </p:txBody>
      </p:sp>
      <p:sp>
        <p:nvSpPr>
          <p:cNvPr id="30" name="Shape 28"/>
          <p:cNvSpPr/>
          <p:nvPr/>
        </p:nvSpPr>
        <p:spPr>
          <a:xfrm>
            <a:off x="4206240" y="2560320"/>
            <a:ext cx="822960" cy="822960"/>
          </a:xfrm>
          <a:prstGeom prst="rect">
            <a:avLst/>
          </a:prstGeom>
          <a:solidFill>
            <a:srgbClr val="CADCF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06240" y="2560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</a:t>
            </a:r>
            <a:endParaRPr lang="en-US" sz="2300" dirty="0"/>
          </a:p>
        </p:txBody>
      </p:sp>
      <p:sp>
        <p:nvSpPr>
          <p:cNvPr id="32" name="Shape 30"/>
          <p:cNvSpPr/>
          <p:nvPr/>
        </p:nvSpPr>
        <p:spPr>
          <a:xfrm>
            <a:off x="5029200" y="2560320"/>
            <a:ext cx="822960" cy="822960"/>
          </a:xfrm>
          <a:prstGeom prst="rect">
            <a:avLst/>
          </a:prstGeom>
          <a:solidFill>
            <a:srgbClr val="F2F4F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29200" y="2560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300" dirty="0"/>
          </a:p>
        </p:txBody>
      </p:sp>
      <p:sp>
        <p:nvSpPr>
          <p:cNvPr id="34" name="Shape 32"/>
          <p:cNvSpPr/>
          <p:nvPr/>
        </p:nvSpPr>
        <p:spPr>
          <a:xfrm>
            <a:off x="5852160" y="2560320"/>
            <a:ext cx="822960" cy="822960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852160" y="2560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300" dirty="0"/>
          </a:p>
        </p:txBody>
      </p:sp>
      <p:sp>
        <p:nvSpPr>
          <p:cNvPr id="36" name="Shape 34"/>
          <p:cNvSpPr/>
          <p:nvPr/>
        </p:nvSpPr>
        <p:spPr>
          <a:xfrm>
            <a:off x="4206240" y="3383280"/>
            <a:ext cx="822960" cy="822960"/>
          </a:xfrm>
          <a:prstGeom prst="rect">
            <a:avLst/>
          </a:prstGeom>
          <a:solidFill>
            <a:srgbClr val="CADCF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206240" y="3383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</a:t>
            </a:r>
            <a:endParaRPr lang="en-US" sz="2300" dirty="0"/>
          </a:p>
        </p:txBody>
      </p:sp>
      <p:sp>
        <p:nvSpPr>
          <p:cNvPr id="38" name="Shape 36"/>
          <p:cNvSpPr/>
          <p:nvPr/>
        </p:nvSpPr>
        <p:spPr>
          <a:xfrm>
            <a:off x="5029200" y="3383280"/>
            <a:ext cx="822960" cy="822960"/>
          </a:xfrm>
          <a:prstGeom prst="rect">
            <a:avLst/>
          </a:prstGeom>
          <a:solidFill>
            <a:srgbClr val="F2F4F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029200" y="3383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300" dirty="0"/>
          </a:p>
        </p:txBody>
      </p:sp>
      <p:sp>
        <p:nvSpPr>
          <p:cNvPr id="40" name="Shape 38"/>
          <p:cNvSpPr/>
          <p:nvPr/>
        </p:nvSpPr>
        <p:spPr>
          <a:xfrm>
            <a:off x="5852160" y="3383280"/>
            <a:ext cx="822960" cy="822960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852160" y="3383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300" dirty="0"/>
          </a:p>
        </p:txBody>
      </p:sp>
      <p:sp>
        <p:nvSpPr>
          <p:cNvPr id="42" name="Text 40"/>
          <p:cNvSpPr txBox="1"/>
          <p:nvPr/>
        </p:nvSpPr>
        <p:spPr>
          <a:xfrm>
            <a:off x="6812280" y="26060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4000" dirty="0"/>
          </a:p>
        </p:txBody>
      </p:sp>
      <p:sp>
        <p:nvSpPr>
          <p:cNvPr id="43" name="Shape 41"/>
          <p:cNvSpPr/>
          <p:nvPr/>
        </p:nvSpPr>
        <p:spPr>
          <a:xfrm>
            <a:off x="7589520" y="1737360"/>
            <a:ext cx="4050792" cy="2468880"/>
          </a:xfrm>
          <a:prstGeom prst="roundRect">
            <a:avLst>
              <a:gd name="adj" fmla="val 444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863840" y="1920240"/>
            <a:ext cx="3502152" cy="11109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570</a:t>
            </a:r>
            <a:endParaRPr lang="en-US" sz="4800" dirty="0"/>
          </a:p>
        </p:txBody>
      </p:sp>
      <p:sp>
        <p:nvSpPr>
          <p:cNvPr id="45" name="Text 43"/>
          <p:cNvSpPr txBox="1"/>
          <p:nvPr/>
        </p:nvSpPr>
        <p:spPr>
          <a:xfrm>
            <a:off x="7863840" y="3031236"/>
            <a:ext cx="3502152" cy="1037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alto: o filtro achou uma borda vertical (escuro à esquerda, claro à direita)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457200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 casa por casa e soma: 3 × (−10 + 0 + 200) = 570. Numa região lisa, o resultado seria perto de zero.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filtro desliza pela imagem inteira e gera um mapa de onde o padrão aparece.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CNN ninguém escolhe esses números: eles são aprendidos no treino.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Camadas em sequência: do simples ao complexo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383280" cy="2926080"/>
          </a:xfrm>
          <a:prstGeom prst="roundRect">
            <a:avLst>
              <a:gd name="adj" fmla="val 375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20574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camada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560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bordas e contrastes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8404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filtros na nossa rede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977640" y="3108960"/>
            <a:ext cx="365760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89120" y="1828800"/>
            <a:ext cx="3383280" cy="2926080"/>
          </a:xfrm>
          <a:prstGeom prst="roundRect">
            <a:avLst>
              <a:gd name="adj" fmla="val 375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63440" y="20574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 camada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2560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texturas e formas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38404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filtros, combinando os mapas da 1ª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818120" y="3108960"/>
            <a:ext cx="365760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0" y="1828800"/>
            <a:ext cx="3383280" cy="2926080"/>
          </a:xfrm>
          <a:prstGeom prst="roundRect">
            <a:avLst>
              <a:gd name="adj" fmla="val 375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503920" y="20574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camadas finais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503920" y="2560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padrões que indicam o diagnóstico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8503920" y="38404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pulmão mais opaco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ReLU e pooling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ReLU: zera o que é negativo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005840" y="2103120"/>
            <a:ext cx="914400" cy="914400"/>
          </a:xfrm>
          <a:prstGeom prst="rect">
            <a:avLst/>
          </a:prstGeom>
          <a:solidFill>
            <a:srgbClr val="F2F4F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1920240" y="2103120"/>
            <a:ext cx="914400" cy="914400"/>
          </a:xfrm>
          <a:prstGeom prst="rect">
            <a:avLst/>
          </a:prstGeom>
          <a:solidFill>
            <a:srgbClr val="F2F4F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920240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2834640" y="2103120"/>
            <a:ext cx="914400" cy="914400"/>
          </a:xfrm>
          <a:prstGeom prst="rect">
            <a:avLst/>
          </a:prstGeom>
          <a:solidFill>
            <a:srgbClr val="F2F4F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34640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3749040" y="2103120"/>
            <a:ext cx="914400" cy="914400"/>
          </a:xfrm>
          <a:prstGeom prst="rect">
            <a:avLst/>
          </a:prstGeom>
          <a:solidFill>
            <a:srgbClr val="F2F4F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49040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30632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max(0, x)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005840" y="3566160"/>
            <a:ext cx="914400" cy="914400"/>
          </a:xfrm>
          <a:prstGeom prst="rect">
            <a:avLst/>
          </a:prstGeom>
          <a:solidFill>
            <a:srgbClr val="F2F4F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1920240" y="3566160"/>
            <a:ext cx="914400" cy="914400"/>
          </a:xfrm>
          <a:prstGeom prst="rect">
            <a:avLst/>
          </a:prstGeom>
          <a:solidFill>
            <a:srgbClr val="F2F4F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2024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2834640" y="3566160"/>
            <a:ext cx="914400" cy="914400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83464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3749040" y="3566160"/>
            <a:ext cx="914400" cy="914400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74904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7548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Simples, mas é o que deixa a rede aprender relações não lineares.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1371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 pooling 2 × 2: resume cada região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6309360" y="2103120"/>
            <a:ext cx="640080" cy="640080"/>
          </a:xfrm>
          <a:prstGeom prst="rect">
            <a:avLst/>
          </a:prstGeom>
          <a:solidFill>
            <a:srgbClr val="CADCF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0936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6949440" y="2103120"/>
            <a:ext cx="640080" cy="640080"/>
          </a:xfrm>
          <a:prstGeom prst="rect">
            <a:avLst/>
          </a:prstGeom>
          <a:solidFill>
            <a:srgbClr val="CADCF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94944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7589520" y="2103120"/>
            <a:ext cx="640080" cy="640080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58952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8229600" y="2103120"/>
            <a:ext cx="640080" cy="640080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2960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6309360" y="2743200"/>
            <a:ext cx="640080" cy="640080"/>
          </a:xfrm>
          <a:prstGeom prst="rect">
            <a:avLst/>
          </a:prstGeom>
          <a:solidFill>
            <a:srgbClr val="CADCF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309360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6949440" y="2743200"/>
            <a:ext cx="640080" cy="640080"/>
          </a:xfrm>
          <a:prstGeom prst="rect">
            <a:avLst/>
          </a:prstGeom>
          <a:solidFill>
            <a:srgbClr val="CADCF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949440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7589520" y="2743200"/>
            <a:ext cx="640080" cy="640080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589520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8229600" y="2743200"/>
            <a:ext cx="640080" cy="640080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229600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6309360" y="3383280"/>
            <a:ext cx="640080" cy="640080"/>
          </a:xfrm>
          <a:prstGeom prst="rect">
            <a:avLst/>
          </a:prstGeom>
          <a:solidFill>
            <a:srgbClr val="C8EBD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309360" y="3383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6949440" y="3383280"/>
            <a:ext cx="640080" cy="640080"/>
          </a:xfrm>
          <a:prstGeom prst="rect">
            <a:avLst/>
          </a:prstGeom>
          <a:solidFill>
            <a:srgbClr val="C8EBD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949440" y="3383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7589520" y="3383280"/>
            <a:ext cx="640080" cy="640080"/>
          </a:xfrm>
          <a:prstGeom prst="rect">
            <a:avLst/>
          </a:prstGeom>
          <a:solidFill>
            <a:srgbClr val="DDD8F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589520" y="3383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8229600" y="3383280"/>
            <a:ext cx="640080" cy="640080"/>
          </a:xfrm>
          <a:prstGeom prst="rect">
            <a:avLst/>
          </a:prstGeom>
          <a:solidFill>
            <a:srgbClr val="DDD8F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229600" y="3383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6309360" y="4023360"/>
            <a:ext cx="640080" cy="640080"/>
          </a:xfrm>
          <a:prstGeom prst="rect">
            <a:avLst/>
          </a:prstGeom>
          <a:solidFill>
            <a:srgbClr val="C8EBD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309360" y="4023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6949440" y="4023360"/>
            <a:ext cx="640080" cy="640080"/>
          </a:xfrm>
          <a:prstGeom prst="rect">
            <a:avLst/>
          </a:prstGeom>
          <a:solidFill>
            <a:srgbClr val="C8EBD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949440" y="4023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7589520" y="4023360"/>
            <a:ext cx="640080" cy="640080"/>
          </a:xfrm>
          <a:prstGeom prst="rect">
            <a:avLst/>
          </a:prstGeom>
          <a:solidFill>
            <a:srgbClr val="DDD8F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589520" y="4023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8229600" y="4023360"/>
            <a:ext cx="640080" cy="640080"/>
          </a:xfrm>
          <a:prstGeom prst="rect">
            <a:avLst/>
          </a:prstGeom>
          <a:solidFill>
            <a:srgbClr val="DDD8F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8229600" y="4023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9006840" y="3246120"/>
            <a:ext cx="457200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692640" y="2697480"/>
            <a:ext cx="640080" cy="640080"/>
          </a:xfrm>
          <a:prstGeom prst="rect">
            <a:avLst/>
          </a:prstGeom>
          <a:solidFill>
            <a:srgbClr val="CADCF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9692640" y="2697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10332720" y="2697480"/>
            <a:ext cx="640080" cy="640080"/>
          </a:xfrm>
          <a:prstGeom prst="rect">
            <a:avLst/>
          </a:prstGeom>
          <a:solidFill>
            <a:srgbClr val="FAD3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10332720" y="2697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60" name="Shape 58"/>
          <p:cNvSpPr/>
          <p:nvPr/>
        </p:nvSpPr>
        <p:spPr>
          <a:xfrm>
            <a:off x="9692640" y="3337560"/>
            <a:ext cx="640080" cy="640080"/>
          </a:xfrm>
          <a:prstGeom prst="rect">
            <a:avLst/>
          </a:prstGeom>
          <a:solidFill>
            <a:srgbClr val="C8EBD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9692640" y="3337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62" name="Shape 60"/>
          <p:cNvSpPr/>
          <p:nvPr/>
        </p:nvSpPr>
        <p:spPr>
          <a:xfrm>
            <a:off x="10332720" y="3337560"/>
            <a:ext cx="640080" cy="640080"/>
          </a:xfrm>
          <a:prstGeom prst="rect">
            <a:avLst/>
          </a:prstGeom>
          <a:solidFill>
            <a:srgbClr val="DDD8F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0332720" y="3337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64" name="Text 62"/>
          <p:cNvSpPr txBox="1"/>
          <p:nvPr/>
        </p:nvSpPr>
        <p:spPr>
          <a:xfrm>
            <a:off x="6217920" y="475488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 o maior valor de cada bloco: a imagem cai pela metade, e o sinal mais forte fica.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 imagem à decisão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1600200" cy="1463040"/>
          </a:xfrm>
          <a:prstGeom prst="roundRect">
            <a:avLst>
              <a:gd name="adj" fmla="val 75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69164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raio-X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28600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× 28 × 28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167128" y="2148840"/>
            <a:ext cx="256032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441448" y="1554480"/>
            <a:ext cx="1600200" cy="1463040"/>
          </a:xfrm>
          <a:prstGeom prst="roundRect">
            <a:avLst>
              <a:gd name="adj" fmla="val 75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32888" y="169164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 + ReLU + pool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532888" y="228600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× 14 × 14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059936" y="2148840"/>
            <a:ext cx="256032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34256" y="1554480"/>
            <a:ext cx="1600200" cy="1463040"/>
          </a:xfrm>
          <a:prstGeom prst="roundRect">
            <a:avLst>
              <a:gd name="adj" fmla="val 75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25696" y="169164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 + ReLU + pool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425696" y="228600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× 7 × 7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952744" y="2148840"/>
            <a:ext cx="256032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27064" y="1554480"/>
            <a:ext cx="1600200" cy="1463040"/>
          </a:xfrm>
          <a:prstGeom prst="roundRect">
            <a:avLst>
              <a:gd name="adj" fmla="val 75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18504" y="169164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achata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318504" y="228600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1.568 números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845552" y="2148840"/>
            <a:ext cx="256032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19872" y="1554480"/>
            <a:ext cx="1600200" cy="1463040"/>
          </a:xfrm>
          <a:prstGeom prst="roundRect">
            <a:avLst>
              <a:gd name="adj" fmla="val 75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11312" y="169164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densa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11312" y="228600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9738360" y="2148840"/>
            <a:ext cx="256032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012680" y="1554480"/>
            <a:ext cx="1600200" cy="1463040"/>
          </a:xfrm>
          <a:prstGeom prst="roundRect">
            <a:avLst>
              <a:gd name="adj" fmla="val 7500"/>
            </a:avLst>
          </a:prstGeom>
          <a:solidFill>
            <a:srgbClr val="FAD3C2"/>
          </a:solidFill>
          <a:ln w="12700">
            <a:solidFill>
              <a:srgbClr val="FAD3C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104120" y="169164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0104120" y="228600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notas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35661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Softmax: transforma as 2 notas em probabilidades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548640" y="420624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2960" y="4389120"/>
            <a:ext cx="484632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1,2  e  3,1</a:t>
            </a:r>
            <a:endParaRPr lang="en-US" sz="36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5294376"/>
            <a:ext cx="48463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notas que a rede deu para normal e pneumonia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245352" y="420624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519672" y="4389120"/>
            <a:ext cx="484632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13%  ·  87%</a:t>
            </a:r>
            <a:endParaRPr lang="en-US" sz="3600" dirty="0"/>
          </a:p>
        </p:txBody>
      </p:sp>
      <p:sp>
        <p:nvSpPr>
          <p:cNvPr id="32" name="Text 30"/>
          <p:cNvSpPr txBox="1"/>
          <p:nvPr/>
        </p:nvSpPr>
        <p:spPr>
          <a:xfrm>
            <a:off x="6519672" y="5294376"/>
            <a:ext cx="48463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· pneumonia — a resposta é a maior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 rede aprende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2514600" cy="2834640"/>
          </a:xfrm>
          <a:prstGeom prst="roundRect">
            <a:avLst>
              <a:gd name="adj" fmla="val 4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4231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Palpite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92608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rede vê um lote de raios-X e dá as notas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081528" y="2834640"/>
            <a:ext cx="274320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83280" y="1554480"/>
            <a:ext cx="2514600" cy="2834640"/>
          </a:xfrm>
          <a:prstGeom prst="roundRect">
            <a:avLst>
              <a:gd name="adj" fmla="val 4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16916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24231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292608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 com o diagnóstico real (entropia cruzada)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916168" y="2834640"/>
            <a:ext cx="274320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1554480"/>
            <a:ext cx="2514600" cy="2834640"/>
          </a:xfrm>
          <a:prstGeom prst="roundRect">
            <a:avLst>
              <a:gd name="adj" fmla="val 4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46520" y="16916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24231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Culpa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292608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 quanto cada peso contribuiu para o erro (backpropagation)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750808" y="2834640"/>
            <a:ext cx="274320" cy="320040"/>
          </a:xfrm>
          <a:prstGeom prst="rightArrow">
            <a:avLst/>
          </a:prstGeom>
          <a:solidFill>
            <a:srgbClr val="52514E"/>
          </a:solidFill>
          <a:ln w="12700">
            <a:solidFill>
              <a:srgbClr val="52514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52560" y="1554480"/>
            <a:ext cx="2514600" cy="2834640"/>
          </a:xfrm>
          <a:prstGeom prst="roundRect">
            <a:avLst>
              <a:gd name="adj" fmla="val 4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281160" y="16916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600" dirty="0"/>
          </a:p>
        </p:txBody>
      </p:sp>
      <p:sp>
        <p:nvSpPr>
          <p:cNvPr id="20" name="Text 18"/>
          <p:cNvSpPr txBox="1"/>
          <p:nvPr/>
        </p:nvSpPr>
        <p:spPr>
          <a:xfrm>
            <a:off x="9281160" y="24231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9281160" y="292608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cada peso um pouco na direção certa (otimizador Adam)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84632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Lote: </a:t>
            </a:r>
            <a:pPr indent="0" marL="0"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 imagens de cada vez.   </a:t>
            </a:r>
            <a:pPr indent="0" marL="0">
              <a:buNone/>
            </a:pPr>
            <a:r>
              <a:rPr lang="en-US" sz="1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Época: </a:t>
            </a:r>
            <a:pPr indent="0" marL="0"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passar pelas 4.708 imagens de treino uma vez (37 lotes). Treinamos 10 épocas.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Treino, validação e teste — e o risco de decorar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474720" cy="219456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29260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4.708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633472"/>
            <a:ext cx="29260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treino: a rede aprende com essas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357116" y="1463040"/>
            <a:ext cx="3474720" cy="219456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31436" y="1645920"/>
            <a:ext cx="29260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524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631436" y="2633472"/>
            <a:ext cx="29260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validação: acompanha o progresso a cada época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65592" y="1463040"/>
            <a:ext cx="3474720" cy="219456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39912" y="1645920"/>
            <a:ext cx="29260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624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439912" y="2633472"/>
            <a:ext cx="29260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teste: a prova final, com imagens que a rede nunca viu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11094415" cy="219456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251960"/>
            <a:ext cx="1054577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Overfitting: 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rede decora o treino em vez de aprender o padrão — vai bem nas imagens que já viu e mal nas novas.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Dropout: 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 o treino, desliga 30% dos neurônios ao acaso. A rede não pode depender de poucos caminhos e generaliza melhor.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dados: PneumoniaMNIST</a:t>
            </a:r>
            <a:endParaRPr lang="en-US" sz="3200" dirty="0"/>
          </a:p>
        </p:txBody>
      </p:sp>
      <p:pic>
        <p:nvPicPr>
          <p:cNvPr id="3" name="Image 0" descr="/home/user/topicos-avancados-ia/code/cnn-pneumonia-r/slides/img/amostr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7772400" cy="33162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6177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Figura gerada pelo próprio script em R.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595360" y="1234440"/>
            <a:ext cx="3044952" cy="1737360"/>
          </a:xfrm>
          <a:prstGeom prst="roundRect">
            <a:avLst>
              <a:gd name="adj" fmla="val 631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869680" y="1417320"/>
            <a:ext cx="2496312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5.856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8869680" y="2199132"/>
            <a:ext cx="2496312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raios-X de tórax de crianças, reduzidos para 28 × 28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595360" y="3154680"/>
            <a:ext cx="3044952" cy="1737360"/>
          </a:xfrm>
          <a:prstGeom prst="roundRect">
            <a:avLst>
              <a:gd name="adj" fmla="val 631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869680" y="3337560"/>
            <a:ext cx="2496312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74%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8869680" y="4119372"/>
            <a:ext cx="2496312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imagens de treino são de pneumonia (3.494 × 1.214)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530352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Kermany et al., Cell (2018); padronizado pelo MedMNIST v2 — Yang et al., Scientific Data (2023).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Sua vez: normal ou pneumonia?</a:t>
            </a:r>
            <a:endParaRPr lang="en-US" sz="3200" dirty="0"/>
          </a:p>
        </p:txBody>
      </p:sp>
      <p:pic>
        <p:nvPicPr>
          <p:cNvPr id="3" name="Image 0" descr="/home/user/topicos-avancados-ia/code/cnn-pneumonia-r/slides/img/adivinhe_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1371600"/>
            <a:ext cx="3840480" cy="38404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828800" y="53035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3200" dirty="0"/>
          </a:p>
        </p:txBody>
      </p:sp>
      <p:pic>
        <p:nvPicPr>
          <p:cNvPr id="5" name="Image 1" descr="/home/user/topicos-avancados-ia/code/cnn-pneumonia-r/slides/img/adivinhe_1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3840480" cy="38404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400800" y="53035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3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ferramenta: torch no 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56692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Pacote do projeto mlverse que traz para o R o mesmo motor de deep learning do PyTorch (a biblioteca libtorch, em C++).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precisa de Python.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Blocos que vamos usar: nn_conv2d, nnf_relu, nnf_max_pool2d, nn_linear, nn_dropout, optim_adam, dataloader.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583680" y="1463040"/>
            <a:ext cx="5056632" cy="3291840"/>
          </a:xfrm>
          <a:prstGeom prst="roundRect">
            <a:avLst>
              <a:gd name="adj" fmla="val 3333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0" y="1691640"/>
            <a:ext cx="4507992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D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instalação (só uma vez)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install.packages("torch")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library(torch)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install_torch()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9D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teste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torch_randn(2, 3)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CNN no código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6949440" cy="5029200"/>
          </a:xfrm>
          <a:prstGeom prst="roundRect">
            <a:avLst>
              <a:gd name="adj" fmla="val 2182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64008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CNN &lt;- nn_module("CNNSimples",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initialize = function() 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self$conv1 &lt;- nn_conv2d(1, 16, 3, padding = 1)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self$conv2 &lt;- nn_conv2d(16, 32, 3, padding = 1)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self$fc1 &lt;- nn_linear(32 * 7 * 7, 64)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self$fc2 &lt;- nn_linear(64, 2)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self$drop &lt;- nn_dropout(0.3)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forward = function(x) 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 &lt;- nnf_max_pool2d(nnf_relu(self$conv1(x)), 2)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 &lt;- nnf_max_pool2d(nnf_relu(self$conv2(x)), 2)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 &lt;- torch_flatten(x, start_dim = 2)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 &lt;- self$drop(nnf_relu(self$fc1(x)))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self$fc2(x)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</a:t>
            </a:r>
            <a:endParaRPr lang="en-US" sz="15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1325880"/>
          <a:ext cx="37764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76479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Camada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Pesos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4.640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100.416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105.346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863840" y="4023360"/>
            <a:ext cx="3776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dos pesos estão na camada densa fc1 — os filtros convolucionais são baratos.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treino no código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1094415" cy="3840480"/>
          </a:xfrm>
          <a:prstGeom prst="roundRect">
            <a:avLst>
              <a:gd name="adj" fmla="val 2857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10545775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otimizador &lt;- optim_adam(modelo$parameters, lr = 0.001)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(epoca in 1:10) 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coro::loop(for (lote in lotes) 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otimizador$zero_grad()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perda &lt;- nnf_cross_entropy(modelo(lote[[1]]), lote[[2]])  # palpite e erro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perda$backward()                                          # culpa de cada peso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otimizador$step()                                         # ajuste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4864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quatro etapas da teoria viram quatro linhas de código.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Hora da prática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116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Vamos rodar o script no RStudio, seção por seção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3017520"/>
            <a:ext cx="2606040" cy="1005840"/>
          </a:xfrm>
          <a:prstGeom prst="roundRect">
            <a:avLst>
              <a:gd name="adj" fmla="val 10909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01752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pacotes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383280" y="3017520"/>
            <a:ext cx="2606040" cy="1005840"/>
          </a:xfrm>
          <a:prstGeom prst="roundRect">
            <a:avLst>
              <a:gd name="adj" fmla="val 10909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11880" y="301752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funções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217920" y="3017520"/>
            <a:ext cx="2606040" cy="1005840"/>
          </a:xfrm>
          <a:prstGeom prst="roundRect">
            <a:avLst>
              <a:gd name="adj" fmla="val 10909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46520" y="301752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dados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9052560" y="3017520"/>
            <a:ext cx="2606040" cy="1005840"/>
          </a:xfrm>
          <a:prstGeom prst="roundRect">
            <a:avLst>
              <a:gd name="adj" fmla="val 10909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281160" y="301752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tensores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48640" y="4297680"/>
            <a:ext cx="2606040" cy="1005840"/>
          </a:xfrm>
          <a:prstGeom prst="roundRect">
            <a:avLst>
              <a:gd name="adj" fmla="val 10909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42976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a CNN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3383280" y="4297680"/>
            <a:ext cx="2606040" cy="1005840"/>
          </a:xfrm>
          <a:prstGeom prst="roundRect">
            <a:avLst>
              <a:gd name="adj" fmla="val 10909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611880" y="42976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treino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217920" y="4297680"/>
            <a:ext cx="2606040" cy="1005840"/>
          </a:xfrm>
          <a:prstGeom prst="roundRect">
            <a:avLst>
              <a:gd name="adj" fmla="val 10909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46520" y="42976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teste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9052560" y="4297680"/>
            <a:ext cx="2606040" cy="1005840"/>
          </a:xfrm>
          <a:prstGeom prst="roundRect">
            <a:avLst>
              <a:gd name="adj" fmla="val 10909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281160" y="42976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em ação</a:t>
            </a:r>
            <a:endParaRPr lang="en-US" sz="2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 no teste: 624 raios-X novos</a:t>
            </a:r>
            <a:endParaRPr lang="en-US" sz="3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66751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194560"/>
                <a:gridCol w="2194560"/>
              </a:tblGrid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previsto: normal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previsto: pneumonia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verdadeiro: normal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B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D3C2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verdadeiro: pneumonia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D3C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BDD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34340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Verde: acertos · laranja: erros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7680960" y="1463040"/>
            <a:ext cx="3959352" cy="1417320"/>
          </a:xfrm>
          <a:prstGeom prst="roundRect">
            <a:avLst>
              <a:gd name="adj" fmla="val 774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955280" y="1645920"/>
            <a:ext cx="3410712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86,9%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7955280" y="2283714"/>
            <a:ext cx="3410712" cy="459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acurácia: 542 de 624 acertos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680960" y="3017520"/>
            <a:ext cx="3959352" cy="1417320"/>
          </a:xfrm>
          <a:prstGeom prst="roundRect">
            <a:avLst>
              <a:gd name="adj" fmla="val 774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955280" y="3200400"/>
            <a:ext cx="3410712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98,5%</a:t>
            </a:r>
            <a:endParaRPr lang="en-US" sz="3200" dirty="0"/>
          </a:p>
        </p:txBody>
      </p:sp>
      <p:sp>
        <p:nvSpPr>
          <p:cNvPr id="10" name="Text 7"/>
          <p:cNvSpPr txBox="1"/>
          <p:nvPr/>
        </p:nvSpPr>
        <p:spPr>
          <a:xfrm>
            <a:off x="7955280" y="3838194"/>
            <a:ext cx="3410712" cy="459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pneumonias detectadas (384 de 390)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680960" y="4572000"/>
            <a:ext cx="3959352" cy="1417320"/>
          </a:xfrm>
          <a:prstGeom prst="roundRect">
            <a:avLst>
              <a:gd name="adj" fmla="val 774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955280" y="4754880"/>
            <a:ext cx="3410712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67,5%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5392674"/>
            <a:ext cx="3410712" cy="459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normais reconhecidos (158 de 234)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 resultado ensina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24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O viés vem dos dados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77440"/>
            <a:ext cx="4846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74% de pneumonia no treino, a rede aprendeu que, na dúvida, “pneumonia” costuma acertar. Resultado: 76 alarmes falsos contra 6 casos perdidos. Num diagnóstico, qual desses erros é pior?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245352" y="1463040"/>
            <a:ext cx="5394960" cy="4572000"/>
          </a:xfrm>
          <a:prstGeom prst="roundRect">
            <a:avLst>
              <a:gd name="adj" fmla="val 24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19672" y="16916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Tamanho não é tudo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19672" y="2423160"/>
          <a:ext cx="48463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737360"/>
                <a:gridCol w="1463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pesos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acurácia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nossa CNN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 mil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86,9%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ResNet-18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 milhões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87,2%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519672" y="402336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ResNet-18 é a rede de referência do artigo MedMNIST v2, treinada nesta mesma base. Uma CNN 100 vezes menor chega perto da mesma acurácia.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Exercícios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94960" cy="2240280"/>
          </a:xfrm>
          <a:prstGeom prst="roundRect">
            <a:avLst>
              <a:gd name="adj" fmla="val 489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Mude o corte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4884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seção 7, troque 0.5 por 0.9 em  p_teste &gt; 0.5 . O que acontece com os alarmes falsos e com as pneumonias detectadas? (não precisa retreinar)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245352" y="1417320"/>
            <a:ext cx="5394960" cy="2240280"/>
          </a:xfrm>
          <a:prstGeom prst="roundRect">
            <a:avLst>
              <a:gd name="adj" fmla="val 489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19672" y="16002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Pese as classes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519672" y="214884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seção 6, acrescente  weight = torch_tensor(c(1.94, 0.67))  na nnf_cross_entropy. A matriz de confusão fica mais equilibrada?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886200"/>
            <a:ext cx="5394960" cy="2240280"/>
          </a:xfrm>
          <a:prstGeom prst="roundRect">
            <a:avLst>
              <a:gd name="adj" fmla="val 489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40690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Mais ou menos filtros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61772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Troque 16 e 32 por 8 e 16, depois por 32 e 64 (lembre de ajustar o 32 * 7 * 7 da fc1). Quantos pesos? E a acurácia?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45352" y="3886200"/>
            <a:ext cx="5394960" cy="2240280"/>
          </a:xfrm>
          <a:prstGeom prst="roundRect">
            <a:avLst>
              <a:gd name="adj" fmla="val 489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19672" y="40690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Provoque overfitting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519672" y="461772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Tire o dropout e treine 30 épocas. Compare a perda do treino com a AUC da validação.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Resumindo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44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CNN aprende filtros que encontram padrões na imagem, do simples ao complexo.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torch, o R treina uma CNN de ponta a ponta, sem Python.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rede de 105 mil pesos acertou 86,9% dos raios-X de teste — e herdou o viés dos dados.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31920"/>
            <a:ext cx="110944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LeCun et al. Gradient-based learning applied to document recognition. Proc. IEEE 86(11), 1998.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Goodfellow, Bengio, Courville. Deep Learning. MIT Press, 2016.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Kermany et al. Identifying medical diagnoses and treatable diseases by image-based deep learning. Cell 172(5), 2018.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et al. MedMNIST v2. Scientific Data 10, 41, 2023.  ·  torch para R: torch.mlverse.org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Redes Neurais Convolucionais em R</dc:title>
  <dc:subject>PptxGenJS Presentation</dc:subject>
  <dc:creator>PptxGenJS</dc:creator>
  <cp:lastModifiedBy>PptxGenJS</cp:lastModifiedBy>
  <cp:revision>1</cp:revision>
  <dcterms:created xsi:type="dcterms:W3CDTF">2026-09-28T13:43:10Z</dcterms:created>
  <dcterms:modified xsi:type="dcterms:W3CDTF">2026-09-28T13:43:10Z</dcterms:modified>
</cp:coreProperties>
</file>