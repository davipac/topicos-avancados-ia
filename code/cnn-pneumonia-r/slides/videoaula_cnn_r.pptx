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[0:00–0:30] Apresente-se: nome, curso, disciplina. Gancho: 'Um computador consegue olhar um raio-X de tórax e dizer se a criança tem pneumonia? Nesta aula eu mostro como, com uma rede neural convolucional treinada em R.'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[0:30–1:00] Mostre o roteiro: primeiro a teoria (o que é uma CNN e como ela aprende), depois os dados, o código em R, a prática com os resultados e, no final, exercícios.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[1:00–1:50] Defina a tarefa: entra uma imagem, sai a probabilidade de pneumonia. É um problema de classificação: duas classes possíveis. O modelo aprende com exemplos já diagnosticados.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[1:50–3:10] Antes da CNN, a peça básica. Um neurônio é uma soma ponderada: pega as entradas, multiplica cada uma por um peso, soma, e soma mais um número fixo. Faça a conta do exemplo. A rede neural junta muitos desses em camadas. Os pesos começam sorteados e são ajustados no treino, a partir dos exemplos. Camada densa é o nome da camada em que cada neurônio olha todas as entradas.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[3:10–4:20] Dê a visão geral antes dos detalhes. Uma CNN é uma rede neural especializada em imagens. Ela tem duas partes: a primeira procura padrões na imagem, com três peças — convolução, ReLU e pooling — repetidas; a segunda pega os padrões encontrados e decide. Por que não uma rede comum? Ela veria os pixels como colunas soltas, sem saber quem é vizinho de quem, e teria de aprender de novo o mesmo padrão em cada posição da imagem.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[4:20–5:00] O computador não vê um pulmão, vê uma matriz de números. Estes são pixels reais deste raio-X, lidos pelo script em R. A CNN vai procurar padrões nessa matriz.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[5:00–6:15] O coração da CNN. Explique a conta devagar: casa por casa, multiplica e soma. Com este filtro, a coluna da esquerda entra com sinal negativo e a da direita com positivo: se a direita é mais clara, o resultado é alto. Numa região lisa, os dois lados se cancelam. Depois o filtro desliza e repete a conta por toda a imagem; o resultado é uma nova imagem, chamada mapa.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[6:15–7:15] Ponto central: os filtros não são programados. Começam com números aleatórios e o treino os ajusta — como, eu mostro daqui a pouco. Aqui, à esquerda, o resultado real de passar um filtro de borda vertical, escolhido à mão, por este raio-X: o mapa acende nas bordas das costelas e dos pulmões. Na rede, são 16 filtros diferentes, cada um gerando o seu mapa.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[7:15–8:25] Mostre o antes e depois: todo valor negativo (o azul) vira zero e sobra só o laranja. Leia a linha de números: −3 vira 0, os positivos continuam iguais. Por fim, mostre onde ela fica: sempre logo depois da convolução, antes do pooling.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[8:25–9:20] Pooling: de cada bloco de 2 por 2, fica o maior valor. O mapa encolhe pela metade em cada direção, mas o sinal forte continua lá — compare o mapa real de 28 por 28 com o de 14 por 14. E responda a dúvida natural: sim, o que sai daqui é uma imagem menor, que entra na próxima convolução.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[9:20–10:20] Junte as peças e siga um raio-X. Entra 1 imagem de 28 por 28. A primeira convolução gera 16 mapas; o pooling os reduz para 14 por 14. A segunda convolução gera 32 mapas, reduzidos para 7 por 7. Aí começa a parte 2: achatar, camada densa e saída. Explique cada número: 14 e 7 vêm do pooling; 1.568 é 32 vezes 7 vezes 7. E por que a 2ª convolução tem mais filtros: ela combina os padrões simples da 1ª em padrões mais complexos, e há muito mais combinações do que padrões simples.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[10:20–11:15] Achatar: a camada densa trabalha com uma lista, então os 32 mapas são postos em fila — 1.568 números, como uma linha de uma tabela. Camada densa: são 64 neurônios, cada um uma soma ponderada de todos os 1.568 números. É aqui que os padrões encontrados na parte 1 são combinados para chegar à decisão.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[11:15–12:10] A rede termina com dois números, as pontuações — uma para normal, outra para pneumonia. Sozinhas elas não são probabilidades. O softmax as converte: eleva e a cada pontuação e divide pelo total; aqui dá 13% e 87%. A resposta final é a classe mais provável.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[12:10–13:10] Este é o desenho da rede inteira, com os neurônios e as conexões. Percorra da esquerda para a direita. Os pixels da entrada ligam-se aos neurônios da convolução 1 — cada neurônio olha só os vizinhos, como o filtro 3 × 3 (o exemplo em laranja). Cada cor é um mapa, gerado por um filtro. O pooling junta os neurônios de 2 em 2. Na convolução 2, cada neurônio olha os vizinhos em todos os mapas anteriores e há mais mapas. Achatar põe todos os mapas numa fila só — veja as cores em sequência. Daí em diante, cada neurônio se liga a todos: camada densa e os 2 neurônios de saída, normal e pneumonia, que o softmax transforma em probabilidades. O dropout fica entre a camada densa e a saída e só age no treino. Aponte os nomes em laranja: são os que vão aparecer no código.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[13:10–14:05] Para aprender, a rede precisa medir o erro. Na classificação, a medida é a entropia cruzada: o menos logaritmo da probabilidade que a rede deu à classe correta. Leia a tabela: 90% na classe certa, perda baixa; 10%, perda alta.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[14:05–15:15] Imagine a curva do erro em função de um peso. O peso começa sorteado, em algum ponto da curva. A backpropagation calcula a inclinação ali — se a curva desce para a direita, o peso deve aumentar. O Adam dá um passo nessa direção. Repetindo, o peso chega perto do menor erro. A rede faz isso ao mesmo tempo para seus 105 mil pesos, inclusive os números dos filtros. É assim que os filtros são aprendidos.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[15:15–15:55] Analogia: treino são os exercícios resolvidos, validação é o simulado, teste é a prova. Medir a nota no treino seria dar ao aluno a prova que ele usou para estudar. O dropout é uma defesa contra decorar.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[15:55–16:40] Apresente a base: radiografias reais de crianças, com o diagnóstico. Explique o nome: PneumoniaMNIST é a parte de pneumonia do MedMNIST, uma coleção que deixa todas as imagens no mesmo formato, pequenas e já divididas. Destaque o desequilíbrio: 74% pneumonia. Esse número volta nos resultados.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[16:40–17:10] Peça para quem assiste pausar o vídeo e tentar. Resposta: A é PNEUMONIA, B é NORMAL — no pulmão normal os campos pulmonares ficam mais escuros e nítidos; na pneumonia aparecem regiões mais claras e opacas. Em 28 × 28 nem sempre é fácil: é esse padrão que a rede precisa aprender.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[17:10–17:50] O torch é o pacote que traz redes neurais para o R. O conceito novo é o tensor, que é só um array de várias dimensões — a turma já conhece array no R. Mostre a instalação: três linhas, uma vez só.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[17:50–18:30] Este slide é a ponte entre a teoria e o código: cada conceito visto até aqui tem uma função no torch. Não precisa decorar — é só para reconhecer as funções quando elas aparecerem no código.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[18:30–19:15] Linha por linha. Normalizar os pixels para perto de zero ajuda o treino. O unsqueeze só acrescenta a dimensão do canal, que a convolução espera. E o detalhe do R: as classes no torch começam em 1, por isso o +1. O dataloader é quem entrega os lotes para o treino.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[19:15–20:10] Mapeie cada linha na teoria. Os números das convoluções são entradas e saídas: 1 imagem entra, 16 mapas saem; 16 entram, 32 saem. Na camada densa, 32 × 7 × 7 é exatamente o 1.568 da jornada. A rede tem 105 mil pesos — o script em R imprime esse total.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[20:10–20:55] Uma linha para cada peça, na ordem da jornada. Chame atenção para o x: ele é reescrito a cada linha, então cada passo recebe o resultado do anterior. O softmax não está aqui: ele é aplicado depois, na hora de calcular as probabilidades.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[20:55–21:50] Ligue cada linha aos quatro passos: palpite, erro, backpropagation e Adam. lote[[1]] são as imagens do lote e lote[[2]] os diagnósticos. O zero_grad existe porque o torch acumula as inclinações; é preciso zerar antes de cada lote.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[21:50–25:20] PRÁTICA NO RSTUDIO (câmera opcional aqui). Rode seção por seção e comente o que aparece. Seção 3: os 10 raios-X e a contagem 1214 normal × 3494 pneumonia. Seção 5: a rede impressa e o total de 105.346 pesos. Seção 6: a cada época, a perda cai e a AUC da validação sobe. Seção 7: acurácia, AUC e matriz de confusão do teste. Seção 8: a rede dando a probabilidade de pneumonia de raios-X que ela nunca viu.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[25:20–26:15] Leia a matriz: a diagonal são os acertos. A rede quase não deixa passar pneumonia — só 6 em 390 —, mas dá alarme falso em 76 das 234 crianças saudáveis. Se a execução da gravação der números um pouco diferentes, leia os da tela.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[26:15–27:10] Duas lições. A primeira: a rede não tem opinião; ela aprendeu a diminuir o erro médio num treino em que a maioria é pneumonia, e isso a empurra para esse lado. A segunda: a probabilidade é da rede, mas o corte é uma decisão de quem usa o modelo, e depende do custo de cada tipo de erro.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[27:10–28:15] Proponha os exercícios, do mais fácil ao mais difícil. Dica do 1: é a troca entre sensibilidade e especificidade. Os pesos do 2 são o inverso da frequência de cada classe no treino: 4708 / (2 × 1214) = 1,94 e 4708 / (2 × 3494) = 0,67.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[28:15–28:40] Feche com o resumo e agradeça.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spc="200" kern="0" dirty="0">
                <a:solidFill>
                  <a:srgbClr val="C9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de Dados · 1ª VA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7863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Redes Neurais Convolucionais</a:t>
            </a:r>
            <a:endParaRPr lang="en-US" sz="5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15468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C9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Classificando raios-X de tórax (normal ou pneumonia) com o pacote torch do R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760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 Pires Aquino de Carvalho · UFRPE</a:t>
            </a:r>
            <a:endParaRPr lang="en-US" sz="1400" dirty="0"/>
          </a:p>
        </p:txBody>
      </p:sp>
      <p:pic>
        <p:nvPicPr>
          <p:cNvPr id="6" name="Image 0" descr="/home/user/topicos-avancados-ia/code/cnn-pneumonia-r/slides/img/raiox_u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0" y="1371600"/>
            <a:ext cx="3017520" cy="3017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Roteiro da aula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474720" cy="2103120"/>
          </a:xfrm>
          <a:prstGeom prst="roundRect">
            <a:avLst>
              <a:gd name="adj" fmla="val 521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3774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uma CNN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8346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ideia e cada uma das peças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297680" y="1463040"/>
            <a:ext cx="3474720" cy="2103120"/>
          </a:xfrm>
          <a:prstGeom prst="roundRect">
            <a:avLst>
              <a:gd name="adj" fmla="val 521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0" y="164592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23774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ela aprende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28346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medir o erro e ajustar os pesos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046720" y="1463040"/>
            <a:ext cx="3474720" cy="2103120"/>
          </a:xfrm>
          <a:prstGeom prst="roundRect">
            <a:avLst>
              <a:gd name="adj" fmla="val 521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4592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3774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dados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28346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raios-X de tórax de crianças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48640" y="3840480"/>
            <a:ext cx="3474720" cy="2103120"/>
          </a:xfrm>
          <a:prstGeom prst="roundRect">
            <a:avLst>
              <a:gd name="adj" fmla="val 521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402336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6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47548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código em R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52120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pacote torch, linha a linha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297680" y="3840480"/>
            <a:ext cx="3474720" cy="2103120"/>
          </a:xfrm>
          <a:prstGeom prst="roundRect">
            <a:avLst>
              <a:gd name="adj" fmla="val 521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72000" y="402336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6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0" y="47548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Prática e resultados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0" y="52120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script rodando no RStudio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8046720" y="3840480"/>
            <a:ext cx="3474720" cy="2103120"/>
          </a:xfrm>
          <a:prstGeom prst="roundRect">
            <a:avLst>
              <a:gd name="adj" fmla="val 521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321040" y="402336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600" dirty="0"/>
          </a:p>
        </p:txBody>
      </p:sp>
      <p:sp>
        <p:nvSpPr>
          <p:cNvPr id="25" name="Text 23"/>
          <p:cNvSpPr txBox="1"/>
          <p:nvPr/>
        </p:nvSpPr>
        <p:spPr>
          <a:xfrm>
            <a:off x="8321040" y="47548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Exercícios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8321040" y="52120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praticar sozinho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problema: este raio-X mostra pneumonia?</a:t>
            </a:r>
            <a:endParaRPr lang="en-US" sz="3200" dirty="0"/>
          </a:p>
        </p:txBody>
      </p:sp>
      <p:pic>
        <p:nvPicPr>
          <p:cNvPr id="3" name="Image 0" descr="/home/user/topicos-avancados-ia/code/cnn-pneumonia-r/slides/img/raiox_u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2377440" cy="23774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393192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entrada: raio-X de tórax, 28 × 28 pixels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3200400" y="2514600"/>
            <a:ext cx="457200" cy="320040"/>
          </a:xfrm>
          <a:prstGeom prst="rightArrow">
            <a:avLst/>
          </a:prstGeom>
          <a:solidFill>
            <a:srgbClr val="52514E"/>
          </a:solidFill>
          <a:ln w="12700">
            <a:solidFill>
              <a:srgbClr val="52514E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3931920" y="1737360"/>
            <a:ext cx="2743200" cy="1828800"/>
          </a:xfrm>
          <a:prstGeom prst="roundRect">
            <a:avLst>
              <a:gd name="adj" fmla="val 6000"/>
            </a:avLst>
          </a:prstGeom>
          <a:solidFill>
            <a:srgbClr val="0F1B2D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3931920" y="173736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CNN</a:t>
            </a:r>
            <a:endParaRPr lang="en-US" sz="4000" dirty="0"/>
          </a:p>
        </p:txBody>
      </p:sp>
      <p:sp>
        <p:nvSpPr>
          <p:cNvPr id="8" name="Shape 5"/>
          <p:cNvSpPr/>
          <p:nvPr/>
        </p:nvSpPr>
        <p:spPr>
          <a:xfrm>
            <a:off x="6949440" y="2514600"/>
            <a:ext cx="457200" cy="320040"/>
          </a:xfrm>
          <a:prstGeom prst="rightArrow">
            <a:avLst/>
          </a:prstGeom>
          <a:solidFill>
            <a:srgbClr val="52514E"/>
          </a:solidFill>
          <a:ln w="12700">
            <a:solidFill>
              <a:srgbClr val="52514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680960" y="1737360"/>
            <a:ext cx="3959352" cy="182880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955280" y="18745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probabilidade de pneumonia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7955280" y="237744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ex.: 87% → pneumonia</a:t>
            </a:r>
            <a:endParaRPr lang="en-US" sz="28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4754880"/>
            <a:ext cx="110944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Classificação: </a:t>
            </a:r>
            <a:pPr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modelo coloca cada raio-X em uma de duas classes: normal ou pneumonia.</a:t>
            </a:r>
            <a:endParaRPr lang="en-US" sz="17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Aprendizado supervisionado: </a:t>
            </a:r>
            <a:pPr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modelo aprende a partir de milhares de raios-X que já têm o diagnóstico dado por médicos.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Antes da CNN: o que é uma rede neural?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640080" cy="640080"/>
          </a:xfrm>
          <a:prstGeom prst="ellipse">
            <a:avLst/>
          </a:prstGeom>
          <a:solidFill>
            <a:srgbClr val="F2F4F7"/>
          </a:solidFill>
          <a:ln w="12700">
            <a:solidFill>
              <a:srgbClr val="52514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417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x₁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188720" y="1737360"/>
            <a:ext cx="1920240" cy="118872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828800" y="19659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w₁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2606040"/>
            <a:ext cx="640080" cy="640080"/>
          </a:xfrm>
          <a:prstGeom prst="ellipse">
            <a:avLst/>
          </a:prstGeom>
          <a:solidFill>
            <a:srgbClr val="F2F4F7"/>
          </a:solidFill>
          <a:ln w="12700">
            <a:solidFill>
              <a:srgbClr val="52514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606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x₂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188720" y="2926080"/>
            <a:ext cx="1920240" cy="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828800" y="25146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w₂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3794760"/>
            <a:ext cx="640080" cy="640080"/>
          </a:xfrm>
          <a:prstGeom prst="ellipse">
            <a:avLst/>
          </a:prstGeom>
          <a:solidFill>
            <a:srgbClr val="F2F4F7"/>
          </a:solidFill>
          <a:ln w="12700">
            <a:solidFill>
              <a:srgbClr val="52514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3794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x₃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 flipV="1">
            <a:off x="1188720" y="2926080"/>
            <a:ext cx="1920240" cy="118872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828800" y="31546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w₃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3108960" y="2514600"/>
            <a:ext cx="822960" cy="822960"/>
          </a:xfrm>
          <a:prstGeom prst="ellipse">
            <a:avLst/>
          </a:prstGeom>
          <a:solidFill>
            <a:srgbClr val="0F1B2D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108960" y="25146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</a:t>
            </a:r>
            <a:endParaRPr lang="en-US" sz="2600" dirty="0"/>
          </a:p>
        </p:txBody>
      </p:sp>
      <p:sp>
        <p:nvSpPr>
          <p:cNvPr id="17" name="Shape 15"/>
          <p:cNvSpPr/>
          <p:nvPr/>
        </p:nvSpPr>
        <p:spPr>
          <a:xfrm>
            <a:off x="4023360" y="2770632"/>
            <a:ext cx="365760" cy="320040"/>
          </a:xfrm>
          <a:prstGeom prst="rightArrow">
            <a:avLst/>
          </a:prstGeom>
          <a:solidFill>
            <a:srgbClr val="52514E"/>
          </a:solidFill>
          <a:ln w="12700">
            <a:solidFill>
              <a:srgbClr val="52514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80560" y="2560320"/>
            <a:ext cx="1371600" cy="731520"/>
          </a:xfrm>
          <a:prstGeom prst="roundRect">
            <a:avLst>
              <a:gd name="adj" fmla="val 15000"/>
            </a:avLst>
          </a:prstGeom>
          <a:solidFill>
            <a:srgbClr val="FAD3C2"/>
          </a:solidFill>
          <a:ln w="12700">
            <a:solidFill>
              <a:srgbClr val="FAD3C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480560" y="256032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saída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46320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 + w₁x₁ + w₂x₂ + w₃x₃</a:t>
            </a:r>
            <a:endParaRPr lang="en-US" sz="24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539496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neurônio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0" y="1463040"/>
            <a:ext cx="5239512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400"/>
              </a:spcAft>
              <a:buNone/>
            </a:pPr>
            <a:r>
              <a:rPr lang="en-US" sz="1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Neurônio: </a:t>
            </a:r>
            <a:pPr indent="0" marL="0">
              <a:spcAft>
                <a:spcPts val="1400"/>
              </a:spcAft>
              <a:buNone/>
            </a:pPr>
            <a:r>
              <a:rPr lang="en-US" sz="17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multiplica cada entrada por um peso e soma tudo (isso se chama soma ponderada), mais um número fixo, b. Ex.: entradas 2, 1, 3 e pesos 0,5, −1, 2 → 1 − 1 + 6 = 6, mais b.</a:t>
            </a:r>
            <a:endParaRPr lang="en-US" sz="17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Pesos: </a:t>
            </a:r>
            <a:pPr indent="0" marL="0">
              <a:spcAft>
                <a:spcPts val="1400"/>
              </a:spcAft>
              <a:buNone/>
            </a:pPr>
            <a:r>
              <a:rPr lang="en-US" sz="17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são escolhidos à mão: começam sorteados e são ajustados no treino, a partir dos exemplos.</a:t>
            </a:r>
            <a:endParaRPr lang="en-US" sz="17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 neural: </a:t>
            </a:r>
            <a:pPr indent="0" marL="0">
              <a:spcAft>
                <a:spcPts val="1400"/>
              </a:spcAft>
              <a:buNone/>
            </a:pPr>
            <a:r>
              <a:rPr lang="en-US" sz="17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muitos neurônios organizados em camadas. A saída de uma camada é a entrada da próxima.</a:t>
            </a:r>
            <a:endParaRPr lang="en-US" sz="17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Camada densa: </a:t>
            </a:r>
            <a:pPr indent="0" marL="0">
              <a:spcAft>
                <a:spcPts val="1400"/>
              </a:spcAft>
              <a:buNone/>
            </a:pPr>
            <a:r>
              <a:rPr lang="en-US" sz="17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camada em que cada neurônio recebe todas as saídas da camada anterior.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é uma CNN?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 Neural Convolucional 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(CNN, do inglês Convolutional Neural Network) é uma rede neural feita para imagens. Em vez de tratar os 784 pixels como 784 colunas soltas, ela procura padrões em pedaços pequenos da imagem — bordas, texturas, manchas — em qualquer lugar em que apareçam.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2743200"/>
            <a:ext cx="5394960" cy="3017520"/>
          </a:xfrm>
          <a:prstGeom prst="roundRect">
            <a:avLst>
              <a:gd name="adj" fmla="val 3636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9260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Parte 1 · encontrar padrões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822960" y="3611880"/>
            <a:ext cx="1371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361188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convolução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2194560" y="3611880"/>
            <a:ext cx="274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2468880" y="3611880"/>
            <a:ext cx="1371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468880" y="361188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ReLU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840480" y="3611880"/>
            <a:ext cx="274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114800" y="3611880"/>
            <a:ext cx="1371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114800" y="361188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pooling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52628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repetida 2 vezes. Transforma a imagem em mapas que mostram onde cada padrão aparece.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971032" y="3794760"/>
            <a:ext cx="246888" cy="320040"/>
          </a:xfrm>
          <a:prstGeom prst="rightArrow">
            <a:avLst/>
          </a:prstGeom>
          <a:solidFill>
            <a:srgbClr val="52514E"/>
          </a:solidFill>
          <a:ln w="12700">
            <a:solidFill>
              <a:srgbClr val="52514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45352" y="2743200"/>
            <a:ext cx="5394960" cy="3017520"/>
          </a:xfrm>
          <a:prstGeom prst="roundRect">
            <a:avLst>
              <a:gd name="adj" fmla="val 3636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19672" y="29260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Parte 2 · decidir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6519672" y="3611880"/>
            <a:ext cx="1371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19672" y="361188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achatar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7891272" y="3611880"/>
            <a:ext cx="274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8165592" y="3611880"/>
            <a:ext cx="1371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165592" y="361188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camada densa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9537192" y="3611880"/>
            <a:ext cx="274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9811512" y="3611880"/>
            <a:ext cx="1371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811512" y="361188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saída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6519672" y="452628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 os padrões encontrados e dá a probabilidade de cada classe.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59893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Nos próximos slides, cada peça, uma de cada vez.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o computador, imagem é uma tabela</a:t>
            </a:r>
            <a:endParaRPr lang="en-US" sz="3200" dirty="0"/>
          </a:p>
        </p:txBody>
      </p:sp>
      <p:pic>
        <p:nvPicPr>
          <p:cNvPr id="3" name="Image 0" descr="/home/user/topicos-avancados-ia/code/cnn-pneumonia-r/slides/img/raiox_u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4206240" cy="42062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074920" y="3291840"/>
            <a:ext cx="457200" cy="320040"/>
          </a:xfrm>
          <a:prstGeom prst="rightArrow">
            <a:avLst/>
          </a:prstGeom>
          <a:solidFill>
            <a:srgbClr val="52514E"/>
          </a:solidFill>
          <a:ln w="12700">
            <a:solidFill>
              <a:srgbClr val="52514E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760720" y="1371600"/>
            <a:ext cx="566928" cy="566928"/>
          </a:xfrm>
          <a:prstGeom prst="rect">
            <a:avLst/>
          </a:prstGeom>
          <a:solidFill>
            <a:srgbClr val="54545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760720" y="13716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6327648" y="1371600"/>
            <a:ext cx="566928" cy="566928"/>
          </a:xfrm>
          <a:prstGeom prst="rect">
            <a:avLst/>
          </a:prstGeom>
          <a:solidFill>
            <a:srgbClr val="39393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327648" y="13716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6894576" y="1371600"/>
            <a:ext cx="566928" cy="566928"/>
          </a:xfrm>
          <a:prstGeom prst="rect">
            <a:avLst/>
          </a:prstGeom>
          <a:solidFill>
            <a:srgbClr val="32323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894576" y="13716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7461504" y="1371600"/>
            <a:ext cx="566928" cy="566928"/>
          </a:xfrm>
          <a:prstGeom prst="rect">
            <a:avLst/>
          </a:prstGeom>
          <a:solidFill>
            <a:srgbClr val="26262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461504" y="13716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8028432" y="1371600"/>
            <a:ext cx="566928" cy="566928"/>
          </a:xfrm>
          <a:prstGeom prst="rect">
            <a:avLst/>
          </a:prstGeom>
          <a:solidFill>
            <a:srgbClr val="39393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028432" y="13716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8595360" y="1371600"/>
            <a:ext cx="566928" cy="566928"/>
          </a:xfrm>
          <a:prstGeom prst="rect">
            <a:avLst/>
          </a:prstGeom>
          <a:solidFill>
            <a:srgbClr val="3E3E3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595360" y="13716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5760720" y="1938528"/>
            <a:ext cx="566928" cy="566928"/>
          </a:xfrm>
          <a:prstGeom prst="rect">
            <a:avLst/>
          </a:prstGeom>
          <a:solidFill>
            <a:srgbClr val="55555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760720" y="19385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6327648" y="1938528"/>
            <a:ext cx="566928" cy="566928"/>
          </a:xfrm>
          <a:prstGeom prst="rect">
            <a:avLst/>
          </a:prstGeom>
          <a:solidFill>
            <a:srgbClr val="41414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327648" y="19385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6894576" y="1938528"/>
            <a:ext cx="566928" cy="566928"/>
          </a:xfrm>
          <a:prstGeom prst="rect">
            <a:avLst/>
          </a:prstGeom>
          <a:solidFill>
            <a:srgbClr val="36363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894576" y="19385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7461504" y="1938528"/>
            <a:ext cx="566928" cy="566928"/>
          </a:xfrm>
          <a:prstGeom prst="rect">
            <a:avLst/>
          </a:prstGeom>
          <a:solidFill>
            <a:srgbClr val="31313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461504" y="19385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8028432" y="1938528"/>
            <a:ext cx="566928" cy="566928"/>
          </a:xfrm>
          <a:prstGeom prst="rect">
            <a:avLst/>
          </a:prstGeom>
          <a:solidFill>
            <a:srgbClr val="45454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028432" y="19385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</a:t>
            </a:r>
            <a:endParaRPr lang="en-US" sz="1600" dirty="0"/>
          </a:p>
        </p:txBody>
      </p:sp>
      <p:sp>
        <p:nvSpPr>
          <p:cNvPr id="27" name="Shape 24"/>
          <p:cNvSpPr/>
          <p:nvPr/>
        </p:nvSpPr>
        <p:spPr>
          <a:xfrm>
            <a:off x="8595360" y="1938528"/>
            <a:ext cx="566928" cy="566928"/>
          </a:xfrm>
          <a:prstGeom prst="rect">
            <a:avLst/>
          </a:prstGeom>
          <a:solidFill>
            <a:srgbClr val="46464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595360" y="19385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</a:t>
            </a:r>
            <a:endParaRPr lang="en-US" sz="1600" dirty="0"/>
          </a:p>
        </p:txBody>
      </p:sp>
      <p:sp>
        <p:nvSpPr>
          <p:cNvPr id="29" name="Shape 26"/>
          <p:cNvSpPr/>
          <p:nvPr/>
        </p:nvSpPr>
        <p:spPr>
          <a:xfrm>
            <a:off x="5760720" y="2505456"/>
            <a:ext cx="566928" cy="566928"/>
          </a:xfrm>
          <a:prstGeom prst="rect">
            <a:avLst/>
          </a:prstGeom>
          <a:solidFill>
            <a:srgbClr val="50505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760720" y="25054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</a:t>
            </a:r>
            <a:endParaRPr lang="en-US" sz="1600" dirty="0"/>
          </a:p>
        </p:txBody>
      </p:sp>
      <p:sp>
        <p:nvSpPr>
          <p:cNvPr id="31" name="Shape 28"/>
          <p:cNvSpPr/>
          <p:nvPr/>
        </p:nvSpPr>
        <p:spPr>
          <a:xfrm>
            <a:off x="6327648" y="2505456"/>
            <a:ext cx="566928" cy="566928"/>
          </a:xfrm>
          <a:prstGeom prst="rect">
            <a:avLst/>
          </a:prstGeom>
          <a:solidFill>
            <a:srgbClr val="44444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327648" y="25054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</a:t>
            </a:r>
            <a:endParaRPr lang="en-US" sz="1600" dirty="0"/>
          </a:p>
        </p:txBody>
      </p:sp>
      <p:sp>
        <p:nvSpPr>
          <p:cNvPr id="33" name="Shape 30"/>
          <p:cNvSpPr/>
          <p:nvPr/>
        </p:nvSpPr>
        <p:spPr>
          <a:xfrm>
            <a:off x="6894576" y="2505456"/>
            <a:ext cx="566928" cy="566928"/>
          </a:xfrm>
          <a:prstGeom prst="rect">
            <a:avLst/>
          </a:prstGeom>
          <a:solidFill>
            <a:srgbClr val="3B3B3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894576" y="25054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</a:t>
            </a:r>
            <a:endParaRPr lang="en-US" sz="1600" dirty="0"/>
          </a:p>
        </p:txBody>
      </p:sp>
      <p:sp>
        <p:nvSpPr>
          <p:cNvPr id="35" name="Shape 32"/>
          <p:cNvSpPr/>
          <p:nvPr/>
        </p:nvSpPr>
        <p:spPr>
          <a:xfrm>
            <a:off x="7461504" y="2505456"/>
            <a:ext cx="566928" cy="566928"/>
          </a:xfrm>
          <a:prstGeom prst="rect">
            <a:avLst/>
          </a:prstGeom>
          <a:solidFill>
            <a:srgbClr val="33333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461504" y="25054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</a:t>
            </a:r>
            <a:endParaRPr lang="en-US" sz="1600" dirty="0"/>
          </a:p>
        </p:txBody>
      </p:sp>
      <p:sp>
        <p:nvSpPr>
          <p:cNvPr id="37" name="Shape 34"/>
          <p:cNvSpPr/>
          <p:nvPr/>
        </p:nvSpPr>
        <p:spPr>
          <a:xfrm>
            <a:off x="8028432" y="2505456"/>
            <a:ext cx="566928" cy="566928"/>
          </a:xfrm>
          <a:prstGeom prst="rect">
            <a:avLst/>
          </a:prstGeom>
          <a:solidFill>
            <a:srgbClr val="48484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8028432" y="25054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</a:t>
            </a:r>
            <a:endParaRPr lang="en-US" sz="1600" dirty="0"/>
          </a:p>
        </p:txBody>
      </p:sp>
      <p:sp>
        <p:nvSpPr>
          <p:cNvPr id="39" name="Shape 36"/>
          <p:cNvSpPr/>
          <p:nvPr/>
        </p:nvSpPr>
        <p:spPr>
          <a:xfrm>
            <a:off x="8595360" y="2505456"/>
            <a:ext cx="566928" cy="566928"/>
          </a:xfrm>
          <a:prstGeom prst="rect">
            <a:avLst/>
          </a:prstGeom>
          <a:solidFill>
            <a:srgbClr val="43434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595360" y="25054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</a:t>
            </a:r>
            <a:endParaRPr lang="en-US" sz="1600" dirty="0"/>
          </a:p>
        </p:txBody>
      </p:sp>
      <p:sp>
        <p:nvSpPr>
          <p:cNvPr id="41" name="Shape 38"/>
          <p:cNvSpPr/>
          <p:nvPr/>
        </p:nvSpPr>
        <p:spPr>
          <a:xfrm>
            <a:off x="5760720" y="3072384"/>
            <a:ext cx="566928" cy="566928"/>
          </a:xfrm>
          <a:prstGeom prst="rect">
            <a:avLst/>
          </a:prstGeom>
          <a:solidFill>
            <a:srgbClr val="4F4F4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5760720" y="307238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</a:t>
            </a:r>
            <a:endParaRPr lang="en-US" sz="1600" dirty="0"/>
          </a:p>
        </p:txBody>
      </p:sp>
      <p:sp>
        <p:nvSpPr>
          <p:cNvPr id="43" name="Shape 40"/>
          <p:cNvSpPr/>
          <p:nvPr/>
        </p:nvSpPr>
        <p:spPr>
          <a:xfrm>
            <a:off x="6327648" y="3072384"/>
            <a:ext cx="566928" cy="566928"/>
          </a:xfrm>
          <a:prstGeom prst="rect">
            <a:avLst/>
          </a:prstGeom>
          <a:solidFill>
            <a:srgbClr val="44444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6327648" y="307238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</a:t>
            </a:r>
            <a:endParaRPr lang="en-US" sz="1600" dirty="0"/>
          </a:p>
        </p:txBody>
      </p:sp>
      <p:sp>
        <p:nvSpPr>
          <p:cNvPr id="45" name="Shape 42"/>
          <p:cNvSpPr/>
          <p:nvPr/>
        </p:nvSpPr>
        <p:spPr>
          <a:xfrm>
            <a:off x="6894576" y="3072384"/>
            <a:ext cx="566928" cy="566928"/>
          </a:xfrm>
          <a:prstGeom prst="rect">
            <a:avLst/>
          </a:prstGeom>
          <a:solidFill>
            <a:srgbClr val="38383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6894576" y="307238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</a:t>
            </a:r>
            <a:endParaRPr lang="en-US" sz="1600" dirty="0"/>
          </a:p>
        </p:txBody>
      </p:sp>
      <p:sp>
        <p:nvSpPr>
          <p:cNvPr id="47" name="Shape 44"/>
          <p:cNvSpPr/>
          <p:nvPr/>
        </p:nvSpPr>
        <p:spPr>
          <a:xfrm>
            <a:off x="7461504" y="3072384"/>
            <a:ext cx="566928" cy="566928"/>
          </a:xfrm>
          <a:prstGeom prst="rect">
            <a:avLst/>
          </a:prstGeom>
          <a:solidFill>
            <a:srgbClr val="3A3A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7461504" y="307238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</a:t>
            </a:r>
            <a:endParaRPr lang="en-US" sz="1600" dirty="0"/>
          </a:p>
        </p:txBody>
      </p:sp>
      <p:sp>
        <p:nvSpPr>
          <p:cNvPr id="49" name="Shape 46"/>
          <p:cNvSpPr/>
          <p:nvPr/>
        </p:nvSpPr>
        <p:spPr>
          <a:xfrm>
            <a:off x="8028432" y="3072384"/>
            <a:ext cx="566928" cy="566928"/>
          </a:xfrm>
          <a:prstGeom prst="rect">
            <a:avLst/>
          </a:prstGeom>
          <a:solidFill>
            <a:srgbClr val="50505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028432" y="307238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</a:t>
            </a:r>
            <a:endParaRPr lang="en-US" sz="1600" dirty="0"/>
          </a:p>
        </p:txBody>
      </p:sp>
      <p:sp>
        <p:nvSpPr>
          <p:cNvPr id="51" name="Shape 48"/>
          <p:cNvSpPr/>
          <p:nvPr/>
        </p:nvSpPr>
        <p:spPr>
          <a:xfrm>
            <a:off x="8595360" y="3072384"/>
            <a:ext cx="566928" cy="566928"/>
          </a:xfrm>
          <a:prstGeom prst="rect">
            <a:avLst/>
          </a:prstGeom>
          <a:solidFill>
            <a:srgbClr val="48484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8595360" y="307238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</a:t>
            </a:r>
            <a:endParaRPr lang="en-US" sz="1600" dirty="0"/>
          </a:p>
        </p:txBody>
      </p:sp>
      <p:sp>
        <p:nvSpPr>
          <p:cNvPr id="53" name="Shape 50"/>
          <p:cNvSpPr/>
          <p:nvPr/>
        </p:nvSpPr>
        <p:spPr>
          <a:xfrm>
            <a:off x="5760720" y="3639312"/>
            <a:ext cx="566928" cy="566928"/>
          </a:xfrm>
          <a:prstGeom prst="rect">
            <a:avLst/>
          </a:prstGeom>
          <a:solidFill>
            <a:srgbClr val="53535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5760720" y="36393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</a:t>
            </a:r>
            <a:endParaRPr lang="en-US" sz="1600" dirty="0"/>
          </a:p>
        </p:txBody>
      </p:sp>
      <p:sp>
        <p:nvSpPr>
          <p:cNvPr id="55" name="Shape 52"/>
          <p:cNvSpPr/>
          <p:nvPr/>
        </p:nvSpPr>
        <p:spPr>
          <a:xfrm>
            <a:off x="6327648" y="3639312"/>
            <a:ext cx="566928" cy="566928"/>
          </a:xfrm>
          <a:prstGeom prst="rect">
            <a:avLst/>
          </a:prstGeom>
          <a:solidFill>
            <a:srgbClr val="48484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6327648" y="36393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</a:t>
            </a:r>
            <a:endParaRPr lang="en-US" sz="1600" dirty="0"/>
          </a:p>
        </p:txBody>
      </p:sp>
      <p:sp>
        <p:nvSpPr>
          <p:cNvPr id="57" name="Shape 54"/>
          <p:cNvSpPr/>
          <p:nvPr/>
        </p:nvSpPr>
        <p:spPr>
          <a:xfrm>
            <a:off x="6894576" y="3639312"/>
            <a:ext cx="566928" cy="566928"/>
          </a:xfrm>
          <a:prstGeom prst="rect">
            <a:avLst/>
          </a:prstGeom>
          <a:solidFill>
            <a:srgbClr val="33333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6894576" y="36393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</a:t>
            </a:r>
            <a:endParaRPr lang="en-US" sz="1600" dirty="0"/>
          </a:p>
        </p:txBody>
      </p:sp>
      <p:sp>
        <p:nvSpPr>
          <p:cNvPr id="59" name="Shape 56"/>
          <p:cNvSpPr/>
          <p:nvPr/>
        </p:nvSpPr>
        <p:spPr>
          <a:xfrm>
            <a:off x="7461504" y="3639312"/>
            <a:ext cx="566928" cy="566928"/>
          </a:xfrm>
          <a:prstGeom prst="rect">
            <a:avLst/>
          </a:prstGeom>
          <a:solidFill>
            <a:srgbClr val="33333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7461504" y="36393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</a:t>
            </a:r>
            <a:endParaRPr lang="en-US" sz="1600" dirty="0"/>
          </a:p>
        </p:txBody>
      </p:sp>
      <p:sp>
        <p:nvSpPr>
          <p:cNvPr id="61" name="Shape 58"/>
          <p:cNvSpPr/>
          <p:nvPr/>
        </p:nvSpPr>
        <p:spPr>
          <a:xfrm>
            <a:off x="8028432" y="3639312"/>
            <a:ext cx="566928" cy="566928"/>
          </a:xfrm>
          <a:prstGeom prst="rect">
            <a:avLst/>
          </a:prstGeom>
          <a:solidFill>
            <a:srgbClr val="4A4A4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8028432" y="36393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</a:t>
            </a:r>
            <a:endParaRPr lang="en-US" sz="1600" dirty="0"/>
          </a:p>
        </p:txBody>
      </p:sp>
      <p:sp>
        <p:nvSpPr>
          <p:cNvPr id="63" name="Shape 60"/>
          <p:cNvSpPr/>
          <p:nvPr/>
        </p:nvSpPr>
        <p:spPr>
          <a:xfrm>
            <a:off x="8595360" y="3639312"/>
            <a:ext cx="566928" cy="566928"/>
          </a:xfrm>
          <a:prstGeom prst="rect">
            <a:avLst/>
          </a:prstGeom>
          <a:solidFill>
            <a:srgbClr val="42424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595360" y="36393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</a:t>
            </a:r>
            <a:endParaRPr lang="en-US" sz="1600" dirty="0"/>
          </a:p>
        </p:txBody>
      </p:sp>
      <p:sp>
        <p:nvSpPr>
          <p:cNvPr id="65" name="Shape 62"/>
          <p:cNvSpPr/>
          <p:nvPr/>
        </p:nvSpPr>
        <p:spPr>
          <a:xfrm>
            <a:off x="5760720" y="4206240"/>
            <a:ext cx="566928" cy="566928"/>
          </a:xfrm>
          <a:prstGeom prst="rect">
            <a:avLst/>
          </a:prstGeom>
          <a:solidFill>
            <a:srgbClr val="39393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5760720" y="42062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</a:t>
            </a:r>
            <a:endParaRPr lang="en-US" sz="1600" dirty="0"/>
          </a:p>
        </p:txBody>
      </p:sp>
      <p:sp>
        <p:nvSpPr>
          <p:cNvPr id="67" name="Shape 64"/>
          <p:cNvSpPr/>
          <p:nvPr/>
        </p:nvSpPr>
        <p:spPr>
          <a:xfrm>
            <a:off x="6327648" y="4206240"/>
            <a:ext cx="566928" cy="566928"/>
          </a:xfrm>
          <a:prstGeom prst="rect">
            <a:avLst/>
          </a:prstGeom>
          <a:solidFill>
            <a:srgbClr val="30303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8" name="Text 65"/>
          <p:cNvSpPr txBox="1"/>
          <p:nvPr/>
        </p:nvSpPr>
        <p:spPr>
          <a:xfrm>
            <a:off x="6327648" y="42062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600" dirty="0"/>
          </a:p>
        </p:txBody>
      </p:sp>
      <p:sp>
        <p:nvSpPr>
          <p:cNvPr id="69" name="Shape 66"/>
          <p:cNvSpPr/>
          <p:nvPr/>
        </p:nvSpPr>
        <p:spPr>
          <a:xfrm>
            <a:off x="6894576" y="4206240"/>
            <a:ext cx="566928" cy="566928"/>
          </a:xfrm>
          <a:prstGeom prst="rect">
            <a:avLst/>
          </a:prstGeom>
          <a:solidFill>
            <a:srgbClr val="3E3E3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6894576" y="42062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</a:t>
            </a:r>
            <a:endParaRPr lang="en-US" sz="1600" dirty="0"/>
          </a:p>
        </p:txBody>
      </p:sp>
      <p:sp>
        <p:nvSpPr>
          <p:cNvPr id="71" name="Shape 68"/>
          <p:cNvSpPr/>
          <p:nvPr/>
        </p:nvSpPr>
        <p:spPr>
          <a:xfrm>
            <a:off x="7461504" y="4206240"/>
            <a:ext cx="566928" cy="566928"/>
          </a:xfrm>
          <a:prstGeom prst="rect">
            <a:avLst/>
          </a:prstGeom>
          <a:solidFill>
            <a:srgbClr val="47474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2" name="Text 69"/>
          <p:cNvSpPr txBox="1"/>
          <p:nvPr/>
        </p:nvSpPr>
        <p:spPr>
          <a:xfrm>
            <a:off x="7461504" y="42062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</a:t>
            </a:r>
            <a:endParaRPr lang="en-US" sz="1600" dirty="0"/>
          </a:p>
        </p:txBody>
      </p:sp>
      <p:sp>
        <p:nvSpPr>
          <p:cNvPr id="73" name="Shape 70"/>
          <p:cNvSpPr/>
          <p:nvPr/>
        </p:nvSpPr>
        <p:spPr>
          <a:xfrm>
            <a:off x="8028432" y="4206240"/>
            <a:ext cx="566928" cy="566928"/>
          </a:xfrm>
          <a:prstGeom prst="rect">
            <a:avLst/>
          </a:prstGeom>
          <a:solidFill>
            <a:srgbClr val="4D4D4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4" name="Text 71"/>
          <p:cNvSpPr txBox="1"/>
          <p:nvPr/>
        </p:nvSpPr>
        <p:spPr>
          <a:xfrm>
            <a:off x="8028432" y="42062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</a:t>
            </a:r>
            <a:endParaRPr lang="en-US" sz="1600" dirty="0"/>
          </a:p>
        </p:txBody>
      </p:sp>
      <p:sp>
        <p:nvSpPr>
          <p:cNvPr id="75" name="Shape 72"/>
          <p:cNvSpPr/>
          <p:nvPr/>
        </p:nvSpPr>
        <p:spPr>
          <a:xfrm>
            <a:off x="8595360" y="4206240"/>
            <a:ext cx="566928" cy="566928"/>
          </a:xfrm>
          <a:prstGeom prst="rect">
            <a:avLst/>
          </a:prstGeom>
          <a:solidFill>
            <a:srgbClr val="4F4F4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8595360" y="42062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</a:t>
            </a:r>
            <a:endParaRPr lang="en-US" sz="1600" dirty="0"/>
          </a:p>
        </p:txBody>
      </p:sp>
      <p:sp>
        <p:nvSpPr>
          <p:cNvPr id="77" name="Text 74"/>
          <p:cNvSpPr txBox="1"/>
          <p:nvPr/>
        </p:nvSpPr>
        <p:spPr>
          <a:xfrm>
            <a:off x="9418320" y="1463040"/>
            <a:ext cx="2221992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recorte de 6 × 6 pixels deste raio-X, como o R o lê.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número é o tom de cinza de um pixel: 0 é preto, 255 é branco.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imagem: 28 × 28 = 784 números.</a:t>
            </a:r>
            <a:pPr indent="0" marL="0">
              <a:spcAft>
                <a:spcPts val="1000"/>
              </a:spcAft>
              <a:buNone/>
            </a:pP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Convolução: um filtro que desliza pela imagem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3258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pedaço da imagem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22960" y="1737360"/>
            <a:ext cx="822960" cy="822960"/>
          </a:xfrm>
          <a:prstGeom prst="rect">
            <a:avLst/>
          </a:prstGeom>
          <a:solidFill>
            <a:srgbClr val="0A0A0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1645920" y="1737360"/>
            <a:ext cx="822960" cy="822960"/>
          </a:xfrm>
          <a:prstGeom prst="rect">
            <a:avLst/>
          </a:prstGeom>
          <a:solidFill>
            <a:srgbClr val="0A0A0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645920" y="17373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2300" dirty="0"/>
          </a:p>
        </p:txBody>
      </p:sp>
      <p:sp>
        <p:nvSpPr>
          <p:cNvPr id="8" name="Shape 6"/>
          <p:cNvSpPr/>
          <p:nvPr/>
        </p:nvSpPr>
        <p:spPr>
          <a:xfrm>
            <a:off x="2468880" y="1737360"/>
            <a:ext cx="822960" cy="822960"/>
          </a:xfrm>
          <a:prstGeom prst="rect">
            <a:avLst/>
          </a:prstGeom>
          <a:solidFill>
            <a:srgbClr val="C8C8C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468880" y="17373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</a:t>
            </a:r>
            <a:endParaRPr lang="en-US" sz="2300" dirty="0"/>
          </a:p>
        </p:txBody>
      </p:sp>
      <p:sp>
        <p:nvSpPr>
          <p:cNvPr id="10" name="Shape 8"/>
          <p:cNvSpPr/>
          <p:nvPr/>
        </p:nvSpPr>
        <p:spPr>
          <a:xfrm>
            <a:off x="822960" y="2560320"/>
            <a:ext cx="822960" cy="822960"/>
          </a:xfrm>
          <a:prstGeom prst="rect">
            <a:avLst/>
          </a:prstGeom>
          <a:solidFill>
            <a:srgbClr val="0A0A0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25603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2300" dirty="0"/>
          </a:p>
        </p:txBody>
      </p:sp>
      <p:sp>
        <p:nvSpPr>
          <p:cNvPr id="12" name="Shape 10"/>
          <p:cNvSpPr/>
          <p:nvPr/>
        </p:nvSpPr>
        <p:spPr>
          <a:xfrm>
            <a:off x="1645920" y="2560320"/>
            <a:ext cx="822960" cy="822960"/>
          </a:xfrm>
          <a:prstGeom prst="rect">
            <a:avLst/>
          </a:prstGeom>
          <a:solidFill>
            <a:srgbClr val="0A0A0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645920" y="25603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2300" dirty="0"/>
          </a:p>
        </p:txBody>
      </p:sp>
      <p:sp>
        <p:nvSpPr>
          <p:cNvPr id="14" name="Shape 12"/>
          <p:cNvSpPr/>
          <p:nvPr/>
        </p:nvSpPr>
        <p:spPr>
          <a:xfrm>
            <a:off x="2468880" y="2560320"/>
            <a:ext cx="822960" cy="822960"/>
          </a:xfrm>
          <a:prstGeom prst="rect">
            <a:avLst/>
          </a:prstGeom>
          <a:solidFill>
            <a:srgbClr val="C8C8C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468880" y="25603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</a:t>
            </a:r>
            <a:endParaRPr lang="en-US" sz="2300" dirty="0"/>
          </a:p>
        </p:txBody>
      </p:sp>
      <p:sp>
        <p:nvSpPr>
          <p:cNvPr id="16" name="Shape 14"/>
          <p:cNvSpPr/>
          <p:nvPr/>
        </p:nvSpPr>
        <p:spPr>
          <a:xfrm>
            <a:off x="822960" y="3383280"/>
            <a:ext cx="822960" cy="822960"/>
          </a:xfrm>
          <a:prstGeom prst="rect">
            <a:avLst/>
          </a:prstGeom>
          <a:solidFill>
            <a:srgbClr val="0A0A0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2960" y="33832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2300" dirty="0"/>
          </a:p>
        </p:txBody>
      </p:sp>
      <p:sp>
        <p:nvSpPr>
          <p:cNvPr id="18" name="Shape 16"/>
          <p:cNvSpPr/>
          <p:nvPr/>
        </p:nvSpPr>
        <p:spPr>
          <a:xfrm>
            <a:off x="1645920" y="3383280"/>
            <a:ext cx="822960" cy="822960"/>
          </a:xfrm>
          <a:prstGeom prst="rect">
            <a:avLst/>
          </a:prstGeom>
          <a:solidFill>
            <a:srgbClr val="0A0A0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645920" y="33832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2300" dirty="0"/>
          </a:p>
        </p:txBody>
      </p:sp>
      <p:sp>
        <p:nvSpPr>
          <p:cNvPr id="20" name="Shape 18"/>
          <p:cNvSpPr/>
          <p:nvPr/>
        </p:nvSpPr>
        <p:spPr>
          <a:xfrm>
            <a:off x="2468880" y="3383280"/>
            <a:ext cx="822960" cy="822960"/>
          </a:xfrm>
          <a:prstGeom prst="rect">
            <a:avLst/>
          </a:prstGeom>
          <a:solidFill>
            <a:srgbClr val="C8C8C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468880" y="33832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</a:t>
            </a:r>
            <a:endParaRPr lang="en-US" sz="2300" dirty="0"/>
          </a:p>
        </p:txBody>
      </p:sp>
      <p:sp>
        <p:nvSpPr>
          <p:cNvPr id="22" name="Text 20"/>
          <p:cNvSpPr txBox="1"/>
          <p:nvPr/>
        </p:nvSpPr>
        <p:spPr>
          <a:xfrm>
            <a:off x="3429000" y="260604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4000" dirty="0"/>
          </a:p>
        </p:txBody>
      </p:sp>
      <p:sp>
        <p:nvSpPr>
          <p:cNvPr id="23" name="Text 21"/>
          <p:cNvSpPr txBox="1"/>
          <p:nvPr/>
        </p:nvSpPr>
        <p:spPr>
          <a:xfrm>
            <a:off x="4206240" y="13258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 3 × 3 (pesos)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206240" y="1737360"/>
            <a:ext cx="822960" cy="822960"/>
          </a:xfrm>
          <a:prstGeom prst="rect">
            <a:avLst/>
          </a:prstGeom>
          <a:solidFill>
            <a:srgbClr val="CADCF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206240" y="17373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</a:t>
            </a:r>
            <a:endParaRPr lang="en-US" sz="2300" dirty="0"/>
          </a:p>
        </p:txBody>
      </p:sp>
      <p:sp>
        <p:nvSpPr>
          <p:cNvPr id="26" name="Shape 24"/>
          <p:cNvSpPr/>
          <p:nvPr/>
        </p:nvSpPr>
        <p:spPr>
          <a:xfrm>
            <a:off x="5029200" y="1737360"/>
            <a:ext cx="822960" cy="822960"/>
          </a:xfrm>
          <a:prstGeom prst="rect">
            <a:avLst/>
          </a:prstGeom>
          <a:solidFill>
            <a:srgbClr val="F2F4F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029200" y="17373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300" dirty="0"/>
          </a:p>
        </p:txBody>
      </p:sp>
      <p:sp>
        <p:nvSpPr>
          <p:cNvPr id="28" name="Shape 26"/>
          <p:cNvSpPr/>
          <p:nvPr/>
        </p:nvSpPr>
        <p:spPr>
          <a:xfrm>
            <a:off x="5852160" y="1737360"/>
            <a:ext cx="822960" cy="822960"/>
          </a:xfrm>
          <a:prstGeom prst="rect">
            <a:avLst/>
          </a:prstGeom>
          <a:solidFill>
            <a:srgbClr val="FAD3C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852160" y="17373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300" dirty="0"/>
          </a:p>
        </p:txBody>
      </p:sp>
      <p:sp>
        <p:nvSpPr>
          <p:cNvPr id="30" name="Shape 28"/>
          <p:cNvSpPr/>
          <p:nvPr/>
        </p:nvSpPr>
        <p:spPr>
          <a:xfrm>
            <a:off x="4206240" y="2560320"/>
            <a:ext cx="822960" cy="822960"/>
          </a:xfrm>
          <a:prstGeom prst="rect">
            <a:avLst/>
          </a:prstGeom>
          <a:solidFill>
            <a:srgbClr val="CADCF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206240" y="25603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</a:t>
            </a:r>
            <a:endParaRPr lang="en-US" sz="2300" dirty="0"/>
          </a:p>
        </p:txBody>
      </p:sp>
      <p:sp>
        <p:nvSpPr>
          <p:cNvPr id="32" name="Shape 30"/>
          <p:cNvSpPr/>
          <p:nvPr/>
        </p:nvSpPr>
        <p:spPr>
          <a:xfrm>
            <a:off x="5029200" y="2560320"/>
            <a:ext cx="822960" cy="822960"/>
          </a:xfrm>
          <a:prstGeom prst="rect">
            <a:avLst/>
          </a:prstGeom>
          <a:solidFill>
            <a:srgbClr val="F2F4F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029200" y="25603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300" dirty="0"/>
          </a:p>
        </p:txBody>
      </p:sp>
      <p:sp>
        <p:nvSpPr>
          <p:cNvPr id="34" name="Shape 32"/>
          <p:cNvSpPr/>
          <p:nvPr/>
        </p:nvSpPr>
        <p:spPr>
          <a:xfrm>
            <a:off x="5852160" y="2560320"/>
            <a:ext cx="822960" cy="822960"/>
          </a:xfrm>
          <a:prstGeom prst="rect">
            <a:avLst/>
          </a:prstGeom>
          <a:solidFill>
            <a:srgbClr val="FAD3C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852160" y="25603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300" dirty="0"/>
          </a:p>
        </p:txBody>
      </p:sp>
      <p:sp>
        <p:nvSpPr>
          <p:cNvPr id="36" name="Shape 34"/>
          <p:cNvSpPr/>
          <p:nvPr/>
        </p:nvSpPr>
        <p:spPr>
          <a:xfrm>
            <a:off x="4206240" y="3383280"/>
            <a:ext cx="822960" cy="822960"/>
          </a:xfrm>
          <a:prstGeom prst="rect">
            <a:avLst/>
          </a:prstGeom>
          <a:solidFill>
            <a:srgbClr val="CADCF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206240" y="33832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</a:t>
            </a:r>
            <a:endParaRPr lang="en-US" sz="2300" dirty="0"/>
          </a:p>
        </p:txBody>
      </p:sp>
      <p:sp>
        <p:nvSpPr>
          <p:cNvPr id="38" name="Shape 36"/>
          <p:cNvSpPr/>
          <p:nvPr/>
        </p:nvSpPr>
        <p:spPr>
          <a:xfrm>
            <a:off x="5029200" y="3383280"/>
            <a:ext cx="822960" cy="822960"/>
          </a:xfrm>
          <a:prstGeom prst="rect">
            <a:avLst/>
          </a:prstGeom>
          <a:solidFill>
            <a:srgbClr val="F2F4F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029200" y="33832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300" dirty="0"/>
          </a:p>
        </p:txBody>
      </p:sp>
      <p:sp>
        <p:nvSpPr>
          <p:cNvPr id="40" name="Shape 38"/>
          <p:cNvSpPr/>
          <p:nvPr/>
        </p:nvSpPr>
        <p:spPr>
          <a:xfrm>
            <a:off x="5852160" y="3383280"/>
            <a:ext cx="822960" cy="822960"/>
          </a:xfrm>
          <a:prstGeom prst="rect">
            <a:avLst/>
          </a:prstGeom>
          <a:solidFill>
            <a:srgbClr val="FAD3C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852160" y="33832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300" dirty="0"/>
          </a:p>
        </p:txBody>
      </p:sp>
      <p:sp>
        <p:nvSpPr>
          <p:cNvPr id="42" name="Text 40"/>
          <p:cNvSpPr txBox="1"/>
          <p:nvPr/>
        </p:nvSpPr>
        <p:spPr>
          <a:xfrm>
            <a:off x="6812280" y="260604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</a:t>
            </a:r>
            <a:endParaRPr lang="en-US" sz="4000" dirty="0"/>
          </a:p>
        </p:txBody>
      </p:sp>
      <p:sp>
        <p:nvSpPr>
          <p:cNvPr id="43" name="Shape 41"/>
          <p:cNvSpPr/>
          <p:nvPr/>
        </p:nvSpPr>
        <p:spPr>
          <a:xfrm>
            <a:off x="7589520" y="1737360"/>
            <a:ext cx="4050792" cy="2468880"/>
          </a:xfrm>
          <a:prstGeom prst="roundRect">
            <a:avLst>
              <a:gd name="adj" fmla="val 444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7863840" y="192024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570</a:t>
            </a:r>
            <a:endParaRPr lang="en-US" sz="4800" dirty="0"/>
          </a:p>
        </p:txBody>
      </p:sp>
      <p:sp>
        <p:nvSpPr>
          <p:cNvPr id="45" name="Text 43"/>
          <p:cNvSpPr txBox="1"/>
          <p:nvPr/>
        </p:nvSpPr>
        <p:spPr>
          <a:xfrm>
            <a:off x="7863840" y="297180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alto: aqui existe uma borda vertical (escuro à esquerda, claro à direita)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48640" y="4572000"/>
            <a:ext cx="1109441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Filtro: </a:t>
            </a:r>
            <a:pPr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pequena tabela de pesos, 3 × 3. Ele é colocado sobre um pedaço da imagem; multiplica casa por casa e soma: 3 × (−10 + 0 + 200) = 570. Numa região lisa, o resultado seria perto de zero.</a:t>
            </a:r>
            <a:endParaRPr lang="en-US" sz="17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Deslizar: </a:t>
            </a:r>
            <a:pPr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filtro anda uma casa para o lado e repete a conta, até cobrir a imagem inteira. Cada conta vira um pixel de uma nova imagem, o mapa, que mostra onde o padrão aparece.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onde vêm os números dos filtros?</a:t>
            </a:r>
            <a:endParaRPr lang="en-US" sz="3200" dirty="0"/>
          </a:p>
        </p:txBody>
      </p:sp>
      <p:pic>
        <p:nvPicPr>
          <p:cNvPr id="3" name="Image 0" descr="/home/user/topicos-avancados-ia/code/cnn-pneumonia-r/slides/img/raiox_u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2743200" cy="27432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3429000" y="2606040"/>
            <a:ext cx="457200" cy="320040"/>
          </a:xfrm>
          <a:prstGeom prst="rightArrow">
            <a:avLst/>
          </a:prstGeom>
          <a:solidFill>
            <a:srgbClr val="52514E"/>
          </a:solidFill>
          <a:ln w="12700">
            <a:solidFill>
              <a:srgbClr val="52514E"/>
            </a:solidFill>
            <a:prstDash val="solid"/>
          </a:ln>
        </p:spPr>
      </p:sp>
      <p:pic>
        <p:nvPicPr>
          <p:cNvPr id="5" name="Image 1" descr="/home/user/topicos-avancados-ia/code/cnn-pneumonia-r/slides/img/mapa_filtr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360" y="1371600"/>
            <a:ext cx="2743200" cy="274320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4160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raio-X</a:t>
            </a:r>
            <a:endParaRPr lang="en-US" sz="1400" dirty="0"/>
          </a:p>
        </p:txBody>
      </p:sp>
      <p:sp>
        <p:nvSpPr>
          <p:cNvPr id="7" name="Text 3"/>
          <p:cNvSpPr txBox="1"/>
          <p:nvPr/>
        </p:nvSpPr>
        <p:spPr>
          <a:xfrm>
            <a:off x="4023360" y="4160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 do filtro de borda vertical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4663440"/>
            <a:ext cx="6217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laranja: </a:t>
            </a:r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positivo (escuro → claro)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azul: </a:t>
            </a:r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negativo (claro → escuro)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branco: </a:t>
            </a:r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nenhuma borda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7132320" y="1371600"/>
            <a:ext cx="4507992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Ninguém escreve esses números. </a:t>
            </a:r>
            <a:pPr indent="0" marL="0">
              <a:spcAft>
                <a:spcPts val="1200"/>
              </a:spcAft>
              <a:buNone/>
            </a:pPr>
            <a:r>
              <a:rPr lang="en-US" sz="16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início do treino, os pesos de cada filtro são sorteados — o filtro ainda não detecta nada útil.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treino ajusta os pesos </a:t>
            </a:r>
            <a:pPr indent="0" marL="0">
              <a:spcAft>
                <a:spcPts val="1200"/>
              </a:spcAft>
              <a:buNone/>
            </a:pPr>
            <a:r>
              <a:rPr lang="en-US" sz="16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pouco a pouco, para diminuir o erro da rede. Assim, cada filtro vira um detector de algum padrão que ajuda a separar normal de pneumonia.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filtro é só um conjunto de 9 pesos, </a:t>
            </a:r>
            <a:pPr indent="0" marL="0">
              <a:spcAft>
                <a:spcPts val="1200"/>
              </a:spcAft>
              <a:buNone/>
            </a:pPr>
            <a:r>
              <a:rPr lang="en-US" sz="16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iguais aos pesos do neurônio do começo da aula — por isso é aprendido do mesmo jeito.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6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rede deste vídeo aprende 16 filtros na 1ª convolução e 32 na 2ª. O filtro de borda ao lado foi escolhido à mão só para ilustrar.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ReLU: ficar só com o que o filtro encontrou</a:t>
            </a:r>
            <a:endParaRPr lang="en-US" sz="3200" dirty="0"/>
          </a:p>
        </p:txBody>
      </p:sp>
      <p:pic>
        <p:nvPicPr>
          <p:cNvPr id="3" name="Image 0" descr="/home/user/topicos-avancados-ia/code/cnn-pneumonia-r/slides/img/mapa_filt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2560320" cy="25603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3246120" y="2487168"/>
            <a:ext cx="457200" cy="320040"/>
          </a:xfrm>
          <a:prstGeom prst="rightArrow">
            <a:avLst/>
          </a:prstGeom>
          <a:solidFill>
            <a:srgbClr val="52514E"/>
          </a:solidFill>
          <a:ln w="12700">
            <a:solidFill>
              <a:srgbClr val="52514E"/>
            </a:solidFill>
            <a:prstDash val="solid"/>
          </a:ln>
        </p:spPr>
      </p:sp>
      <p:pic>
        <p:nvPicPr>
          <p:cNvPr id="5" name="Image 1" descr="/home/user/topicos-avancados-ia/code/cnn-pneumonia-r/slides/img/mapa_relu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0" y="1371600"/>
            <a:ext cx="2560320" cy="256032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39776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 do filtro</a:t>
            </a:r>
            <a:endParaRPr lang="en-US" sz="1400" dirty="0"/>
          </a:p>
        </p:txBody>
      </p:sp>
      <p:sp>
        <p:nvSpPr>
          <p:cNvPr id="7" name="Text 3"/>
          <p:cNvSpPr txBox="1"/>
          <p:nvPr/>
        </p:nvSpPr>
        <p:spPr>
          <a:xfrm>
            <a:off x="3840480" y="39776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depois da ReLU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4663440"/>
            <a:ext cx="548640" cy="548640"/>
          </a:xfrm>
          <a:prstGeom prst="rect">
            <a:avLst/>
          </a:prstGeom>
          <a:solidFill>
            <a:srgbClr val="F2F4F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914400" y="4663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</a:t>
            </a:r>
            <a:endParaRPr lang="en-US" sz="1600" dirty="0"/>
          </a:p>
        </p:txBody>
      </p:sp>
      <p:sp>
        <p:nvSpPr>
          <p:cNvPr id="10" name="Shape 6"/>
          <p:cNvSpPr/>
          <p:nvPr/>
        </p:nvSpPr>
        <p:spPr>
          <a:xfrm>
            <a:off x="1463040" y="4663440"/>
            <a:ext cx="548640" cy="548640"/>
          </a:xfrm>
          <a:prstGeom prst="rect">
            <a:avLst/>
          </a:prstGeom>
          <a:solidFill>
            <a:srgbClr val="F2F4F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463040" y="4663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2011680" y="4663440"/>
            <a:ext cx="548640" cy="548640"/>
          </a:xfrm>
          <a:prstGeom prst="rect">
            <a:avLst/>
          </a:prstGeom>
          <a:solidFill>
            <a:srgbClr val="F2F4F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2011680" y="4663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2560320" y="4663440"/>
            <a:ext cx="548640" cy="548640"/>
          </a:xfrm>
          <a:prstGeom prst="rect">
            <a:avLst/>
          </a:prstGeom>
          <a:solidFill>
            <a:srgbClr val="F2F4F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2560320" y="4663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16" name="Text 12"/>
          <p:cNvSpPr txBox="1"/>
          <p:nvPr/>
        </p:nvSpPr>
        <p:spPr>
          <a:xfrm>
            <a:off x="3154680" y="4663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17" name="Shape 13"/>
          <p:cNvSpPr/>
          <p:nvPr/>
        </p:nvSpPr>
        <p:spPr>
          <a:xfrm>
            <a:off x="3749040" y="4663440"/>
            <a:ext cx="548640" cy="548640"/>
          </a:xfrm>
          <a:prstGeom prst="rect">
            <a:avLst/>
          </a:prstGeom>
          <a:solidFill>
            <a:srgbClr val="F2F4F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3749040" y="4663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600" dirty="0"/>
          </a:p>
        </p:txBody>
      </p:sp>
      <p:sp>
        <p:nvSpPr>
          <p:cNvPr id="19" name="Shape 15"/>
          <p:cNvSpPr/>
          <p:nvPr/>
        </p:nvSpPr>
        <p:spPr>
          <a:xfrm>
            <a:off x="4297680" y="4663440"/>
            <a:ext cx="548640" cy="548640"/>
          </a:xfrm>
          <a:prstGeom prst="rect">
            <a:avLst/>
          </a:prstGeom>
          <a:solidFill>
            <a:srgbClr val="F2F4F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4297680" y="4663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4846320" y="4663440"/>
            <a:ext cx="548640" cy="548640"/>
          </a:xfrm>
          <a:prstGeom prst="rect">
            <a:avLst/>
          </a:prstGeom>
          <a:solidFill>
            <a:srgbClr val="FAD3C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4846320" y="4663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23" name="Shape 19"/>
          <p:cNvSpPr/>
          <p:nvPr/>
        </p:nvSpPr>
        <p:spPr>
          <a:xfrm>
            <a:off x="5394960" y="4663440"/>
            <a:ext cx="548640" cy="548640"/>
          </a:xfrm>
          <a:prstGeom prst="rect">
            <a:avLst/>
          </a:prstGeom>
          <a:solidFill>
            <a:srgbClr val="FAD3C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394960" y="4663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5" name="Text 21"/>
          <p:cNvSpPr txBox="1"/>
          <p:nvPr/>
        </p:nvSpPr>
        <p:spPr>
          <a:xfrm>
            <a:off x="548640" y="539496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ReLU(x) = max(0, x)</a:t>
            </a:r>
            <a:endParaRPr lang="en-US" sz="2000" dirty="0"/>
          </a:p>
        </p:txBody>
      </p:sp>
      <p:sp>
        <p:nvSpPr>
          <p:cNvPr id="26" name="Text 22"/>
          <p:cNvSpPr txBox="1"/>
          <p:nvPr/>
        </p:nvSpPr>
        <p:spPr>
          <a:xfrm>
            <a:off x="6766560" y="1371600"/>
            <a:ext cx="4873752" cy="5120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1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faz: </a:t>
            </a:r>
            <a:pPr indent="0" marL="0">
              <a:spcAft>
                <a:spcPts val="1800"/>
              </a:spcAft>
              <a:buNone/>
            </a:pPr>
            <a:r>
              <a:rPr lang="en-US" sz="18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número negativo do mapa vira 0; os positivos continuam iguais (veja os números embaixo).</a:t>
            </a:r>
            <a:endParaRPr lang="en-US" sz="18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ela fica: </a:t>
            </a:r>
            <a:pPr indent="0" marL="0">
              <a:spcAft>
                <a:spcPts val="1800"/>
              </a:spcAft>
              <a:buNone/>
            </a:pPr>
            <a:r>
              <a:rPr lang="en-US" sz="18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logo depois de cada convolução, antes do pooling (convolução → ReLU → pooling). Também aparece depois da camada densa, que vem mais adiante.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Pooling: resumir o mapa pela metade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02920" cy="502920"/>
          </a:xfrm>
          <a:prstGeom prst="rect">
            <a:avLst/>
          </a:prstGeom>
          <a:solidFill>
            <a:srgbClr val="CADCF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51560" y="1371600"/>
            <a:ext cx="502920" cy="502920"/>
          </a:xfrm>
          <a:prstGeom prst="rect">
            <a:avLst/>
          </a:prstGeom>
          <a:solidFill>
            <a:srgbClr val="CADCF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554480" y="1371600"/>
            <a:ext cx="502920" cy="502920"/>
          </a:xfrm>
          <a:prstGeom prst="rect">
            <a:avLst/>
          </a:prstGeom>
          <a:solidFill>
            <a:srgbClr val="FAD3C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55448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057400" y="1371600"/>
            <a:ext cx="502920" cy="502920"/>
          </a:xfrm>
          <a:prstGeom prst="rect">
            <a:avLst/>
          </a:prstGeom>
          <a:solidFill>
            <a:srgbClr val="FAD3C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05740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1874520"/>
            <a:ext cx="502920" cy="502920"/>
          </a:xfrm>
          <a:prstGeom prst="rect">
            <a:avLst/>
          </a:prstGeom>
          <a:solidFill>
            <a:srgbClr val="CADCF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1874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1051560" y="1874520"/>
            <a:ext cx="502920" cy="502920"/>
          </a:xfrm>
          <a:prstGeom prst="rect">
            <a:avLst/>
          </a:prstGeom>
          <a:solidFill>
            <a:srgbClr val="CADCF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51560" y="1874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1554480" y="1874520"/>
            <a:ext cx="502920" cy="502920"/>
          </a:xfrm>
          <a:prstGeom prst="rect">
            <a:avLst/>
          </a:prstGeom>
          <a:solidFill>
            <a:srgbClr val="FAD3C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554480" y="1874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2057400" y="1874520"/>
            <a:ext cx="502920" cy="502920"/>
          </a:xfrm>
          <a:prstGeom prst="rect">
            <a:avLst/>
          </a:prstGeom>
          <a:solidFill>
            <a:srgbClr val="FAD3C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057400" y="1874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2377440"/>
            <a:ext cx="502920" cy="502920"/>
          </a:xfrm>
          <a:prstGeom prst="rect">
            <a:avLst/>
          </a:prstGeom>
          <a:solidFill>
            <a:srgbClr val="C8EBD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2377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1051560" y="2377440"/>
            <a:ext cx="502920" cy="502920"/>
          </a:xfrm>
          <a:prstGeom prst="rect">
            <a:avLst/>
          </a:prstGeom>
          <a:solidFill>
            <a:srgbClr val="C8EBD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51560" y="2377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1554480" y="2377440"/>
            <a:ext cx="502920" cy="502920"/>
          </a:xfrm>
          <a:prstGeom prst="rect">
            <a:avLst/>
          </a:prstGeom>
          <a:solidFill>
            <a:srgbClr val="DDD8F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554480" y="2377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2057400" y="2377440"/>
            <a:ext cx="502920" cy="502920"/>
          </a:xfrm>
          <a:prstGeom prst="rect">
            <a:avLst/>
          </a:prstGeom>
          <a:solidFill>
            <a:srgbClr val="DDD8F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057400" y="2377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548640" y="2880360"/>
            <a:ext cx="502920" cy="502920"/>
          </a:xfrm>
          <a:prstGeom prst="rect">
            <a:avLst/>
          </a:prstGeom>
          <a:solidFill>
            <a:srgbClr val="C8EBD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2880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1051560" y="2880360"/>
            <a:ext cx="502920" cy="502920"/>
          </a:xfrm>
          <a:prstGeom prst="rect">
            <a:avLst/>
          </a:prstGeom>
          <a:solidFill>
            <a:srgbClr val="C8EBD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51560" y="2880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1554480" y="2880360"/>
            <a:ext cx="502920" cy="502920"/>
          </a:xfrm>
          <a:prstGeom prst="rect">
            <a:avLst/>
          </a:prstGeom>
          <a:solidFill>
            <a:srgbClr val="DDD8F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554480" y="2880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2057400" y="2880360"/>
            <a:ext cx="502920" cy="502920"/>
          </a:xfrm>
          <a:prstGeom prst="rect">
            <a:avLst/>
          </a:prstGeom>
          <a:solidFill>
            <a:srgbClr val="DDD8F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057400" y="2880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2743200" y="2194560"/>
            <a:ext cx="457200" cy="320040"/>
          </a:xfrm>
          <a:prstGeom prst="rightArrow">
            <a:avLst/>
          </a:prstGeom>
          <a:solidFill>
            <a:srgbClr val="52514E"/>
          </a:solidFill>
          <a:ln w="12700">
            <a:solidFill>
              <a:srgbClr val="52514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383280" y="1874520"/>
            <a:ext cx="502920" cy="502920"/>
          </a:xfrm>
          <a:prstGeom prst="rect">
            <a:avLst/>
          </a:prstGeom>
          <a:solidFill>
            <a:srgbClr val="CADCF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1874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3886200" y="1874520"/>
            <a:ext cx="502920" cy="502920"/>
          </a:xfrm>
          <a:prstGeom prst="rect">
            <a:avLst/>
          </a:prstGeom>
          <a:solidFill>
            <a:srgbClr val="FAD3C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3886200" y="1874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383280" y="2377440"/>
            <a:ext cx="502920" cy="502920"/>
          </a:xfrm>
          <a:prstGeom prst="rect">
            <a:avLst/>
          </a:prstGeom>
          <a:solidFill>
            <a:srgbClr val="C8EBD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3383280" y="2377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886200" y="2377440"/>
            <a:ext cx="502920" cy="502920"/>
          </a:xfrm>
          <a:prstGeom prst="rect">
            <a:avLst/>
          </a:prstGeom>
          <a:solidFill>
            <a:srgbClr val="DDD8F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3886200" y="2377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4480560" y="187452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fica o maior de cada bloco 2 × 2</a:t>
            </a:r>
            <a:endParaRPr lang="en-US" sz="1400" dirty="0"/>
          </a:p>
        </p:txBody>
      </p:sp>
      <p:pic>
        <p:nvPicPr>
          <p:cNvPr id="45" name="Image 0" descr="/home/user/topicos-avancados-ia/code/cnn-pneumonia-r/slides/img/mapa_rel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703320"/>
            <a:ext cx="2377440" cy="2377440"/>
          </a:xfrm>
          <a:prstGeom prst="rect">
            <a:avLst/>
          </a:prstGeom>
        </p:spPr>
      </p:pic>
      <p:sp>
        <p:nvSpPr>
          <p:cNvPr id="46" name="Shape 43"/>
          <p:cNvSpPr/>
          <p:nvPr/>
        </p:nvSpPr>
        <p:spPr>
          <a:xfrm>
            <a:off x="3108960" y="4736592"/>
            <a:ext cx="457200" cy="320040"/>
          </a:xfrm>
          <a:prstGeom prst="rightArrow">
            <a:avLst/>
          </a:prstGeom>
          <a:solidFill>
            <a:srgbClr val="52514E"/>
          </a:solidFill>
          <a:ln w="12700">
            <a:solidFill>
              <a:srgbClr val="52514E"/>
            </a:solidFill>
            <a:prstDash val="solid"/>
          </a:ln>
        </p:spPr>
      </p:sp>
      <p:pic>
        <p:nvPicPr>
          <p:cNvPr id="47" name="Image 1" descr="/home/user/topicos-avancados-ia/code/cnn-pneumonia-r/slides/img/mapa_poo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0" y="4297680"/>
            <a:ext cx="1188720" cy="1188720"/>
          </a:xfrm>
          <a:prstGeom prst="rect">
            <a:avLst/>
          </a:prstGeom>
        </p:spPr>
      </p:pic>
      <p:sp>
        <p:nvSpPr>
          <p:cNvPr id="48" name="Text 44"/>
          <p:cNvSpPr txBox="1"/>
          <p:nvPr/>
        </p:nvSpPr>
        <p:spPr>
          <a:xfrm>
            <a:off x="548640" y="6126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× 28</a:t>
            </a:r>
            <a:endParaRPr lang="en-US" sz="1400" dirty="0"/>
          </a:p>
        </p:txBody>
      </p:sp>
      <p:sp>
        <p:nvSpPr>
          <p:cNvPr id="49" name="Text 45"/>
          <p:cNvSpPr txBox="1"/>
          <p:nvPr/>
        </p:nvSpPr>
        <p:spPr>
          <a:xfrm>
            <a:off x="3520440" y="55321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× 14</a:t>
            </a:r>
            <a:endParaRPr lang="en-US" sz="1400" dirty="0"/>
          </a:p>
        </p:txBody>
      </p:sp>
      <p:sp>
        <p:nvSpPr>
          <p:cNvPr id="50" name="Text 46"/>
          <p:cNvSpPr txBox="1"/>
          <p:nvPr/>
        </p:nvSpPr>
        <p:spPr>
          <a:xfrm>
            <a:off x="6766560" y="1371600"/>
            <a:ext cx="4873752" cy="5120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faz: </a:t>
            </a:r>
            <a:pPr indent="0" marL="0">
              <a:spcAft>
                <a:spcPts val="1200"/>
              </a:spcAft>
              <a:buNone/>
            </a:pPr>
            <a:r>
              <a:rPr lang="en-US" sz="16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divide o mapa em blocos de 2 × 2 pixels e guarda só o maior valor de cada bloco.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Resultado: </a:t>
            </a:r>
            <a:pPr indent="0" marL="0">
              <a:spcAft>
                <a:spcPts val="1200"/>
              </a:spcAft>
              <a:buNone/>
            </a:pPr>
            <a:r>
              <a:rPr lang="en-US" sz="16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mapa fica com metade da largura e metade da altura (um quarto dos números), mas os lugares onde o padrão foi encontrado continuam marcados.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quê: </a:t>
            </a:r>
            <a:pPr indent="0" marL="0">
              <a:spcAft>
                <a:spcPts val="1200"/>
              </a:spcAft>
              <a:buNone/>
            </a:pPr>
            <a:r>
              <a:rPr lang="en-US" sz="16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1) com o mapa 4 vezes menor, as camadas seguintes têm menos contas a fazer. 2) importa saber se o padrão apareceu naquela região, não em qual pixel exato: se uma borda está num pixel ou no vizinho, dentro do mesmo bloco, o maior valor do bloco é o mesmo.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depois? </a:t>
            </a:r>
            <a:pPr indent="0" marL="0">
              <a:spcAft>
                <a:spcPts val="1200"/>
              </a:spcAft>
              <a:buNone/>
            </a:pPr>
            <a:r>
              <a:rPr lang="en-US" sz="16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mapa reduzido é uma imagem menor. Ele vira a entrada da próxima convolução, que procura padrões nesses mapas.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jornada de um raio-X pela rede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1600200" cy="1920240"/>
          </a:xfrm>
          <a:prstGeom prst="roundRect">
            <a:avLst>
              <a:gd name="adj" fmla="val 685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463040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raio-X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19456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imagem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× 28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2167128" y="2194560"/>
            <a:ext cx="256032" cy="320040"/>
          </a:xfrm>
          <a:prstGeom prst="rightArrow">
            <a:avLst/>
          </a:prstGeom>
          <a:solidFill>
            <a:srgbClr val="52514E"/>
          </a:solidFill>
          <a:ln w="12700">
            <a:solidFill>
              <a:srgbClr val="52514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441448" y="1371600"/>
            <a:ext cx="1600200" cy="1920240"/>
          </a:xfrm>
          <a:prstGeom prst="roundRect">
            <a:avLst>
              <a:gd name="adj" fmla="val 685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532888" y="1463040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convolução 1 + ReLU + pooling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2532888" y="219456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mapas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2532888" y="2697480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× 14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059936" y="2194560"/>
            <a:ext cx="256032" cy="320040"/>
          </a:xfrm>
          <a:prstGeom prst="rightArrow">
            <a:avLst/>
          </a:prstGeom>
          <a:solidFill>
            <a:srgbClr val="52514E"/>
          </a:solidFill>
          <a:ln w="12700">
            <a:solidFill>
              <a:srgbClr val="52514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334256" y="1371600"/>
            <a:ext cx="1600200" cy="1920240"/>
          </a:xfrm>
          <a:prstGeom prst="roundRect">
            <a:avLst>
              <a:gd name="adj" fmla="val 685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425696" y="1463040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convolução 2 + ReLU + pooling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425696" y="219456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mapas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4425696" y="2697480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× 7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952744" y="2194560"/>
            <a:ext cx="256032" cy="320040"/>
          </a:xfrm>
          <a:prstGeom prst="rightArrow">
            <a:avLst/>
          </a:prstGeom>
          <a:solidFill>
            <a:srgbClr val="52514E"/>
          </a:solidFill>
          <a:ln w="12700">
            <a:solidFill>
              <a:srgbClr val="52514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27064" y="1371600"/>
            <a:ext cx="1600200" cy="1920240"/>
          </a:xfrm>
          <a:prstGeom prst="roundRect">
            <a:avLst>
              <a:gd name="adj" fmla="val 685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318504" y="1463040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achatar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318504" y="219456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1.568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6318504" y="2697480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números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7845552" y="2194560"/>
            <a:ext cx="256032" cy="320040"/>
          </a:xfrm>
          <a:prstGeom prst="rightArrow">
            <a:avLst/>
          </a:prstGeom>
          <a:solidFill>
            <a:srgbClr val="52514E"/>
          </a:solidFill>
          <a:ln w="12700">
            <a:solidFill>
              <a:srgbClr val="52514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19872" y="1371600"/>
            <a:ext cx="1600200" cy="1920240"/>
          </a:xfrm>
          <a:prstGeom prst="roundRect">
            <a:avLst>
              <a:gd name="adj" fmla="val 685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211312" y="1463040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camada densa + ReLU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8211312" y="219456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8211312" y="2697480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números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9738360" y="2194560"/>
            <a:ext cx="256032" cy="320040"/>
          </a:xfrm>
          <a:prstGeom prst="rightArrow">
            <a:avLst/>
          </a:prstGeom>
          <a:solidFill>
            <a:srgbClr val="52514E"/>
          </a:solidFill>
          <a:ln w="12700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0012680" y="1371600"/>
            <a:ext cx="1600200" cy="1920240"/>
          </a:xfrm>
          <a:prstGeom prst="roundRect">
            <a:avLst>
              <a:gd name="adj" fmla="val 6857"/>
            </a:avLst>
          </a:prstGeom>
          <a:solidFill>
            <a:srgbClr val="FAD3C2"/>
          </a:solidFill>
          <a:ln w="12700">
            <a:solidFill>
              <a:srgbClr val="FAD3C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0104120" y="1463040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saída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10104120" y="219456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31" name="Text 29"/>
          <p:cNvSpPr txBox="1"/>
          <p:nvPr/>
        </p:nvSpPr>
        <p:spPr>
          <a:xfrm>
            <a:off x="10104120" y="2697480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pontuações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3520440"/>
            <a:ext cx="11094415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ler “16 mapas 14 × 14”: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um dos 16 filtros gera um mapa; cada mapa tem 14 linhas e 14 colunas.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→ 14 → 7: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pooling corta o tamanho pela metade.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32 filtros na 2ª convolução e só 16 na 1ª?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1ª procura padrões simples (bordas, contrastes), e há poucos tipos deles. Os filtros da 2ª olham os 16 mapas da 1ª ao mesmo tempo e combinam esses padrões simples em padrões mais complexos (formas, texturas). Há muito mais combinações possíveis, então vale ter mais filtros. E como o pooling encolheu os mapas, 32 mapas de 14 × 14 (6.272 números) ainda ocupam metade do espaço de 16 mapas de 28 × 28 (12.544). Os valores exatos, 16 e 32, são escolhas de quem monta a rede.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1.568 = 32 × 7 × 7: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os números dos 32 mapas, postos em fila.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Achatar e camada densa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394960" cy="4937760"/>
          </a:xfrm>
          <a:prstGeom prst="roundRect">
            <a:avLst>
              <a:gd name="adj" fmla="val 222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544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Achatar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572000"/>
            <a:ext cx="4846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camada densa recebe uma lista de números, não uma grade. Achatar é enfileirar os 32 mapas de 7 × 7 numa única fila de 1.568 números — como transformar cada imagem numa linha de tabela com 1.568 colunas.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245352" y="1371600"/>
            <a:ext cx="5394960" cy="4937760"/>
          </a:xfrm>
          <a:prstGeom prst="roundRect">
            <a:avLst>
              <a:gd name="adj" fmla="val 222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19672" y="15544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Camada densa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6519672" y="4572000"/>
            <a:ext cx="4846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 neurônios iguais ao do começo da aula: cada um faz uma soma ponderada dos 1.568 números, seguida de ReLU. Cada neurônio combina vários padrões encontrados num único número. O 64 é outra escolha de quem monta a rede.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14400" y="2286000"/>
            <a:ext cx="457200" cy="457200"/>
          </a:xfrm>
          <a:prstGeom prst="rect">
            <a:avLst/>
          </a:prstGeom>
          <a:solidFill>
            <a:srgbClr val="CADCF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371600" y="2286000"/>
            <a:ext cx="457200" cy="457200"/>
          </a:xfrm>
          <a:prstGeom prst="rect">
            <a:avLst/>
          </a:prstGeom>
          <a:solidFill>
            <a:srgbClr val="CADCF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37160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1828800" y="2286000"/>
            <a:ext cx="457200" cy="457200"/>
          </a:xfrm>
          <a:prstGeom prst="rect">
            <a:avLst/>
          </a:prstGeom>
          <a:solidFill>
            <a:srgbClr val="CADCF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82880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914400" y="2743200"/>
            <a:ext cx="457200" cy="457200"/>
          </a:xfrm>
          <a:prstGeom prst="rect">
            <a:avLst/>
          </a:prstGeom>
          <a:solidFill>
            <a:srgbClr val="FAD3C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2743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1371600" y="2743200"/>
            <a:ext cx="457200" cy="457200"/>
          </a:xfrm>
          <a:prstGeom prst="rect">
            <a:avLst/>
          </a:prstGeom>
          <a:solidFill>
            <a:srgbClr val="FAD3C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371600" y="2743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1828800" y="2743200"/>
            <a:ext cx="457200" cy="457200"/>
          </a:xfrm>
          <a:prstGeom prst="rect">
            <a:avLst/>
          </a:prstGeom>
          <a:solidFill>
            <a:srgbClr val="FAD3C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828800" y="2743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914400" y="3200400"/>
            <a:ext cx="457200" cy="457200"/>
          </a:xfrm>
          <a:prstGeom prst="rect">
            <a:avLst/>
          </a:prstGeom>
          <a:solidFill>
            <a:srgbClr val="C8EBD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1440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1371600" y="3200400"/>
            <a:ext cx="457200" cy="457200"/>
          </a:xfrm>
          <a:prstGeom prst="rect">
            <a:avLst/>
          </a:prstGeom>
          <a:solidFill>
            <a:srgbClr val="C8EBD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37160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1828800" y="3200400"/>
            <a:ext cx="457200" cy="457200"/>
          </a:xfrm>
          <a:prstGeom prst="rect">
            <a:avLst/>
          </a:prstGeom>
          <a:solidFill>
            <a:srgbClr val="C8EBD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82880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2423160" y="2834640"/>
            <a:ext cx="365760" cy="320040"/>
          </a:xfrm>
          <a:prstGeom prst="rightArrow">
            <a:avLst/>
          </a:prstGeom>
          <a:solidFill>
            <a:srgbClr val="52514E"/>
          </a:solidFill>
          <a:ln w="12700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26080" y="2788920"/>
            <a:ext cx="329184" cy="329184"/>
          </a:xfrm>
          <a:prstGeom prst="rect">
            <a:avLst/>
          </a:prstGeom>
          <a:solidFill>
            <a:srgbClr val="CADCF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26080" y="2788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255264" y="2788920"/>
            <a:ext cx="329184" cy="329184"/>
          </a:xfrm>
          <a:prstGeom prst="rect">
            <a:avLst/>
          </a:prstGeom>
          <a:solidFill>
            <a:srgbClr val="CADCF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255264" y="2788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584448" y="2788920"/>
            <a:ext cx="329184" cy="329184"/>
          </a:xfrm>
          <a:prstGeom prst="rect">
            <a:avLst/>
          </a:prstGeom>
          <a:solidFill>
            <a:srgbClr val="CADCF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3584448" y="2788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3913632" y="2788920"/>
            <a:ext cx="329184" cy="329184"/>
          </a:xfrm>
          <a:prstGeom prst="rect">
            <a:avLst/>
          </a:prstGeom>
          <a:solidFill>
            <a:srgbClr val="FAD3C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3913632" y="2788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242816" y="2788920"/>
            <a:ext cx="329184" cy="329184"/>
          </a:xfrm>
          <a:prstGeom prst="rect">
            <a:avLst/>
          </a:prstGeom>
          <a:solidFill>
            <a:srgbClr val="FAD3C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242816" y="2788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572000" y="2788920"/>
            <a:ext cx="329184" cy="329184"/>
          </a:xfrm>
          <a:prstGeom prst="rect">
            <a:avLst/>
          </a:prstGeom>
          <a:solidFill>
            <a:srgbClr val="FAD3C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572000" y="2788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901184" y="2788920"/>
            <a:ext cx="329184" cy="329184"/>
          </a:xfrm>
          <a:prstGeom prst="rect">
            <a:avLst/>
          </a:prstGeom>
          <a:solidFill>
            <a:srgbClr val="C8EBD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4901184" y="2788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230368" y="2788920"/>
            <a:ext cx="329184" cy="329184"/>
          </a:xfrm>
          <a:prstGeom prst="rect">
            <a:avLst/>
          </a:prstGeom>
          <a:solidFill>
            <a:srgbClr val="C8EBD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230368" y="2788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559552" y="2788920"/>
            <a:ext cx="329184" cy="329184"/>
          </a:xfrm>
          <a:prstGeom prst="rect">
            <a:avLst/>
          </a:prstGeom>
          <a:solidFill>
            <a:srgbClr val="C8EBD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559552" y="2788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75120" y="2286000"/>
            <a:ext cx="411480" cy="4114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2514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675120" y="2926080"/>
            <a:ext cx="411480" cy="4114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2514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675120" y="3566160"/>
            <a:ext cx="411480" cy="4114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2514E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9418320" y="2606040"/>
            <a:ext cx="411480" cy="411480"/>
          </a:xfrm>
          <a:prstGeom prst="ellipse">
            <a:avLst/>
          </a:prstGeom>
          <a:solidFill>
            <a:srgbClr val="FAD3C2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418320" y="3246120"/>
            <a:ext cx="411480" cy="411480"/>
          </a:xfrm>
          <a:prstGeom prst="ellipse">
            <a:avLst/>
          </a:prstGeom>
          <a:solidFill>
            <a:srgbClr val="FAD3C2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086600" y="2487168"/>
            <a:ext cx="2331720" cy="320040"/>
          </a:xfrm>
          <a:prstGeom prst="line">
            <a:avLst/>
          </a:prstGeom>
          <a:noFill/>
          <a:ln w="12700">
            <a:solidFill>
              <a:srgbClr val="DCDCD8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7086600" y="2487168"/>
            <a:ext cx="2331720" cy="960120"/>
          </a:xfrm>
          <a:prstGeom prst="line">
            <a:avLst/>
          </a:prstGeom>
          <a:noFill/>
          <a:ln w="12700">
            <a:solidFill>
              <a:srgbClr val="DCDCD8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 flipV="1">
            <a:off x="7086600" y="2807208"/>
            <a:ext cx="2331720" cy="320040"/>
          </a:xfrm>
          <a:prstGeom prst="line">
            <a:avLst/>
          </a:prstGeom>
          <a:noFill/>
          <a:ln w="12700">
            <a:solidFill>
              <a:srgbClr val="DCDCD8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086600" y="3127248"/>
            <a:ext cx="2331720" cy="320040"/>
          </a:xfrm>
          <a:prstGeom prst="line">
            <a:avLst/>
          </a:prstGeom>
          <a:noFill/>
          <a:ln w="12700">
            <a:solidFill>
              <a:srgbClr val="DCDCD8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7086600" y="2807208"/>
            <a:ext cx="2331720" cy="960120"/>
          </a:xfrm>
          <a:prstGeom prst="line">
            <a:avLst/>
          </a:prstGeom>
          <a:noFill/>
          <a:ln w="12700">
            <a:solidFill>
              <a:srgbClr val="DCDCD8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7086600" y="3447288"/>
            <a:ext cx="2331720" cy="320040"/>
          </a:xfrm>
          <a:prstGeom prst="line">
            <a:avLst/>
          </a:prstGeom>
          <a:noFill/>
          <a:ln w="12700">
            <a:solidFill>
              <a:srgbClr val="DCDCD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6492240" y="40690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neurônio recebe todas as entradas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saída: 2 pontuações que viram probabilidades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383280" cy="2011680"/>
          </a:xfrm>
          <a:prstGeom prst="roundRect">
            <a:avLst>
              <a:gd name="adj" fmla="val 5455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087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saída da rede: pontuações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92024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1,2  ·  3,1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7889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· pneumonia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977640" y="2240280"/>
            <a:ext cx="365760" cy="320040"/>
          </a:xfrm>
          <a:prstGeom prst="rightArrow">
            <a:avLst/>
          </a:prstGeom>
          <a:solidFill>
            <a:srgbClr val="52514E"/>
          </a:solidFill>
          <a:ln w="12700">
            <a:solidFill>
              <a:srgbClr val="52514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389120" y="1371600"/>
            <a:ext cx="3383280" cy="2011680"/>
          </a:xfrm>
          <a:prstGeom prst="roundRect">
            <a:avLst>
              <a:gd name="adj" fmla="val 5455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63440" y="15087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depois do softmax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663440" y="192024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13%  ·  87%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4663440" y="27889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· pneumonia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818120" y="2240280"/>
            <a:ext cx="365760" cy="320040"/>
          </a:xfrm>
          <a:prstGeom prst="rightArrow">
            <a:avLst/>
          </a:prstGeom>
          <a:solidFill>
            <a:srgbClr val="52514E"/>
          </a:solidFill>
          <a:ln w="12700">
            <a:solidFill>
              <a:srgbClr val="52514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0" y="1371600"/>
            <a:ext cx="3383280" cy="2011680"/>
          </a:xfrm>
          <a:prstGeom prst="roundRect">
            <a:avLst>
              <a:gd name="adj" fmla="val 5455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503920" y="15087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503920" y="192024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pneumonia</a:t>
            </a:r>
            <a:endParaRPr lang="en-US" sz="3200" dirty="0"/>
          </a:p>
        </p:txBody>
      </p:sp>
      <p:sp>
        <p:nvSpPr>
          <p:cNvPr id="16" name="Text 14"/>
          <p:cNvSpPr txBox="1"/>
          <p:nvPr/>
        </p:nvSpPr>
        <p:spPr>
          <a:xfrm>
            <a:off x="8503920" y="27889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classe de maior probabilidade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3749040"/>
            <a:ext cx="1109441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Pontuação: </a:t>
            </a:r>
            <a:pPr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última camada tem 2 neurônios, um para cada classe. Cada um dá um número qualquer (pode ser negativo, pode ser 50): quanto maior, mais a imagem se parece com aquela classe.</a:t>
            </a:r>
            <a:endParaRPr lang="en-US" sz="17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Softmax: </a:t>
            </a:r>
            <a:pPr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 as pontuações em probabilidades que somam 100%.  p(pneumonia) = e^3,1 / (e^1,2 + e^3,1) = 0,87.</a:t>
            </a:r>
            <a:endParaRPr lang="en-US" sz="17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Decisão: </a:t>
            </a:r>
            <a:pPr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classe de maior probabilidade — o mesmo que cortar em 50%.</a:t>
            </a:r>
            <a:endParaRPr lang="en-US" sz="1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rede completa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600200" y="118872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Parte 1 · encontrar padrões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600200" y="1627632"/>
            <a:ext cx="4663440" cy="0"/>
          </a:xfrm>
          <a:prstGeom prst="line">
            <a:avLst/>
          </a:prstGeom>
          <a:noFill/>
          <a:ln w="19050">
            <a:solidFill>
              <a:srgbClr val="EB683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0" y="1188720"/>
            <a:ext cx="5239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Parte 2 · decidir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0" y="1627632"/>
            <a:ext cx="5239512" cy="0"/>
          </a:xfrm>
          <a:prstGeom prst="line">
            <a:avLst/>
          </a:prstGeom>
          <a:noFill/>
          <a:ln w="19050">
            <a:solidFill>
              <a:srgbClr val="EB683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987552" y="1965960"/>
            <a:ext cx="1088136" cy="118872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987552" y="1965960"/>
            <a:ext cx="1088136" cy="502920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87552" y="2084832"/>
            <a:ext cx="1088136" cy="64008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987552" y="2148840"/>
            <a:ext cx="1088136" cy="320040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987552" y="2148840"/>
            <a:ext cx="1088136" cy="704088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987552" y="2331720"/>
            <a:ext cx="1088136" cy="137160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987552" y="2331720"/>
            <a:ext cx="1088136" cy="521208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987552" y="2331720"/>
            <a:ext cx="1088136" cy="905256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987552" y="2514600"/>
            <a:ext cx="1088136" cy="338328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987552" y="2514600"/>
            <a:ext cx="1088136" cy="722376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987552" y="2514600"/>
            <a:ext cx="1088136" cy="1106424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987552" y="2697480"/>
            <a:ext cx="1088136" cy="539496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987552" y="2697480"/>
            <a:ext cx="1088136" cy="923544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987552" y="2697480"/>
            <a:ext cx="1088136" cy="1307592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987552" y="2880360"/>
            <a:ext cx="1088136" cy="740664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987552" y="2880360"/>
            <a:ext cx="1088136" cy="1124712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987552" y="2880360"/>
            <a:ext cx="1088136" cy="1508760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987552" y="3063240"/>
            <a:ext cx="1088136" cy="941832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987552" y="3063240"/>
            <a:ext cx="1088136" cy="1325880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987552" y="3063240"/>
            <a:ext cx="1088136" cy="1709928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987552" y="3246120"/>
            <a:ext cx="1088136" cy="1143000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987552" y="3246120"/>
            <a:ext cx="1088136" cy="1527048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87552" y="2084832"/>
            <a:ext cx="1088136" cy="1527048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87552" y="2468880"/>
            <a:ext cx="1088136" cy="1143000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87552" y="2084832"/>
            <a:ext cx="1088136" cy="1709928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87552" y="2468880"/>
            <a:ext cx="1088136" cy="1325880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87552" y="2852928"/>
            <a:ext cx="1088136" cy="941832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87552" y="2468880"/>
            <a:ext cx="1088136" cy="1508760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87552" y="2852928"/>
            <a:ext cx="1088136" cy="1124712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87552" y="3236976"/>
            <a:ext cx="1088136" cy="740664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87552" y="2852928"/>
            <a:ext cx="1088136" cy="1307592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87552" y="3236976"/>
            <a:ext cx="1088136" cy="923544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987552" y="3621024"/>
            <a:ext cx="1088136" cy="539496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87552" y="3236976"/>
            <a:ext cx="1088136" cy="1106424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987552" y="3621024"/>
            <a:ext cx="1088136" cy="722376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987552" y="4005072"/>
            <a:ext cx="1088136" cy="338328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987552" y="3621024"/>
            <a:ext cx="1088136" cy="905256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987552" y="4005072"/>
            <a:ext cx="1088136" cy="521208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987552" y="4389120"/>
            <a:ext cx="1088136" cy="137160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987552" y="4005072"/>
            <a:ext cx="1088136" cy="704088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987552" y="4389120"/>
            <a:ext cx="1088136" cy="320040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 flipV="1">
            <a:off x="987552" y="4709160"/>
            <a:ext cx="1088136" cy="64008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987552" y="4389120"/>
            <a:ext cx="1088136" cy="502920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87552" y="4773168"/>
            <a:ext cx="1088136" cy="118872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2221992" y="1965960"/>
            <a:ext cx="1042416" cy="365760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2221992" y="2148840"/>
            <a:ext cx="1042416" cy="182880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2221992" y="2331720"/>
            <a:ext cx="1042416" cy="182880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2221992" y="2514600"/>
            <a:ext cx="1042416" cy="0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2221992" y="2697480"/>
            <a:ext cx="1042416" cy="0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2221992" y="2697480"/>
            <a:ext cx="1042416" cy="182880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flipV="1">
            <a:off x="2221992" y="2880360"/>
            <a:ext cx="1042416" cy="182880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2221992" y="2880360"/>
            <a:ext cx="1042416" cy="365760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2221992" y="3611880"/>
            <a:ext cx="1042416" cy="365760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2221992" y="3794760"/>
            <a:ext cx="1042416" cy="182880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2221992" y="3977640"/>
            <a:ext cx="1042416" cy="182880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2221992" y="4160520"/>
            <a:ext cx="1042416" cy="0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2221992" y="4343400"/>
            <a:ext cx="1042416" cy="0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 flipV="1">
            <a:off x="2221992" y="4343400"/>
            <a:ext cx="1042416" cy="182880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 flipV="1">
            <a:off x="2221992" y="4526280"/>
            <a:ext cx="1042416" cy="182880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 flipV="1">
            <a:off x="2221992" y="4526280"/>
            <a:ext cx="1042416" cy="365760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flipV="1">
            <a:off x="3410712" y="2057400"/>
            <a:ext cx="1042416" cy="274320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 flipV="1">
            <a:off x="3410712" y="2057400"/>
            <a:ext cx="1042416" cy="457200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 flipV="1">
            <a:off x="3410712" y="2057400"/>
            <a:ext cx="1042416" cy="1920240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 flipV="1">
            <a:off x="3410712" y="2057400"/>
            <a:ext cx="1042416" cy="2103120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 flipV="1">
            <a:off x="3410712" y="2240280"/>
            <a:ext cx="1042416" cy="91440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 flipV="1">
            <a:off x="3410712" y="2240280"/>
            <a:ext cx="1042416" cy="274320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 flipV="1">
            <a:off x="3410712" y="2240280"/>
            <a:ext cx="1042416" cy="457200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 flipV="1">
            <a:off x="3410712" y="2240280"/>
            <a:ext cx="1042416" cy="1737360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 flipV="1">
            <a:off x="3410712" y="2240280"/>
            <a:ext cx="1042416" cy="1920240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 flipV="1">
            <a:off x="3410712" y="2240280"/>
            <a:ext cx="1042416" cy="2103120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 flipV="1">
            <a:off x="3410712" y="2423160"/>
            <a:ext cx="1042416" cy="91440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 flipV="1">
            <a:off x="3410712" y="2423160"/>
            <a:ext cx="1042416" cy="274320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 flipV="1">
            <a:off x="3410712" y="2423160"/>
            <a:ext cx="1042416" cy="457200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 flipV="1">
            <a:off x="3410712" y="2423160"/>
            <a:ext cx="1042416" cy="1737360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 flipV="1">
            <a:off x="3410712" y="2423160"/>
            <a:ext cx="1042416" cy="1920240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 flipV="1">
            <a:off x="3410712" y="2423160"/>
            <a:ext cx="1042416" cy="2103120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 flipV="1">
            <a:off x="3410712" y="2606040"/>
            <a:ext cx="1042416" cy="91440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 flipV="1">
            <a:off x="3410712" y="2606040"/>
            <a:ext cx="1042416" cy="274320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 flipV="1">
            <a:off x="3410712" y="2606040"/>
            <a:ext cx="1042416" cy="1737360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 flipV="1">
            <a:off x="3410712" y="2606040"/>
            <a:ext cx="1042416" cy="1920240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3410712" y="2331720"/>
            <a:ext cx="1042416" cy="822960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3410712" y="2514600"/>
            <a:ext cx="1042416" cy="640080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 flipV="1">
            <a:off x="3410712" y="3154680"/>
            <a:ext cx="1042416" cy="822960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 flipV="1">
            <a:off x="3410712" y="3154680"/>
            <a:ext cx="1042416" cy="1005840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3410712" y="2331720"/>
            <a:ext cx="1042416" cy="1005840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3410712" y="2514600"/>
            <a:ext cx="1042416" cy="822960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3410712" y="2697480"/>
            <a:ext cx="1042416" cy="640080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 flipV="1">
            <a:off x="3410712" y="3337560"/>
            <a:ext cx="1042416" cy="640080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 flipV="1">
            <a:off x="3410712" y="3337560"/>
            <a:ext cx="1042416" cy="822960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 flipV="1">
            <a:off x="3410712" y="3337560"/>
            <a:ext cx="1042416" cy="1005840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3410712" y="2514600"/>
            <a:ext cx="1042416" cy="1005840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3410712" y="2697480"/>
            <a:ext cx="1042416" cy="822960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3410712" y="2880360"/>
            <a:ext cx="1042416" cy="640080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 flipV="1">
            <a:off x="3410712" y="3520440"/>
            <a:ext cx="1042416" cy="640080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 flipV="1">
            <a:off x="3410712" y="3520440"/>
            <a:ext cx="1042416" cy="822960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 flipV="1">
            <a:off x="3410712" y="3520440"/>
            <a:ext cx="1042416" cy="1005840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3410712" y="2697480"/>
            <a:ext cx="1042416" cy="1005840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3410712" y="2880360"/>
            <a:ext cx="1042416" cy="822960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 flipV="1">
            <a:off x="3410712" y="3703320"/>
            <a:ext cx="1042416" cy="640080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 flipV="1">
            <a:off x="3410712" y="3703320"/>
            <a:ext cx="1042416" cy="822960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3410712" y="2331720"/>
            <a:ext cx="1042416" cy="1920240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3410712" y="2514600"/>
            <a:ext cx="1042416" cy="1737360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3410712" y="3977640"/>
            <a:ext cx="1042416" cy="274320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3410712" y="4160520"/>
            <a:ext cx="1042416" cy="91440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3410712" y="2331720"/>
            <a:ext cx="1042416" cy="2103120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3410712" y="2514600"/>
            <a:ext cx="1042416" cy="1920240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3410712" y="2697480"/>
            <a:ext cx="1042416" cy="1737360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3410712" y="3977640"/>
            <a:ext cx="1042416" cy="457200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3410712" y="4160520"/>
            <a:ext cx="1042416" cy="274320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3410712" y="4343400"/>
            <a:ext cx="1042416" cy="91440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3410712" y="2514600"/>
            <a:ext cx="1042416" cy="2103120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3410712" y="2697480"/>
            <a:ext cx="1042416" cy="1920240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3410712" y="2880360"/>
            <a:ext cx="1042416" cy="1737360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3410712" y="4160520"/>
            <a:ext cx="1042416" cy="457200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3410712" y="4343400"/>
            <a:ext cx="1042416" cy="274320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3410712" y="4526280"/>
            <a:ext cx="1042416" cy="91440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3410712" y="2697480"/>
            <a:ext cx="1042416" cy="2103120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3410712" y="2880360"/>
            <a:ext cx="1042416" cy="1920240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3410712" y="4343400"/>
            <a:ext cx="1042416" cy="457200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3410712" y="4526280"/>
            <a:ext cx="1042416" cy="274320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4599432" y="2057400"/>
            <a:ext cx="996696" cy="182880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4599432" y="2240280"/>
            <a:ext cx="996696" cy="0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4599432" y="2423160"/>
            <a:ext cx="996696" cy="0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 flipV="1">
            <a:off x="4599432" y="2423160"/>
            <a:ext cx="996696" cy="182880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4599432" y="3154680"/>
            <a:ext cx="996696" cy="182880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4599432" y="3337560"/>
            <a:ext cx="996696" cy="0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4599432" y="3520440"/>
            <a:ext cx="996696" cy="0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 flipV="1">
            <a:off x="4599432" y="3520440"/>
            <a:ext cx="996696" cy="182880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4599432" y="4251960"/>
            <a:ext cx="996696" cy="182880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4599432" y="4434840"/>
            <a:ext cx="996696" cy="0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4599432" y="4617720"/>
            <a:ext cx="996696" cy="0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 flipV="1">
            <a:off x="4599432" y="4617720"/>
            <a:ext cx="996696" cy="182880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42432" y="2240280"/>
            <a:ext cx="1088136" cy="502920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42432" y="2423160"/>
            <a:ext cx="1088136" cy="594360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 flipV="1">
            <a:off x="5742432" y="3291840"/>
            <a:ext cx="1088136" cy="45720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742432" y="3520440"/>
            <a:ext cx="1088136" cy="45720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 flipV="1">
            <a:off x="5742432" y="3840480"/>
            <a:ext cx="1088136" cy="594360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 flipV="1">
            <a:off x="5742432" y="4114800"/>
            <a:ext cx="1088136" cy="502920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 flipV="1">
            <a:off x="6976872" y="2660904"/>
            <a:ext cx="1133856" cy="82296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976872" y="2743200"/>
            <a:ext cx="1133856" cy="301752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976872" y="2743200"/>
            <a:ext cx="1133856" cy="685800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976872" y="2743200"/>
            <a:ext cx="1133856" cy="1069848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76872" y="2743200"/>
            <a:ext cx="1133856" cy="1453896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 flipV="1">
            <a:off x="6976872" y="2660904"/>
            <a:ext cx="1133856" cy="356616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6976872" y="3017520"/>
            <a:ext cx="1133856" cy="27432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6976872" y="3017520"/>
            <a:ext cx="1133856" cy="411480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6976872" y="3017520"/>
            <a:ext cx="1133856" cy="795528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6976872" y="3017520"/>
            <a:ext cx="1133856" cy="1179576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 flipV="1">
            <a:off x="6976872" y="2660904"/>
            <a:ext cx="1133856" cy="630936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 flipV="1">
            <a:off x="6976872" y="3044952"/>
            <a:ext cx="1133856" cy="246888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6976872" y="3291840"/>
            <a:ext cx="1133856" cy="137160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6976872" y="3291840"/>
            <a:ext cx="1133856" cy="521208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6976872" y="3291840"/>
            <a:ext cx="1133856" cy="905256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 flipV="1">
            <a:off x="6976872" y="2660904"/>
            <a:ext cx="1133856" cy="905256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 flipV="1">
            <a:off x="6976872" y="3044952"/>
            <a:ext cx="1133856" cy="521208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 flipV="1">
            <a:off x="6976872" y="3429000"/>
            <a:ext cx="1133856" cy="137160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6976872" y="3566160"/>
            <a:ext cx="1133856" cy="246888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6976872" y="3566160"/>
            <a:ext cx="1133856" cy="630936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 flipV="1">
            <a:off x="6976872" y="2660904"/>
            <a:ext cx="1133856" cy="1179576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 flipV="1">
            <a:off x="6976872" y="3044952"/>
            <a:ext cx="1133856" cy="795528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 flipV="1">
            <a:off x="6976872" y="3429000"/>
            <a:ext cx="1133856" cy="411480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 flipV="1">
            <a:off x="6976872" y="3813048"/>
            <a:ext cx="1133856" cy="27432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976872" y="3840480"/>
            <a:ext cx="1133856" cy="356616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 flipV="1">
            <a:off x="6976872" y="2660904"/>
            <a:ext cx="1133856" cy="1453896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 flipV="1">
            <a:off x="6976872" y="3044952"/>
            <a:ext cx="1133856" cy="1069848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 flipV="1">
            <a:off x="6976872" y="3429000"/>
            <a:ext cx="1133856" cy="685800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 flipV="1">
            <a:off x="6976872" y="3813048"/>
            <a:ext cx="1133856" cy="301752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76872" y="4114800"/>
            <a:ext cx="1133856" cy="82296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8257032" y="2660904"/>
            <a:ext cx="1088136" cy="448056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8257032" y="2660904"/>
            <a:ext cx="1088136" cy="1088136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8257032" y="3044952"/>
            <a:ext cx="1088136" cy="64008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8257032" y="3044952"/>
            <a:ext cx="1088136" cy="704088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 flipV="1">
            <a:off x="8257032" y="3108960"/>
            <a:ext cx="1088136" cy="320040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8257032" y="3429000"/>
            <a:ext cx="1088136" cy="320040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 flipV="1">
            <a:off x="8257032" y="3108960"/>
            <a:ext cx="1088136" cy="704088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 flipV="1">
            <a:off x="8257032" y="3749040"/>
            <a:ext cx="1088136" cy="64008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 flipV="1">
            <a:off x="8257032" y="3108960"/>
            <a:ext cx="1088136" cy="1088136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 flipV="1">
            <a:off x="8257032" y="3749040"/>
            <a:ext cx="1088136" cy="448056"/>
          </a:xfrm>
          <a:prstGeom prst="line">
            <a:avLst/>
          </a:prstGeom>
          <a:noFill/>
          <a:ln w="6350">
            <a:solidFill>
              <a:srgbClr val="DCDCD8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 flipV="1">
            <a:off x="987552" y="2514600"/>
            <a:ext cx="1088136" cy="338328"/>
          </a:xfrm>
          <a:prstGeom prst="line">
            <a:avLst/>
          </a:prstGeom>
          <a:noFill/>
          <a:ln w="19050">
            <a:solidFill>
              <a:srgbClr val="EB6834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 flipV="1">
            <a:off x="987552" y="2514600"/>
            <a:ext cx="1088136" cy="722376"/>
          </a:xfrm>
          <a:prstGeom prst="line">
            <a:avLst/>
          </a:prstGeom>
          <a:noFill/>
          <a:ln w="19050">
            <a:solidFill>
              <a:srgbClr val="EB6834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 flipV="1">
            <a:off x="987552" y="2514600"/>
            <a:ext cx="1088136" cy="1106424"/>
          </a:xfrm>
          <a:prstGeom prst="line">
            <a:avLst/>
          </a:prstGeom>
          <a:noFill/>
          <a:ln w="19050">
            <a:solidFill>
              <a:srgbClr val="EB6834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841248" y="2011680"/>
            <a:ext cx="146304" cy="146304"/>
          </a:xfrm>
          <a:prstGeom prst="ellipse">
            <a:avLst/>
          </a:prstGeom>
          <a:solidFill>
            <a:srgbClr val="FFFFFF"/>
          </a:solidFill>
          <a:ln w="6350">
            <a:solidFill>
              <a:srgbClr val="52514E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841248" y="2395728"/>
            <a:ext cx="146304" cy="146304"/>
          </a:xfrm>
          <a:prstGeom prst="ellipse">
            <a:avLst/>
          </a:prstGeom>
          <a:solidFill>
            <a:srgbClr val="FFFFFF"/>
          </a:solidFill>
          <a:ln w="6350">
            <a:solidFill>
              <a:srgbClr val="52514E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841248" y="2779776"/>
            <a:ext cx="146304" cy="146304"/>
          </a:xfrm>
          <a:prstGeom prst="ellipse">
            <a:avLst/>
          </a:prstGeom>
          <a:solidFill>
            <a:srgbClr val="FFFFFF"/>
          </a:solidFill>
          <a:ln w="6350">
            <a:solidFill>
              <a:srgbClr val="52514E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841248" y="3163824"/>
            <a:ext cx="146304" cy="146304"/>
          </a:xfrm>
          <a:prstGeom prst="ellipse">
            <a:avLst/>
          </a:prstGeom>
          <a:solidFill>
            <a:srgbClr val="FFFFFF"/>
          </a:solidFill>
          <a:ln w="6350">
            <a:solidFill>
              <a:srgbClr val="52514E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841248" y="3547872"/>
            <a:ext cx="146304" cy="146304"/>
          </a:xfrm>
          <a:prstGeom prst="ellipse">
            <a:avLst/>
          </a:prstGeom>
          <a:solidFill>
            <a:srgbClr val="FFFFFF"/>
          </a:solidFill>
          <a:ln w="6350">
            <a:solidFill>
              <a:srgbClr val="52514E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841248" y="3931920"/>
            <a:ext cx="146304" cy="146304"/>
          </a:xfrm>
          <a:prstGeom prst="ellipse">
            <a:avLst/>
          </a:prstGeom>
          <a:solidFill>
            <a:srgbClr val="FFFFFF"/>
          </a:solidFill>
          <a:ln w="6350">
            <a:solidFill>
              <a:srgbClr val="52514E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841248" y="4315968"/>
            <a:ext cx="146304" cy="146304"/>
          </a:xfrm>
          <a:prstGeom prst="ellipse">
            <a:avLst/>
          </a:prstGeom>
          <a:solidFill>
            <a:srgbClr val="FFFFFF"/>
          </a:solidFill>
          <a:ln w="6350">
            <a:solidFill>
              <a:srgbClr val="52514E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841248" y="4700016"/>
            <a:ext cx="146304" cy="146304"/>
          </a:xfrm>
          <a:prstGeom prst="ellipse">
            <a:avLst/>
          </a:prstGeom>
          <a:solidFill>
            <a:srgbClr val="FFFFFF"/>
          </a:solidFill>
          <a:ln w="6350">
            <a:solidFill>
              <a:srgbClr val="52514E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2075688" y="1892808"/>
            <a:ext cx="146304" cy="146304"/>
          </a:xfrm>
          <a:prstGeom prst="ellipse">
            <a:avLst/>
          </a:prstGeom>
          <a:solidFill>
            <a:srgbClr val="CADCFC"/>
          </a:solidFill>
          <a:ln w="6350">
            <a:solidFill>
              <a:srgbClr val="52514E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2075688" y="2075688"/>
            <a:ext cx="146304" cy="146304"/>
          </a:xfrm>
          <a:prstGeom prst="ellipse">
            <a:avLst/>
          </a:prstGeom>
          <a:solidFill>
            <a:srgbClr val="CADCFC"/>
          </a:solidFill>
          <a:ln w="6350">
            <a:solidFill>
              <a:srgbClr val="52514E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2075688" y="2258568"/>
            <a:ext cx="146304" cy="146304"/>
          </a:xfrm>
          <a:prstGeom prst="ellipse">
            <a:avLst/>
          </a:prstGeom>
          <a:solidFill>
            <a:srgbClr val="CADCFC"/>
          </a:solidFill>
          <a:ln w="6350">
            <a:solidFill>
              <a:srgbClr val="52514E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2075688" y="2441448"/>
            <a:ext cx="146304" cy="146304"/>
          </a:xfrm>
          <a:prstGeom prst="ellipse">
            <a:avLst/>
          </a:prstGeom>
          <a:solidFill>
            <a:srgbClr val="CADCFC"/>
          </a:solidFill>
          <a:ln w="6350">
            <a:solidFill>
              <a:srgbClr val="52514E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2075688" y="2624328"/>
            <a:ext cx="146304" cy="146304"/>
          </a:xfrm>
          <a:prstGeom prst="ellipse">
            <a:avLst/>
          </a:prstGeom>
          <a:solidFill>
            <a:srgbClr val="CADCFC"/>
          </a:solidFill>
          <a:ln w="6350">
            <a:solidFill>
              <a:srgbClr val="52514E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2075688" y="2807208"/>
            <a:ext cx="146304" cy="146304"/>
          </a:xfrm>
          <a:prstGeom prst="ellipse">
            <a:avLst/>
          </a:prstGeom>
          <a:solidFill>
            <a:srgbClr val="CADCFC"/>
          </a:solidFill>
          <a:ln w="6350">
            <a:solidFill>
              <a:srgbClr val="52514E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2075688" y="2990088"/>
            <a:ext cx="146304" cy="146304"/>
          </a:xfrm>
          <a:prstGeom prst="ellipse">
            <a:avLst/>
          </a:prstGeom>
          <a:solidFill>
            <a:srgbClr val="CADCFC"/>
          </a:solidFill>
          <a:ln w="6350">
            <a:solidFill>
              <a:srgbClr val="52514E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2075688" y="3172968"/>
            <a:ext cx="146304" cy="146304"/>
          </a:xfrm>
          <a:prstGeom prst="ellipse">
            <a:avLst/>
          </a:prstGeom>
          <a:solidFill>
            <a:srgbClr val="CADCFC"/>
          </a:solidFill>
          <a:ln w="6350">
            <a:solidFill>
              <a:srgbClr val="52514E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2075688" y="3538728"/>
            <a:ext cx="146304" cy="146304"/>
          </a:xfrm>
          <a:prstGeom prst="ellipse">
            <a:avLst/>
          </a:prstGeom>
          <a:solidFill>
            <a:srgbClr val="C8EBDD"/>
          </a:solidFill>
          <a:ln w="6350">
            <a:solidFill>
              <a:srgbClr val="52514E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2075688" y="3721608"/>
            <a:ext cx="146304" cy="146304"/>
          </a:xfrm>
          <a:prstGeom prst="ellipse">
            <a:avLst/>
          </a:prstGeom>
          <a:solidFill>
            <a:srgbClr val="C8EBDD"/>
          </a:solidFill>
          <a:ln w="6350">
            <a:solidFill>
              <a:srgbClr val="52514E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2075688" y="3904488"/>
            <a:ext cx="146304" cy="146304"/>
          </a:xfrm>
          <a:prstGeom prst="ellipse">
            <a:avLst/>
          </a:prstGeom>
          <a:solidFill>
            <a:srgbClr val="C8EBDD"/>
          </a:solidFill>
          <a:ln w="6350">
            <a:solidFill>
              <a:srgbClr val="52514E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2075688" y="4087368"/>
            <a:ext cx="146304" cy="146304"/>
          </a:xfrm>
          <a:prstGeom prst="ellipse">
            <a:avLst/>
          </a:prstGeom>
          <a:solidFill>
            <a:srgbClr val="C8EBDD"/>
          </a:solidFill>
          <a:ln w="6350">
            <a:solidFill>
              <a:srgbClr val="52514E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2075688" y="4270248"/>
            <a:ext cx="146304" cy="146304"/>
          </a:xfrm>
          <a:prstGeom prst="ellipse">
            <a:avLst/>
          </a:prstGeom>
          <a:solidFill>
            <a:srgbClr val="C8EBDD"/>
          </a:solidFill>
          <a:ln w="6350">
            <a:solidFill>
              <a:srgbClr val="52514E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2075688" y="4453128"/>
            <a:ext cx="146304" cy="146304"/>
          </a:xfrm>
          <a:prstGeom prst="ellipse">
            <a:avLst/>
          </a:prstGeom>
          <a:solidFill>
            <a:srgbClr val="C8EBDD"/>
          </a:solidFill>
          <a:ln w="6350">
            <a:solidFill>
              <a:srgbClr val="52514E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2075688" y="4636008"/>
            <a:ext cx="146304" cy="146304"/>
          </a:xfrm>
          <a:prstGeom prst="ellipse">
            <a:avLst/>
          </a:prstGeom>
          <a:solidFill>
            <a:srgbClr val="C8EBDD"/>
          </a:solidFill>
          <a:ln w="6350">
            <a:solidFill>
              <a:srgbClr val="52514E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2075688" y="4818888"/>
            <a:ext cx="146304" cy="146304"/>
          </a:xfrm>
          <a:prstGeom prst="ellipse">
            <a:avLst/>
          </a:prstGeom>
          <a:solidFill>
            <a:srgbClr val="C8EBDD"/>
          </a:solidFill>
          <a:ln w="6350">
            <a:solidFill>
              <a:srgbClr val="52514E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3264408" y="2258568"/>
            <a:ext cx="146304" cy="146304"/>
          </a:xfrm>
          <a:prstGeom prst="ellipse">
            <a:avLst/>
          </a:prstGeom>
          <a:solidFill>
            <a:srgbClr val="CADCFC"/>
          </a:solidFill>
          <a:ln w="6350">
            <a:solidFill>
              <a:srgbClr val="52514E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3264408" y="2441448"/>
            <a:ext cx="146304" cy="146304"/>
          </a:xfrm>
          <a:prstGeom prst="ellipse">
            <a:avLst/>
          </a:prstGeom>
          <a:solidFill>
            <a:srgbClr val="CADCFC"/>
          </a:solidFill>
          <a:ln w="6350">
            <a:solidFill>
              <a:srgbClr val="52514E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3264408" y="2624328"/>
            <a:ext cx="146304" cy="146304"/>
          </a:xfrm>
          <a:prstGeom prst="ellipse">
            <a:avLst/>
          </a:prstGeom>
          <a:solidFill>
            <a:srgbClr val="CADCFC"/>
          </a:solidFill>
          <a:ln w="6350">
            <a:solidFill>
              <a:srgbClr val="52514E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3264408" y="2807208"/>
            <a:ext cx="146304" cy="146304"/>
          </a:xfrm>
          <a:prstGeom prst="ellipse">
            <a:avLst/>
          </a:prstGeom>
          <a:solidFill>
            <a:srgbClr val="CADCFC"/>
          </a:solidFill>
          <a:ln w="6350">
            <a:solidFill>
              <a:srgbClr val="52514E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3264408" y="3904488"/>
            <a:ext cx="146304" cy="146304"/>
          </a:xfrm>
          <a:prstGeom prst="ellipse">
            <a:avLst/>
          </a:prstGeom>
          <a:solidFill>
            <a:srgbClr val="C8EBDD"/>
          </a:solidFill>
          <a:ln w="6350">
            <a:solidFill>
              <a:srgbClr val="52514E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3264408" y="4087368"/>
            <a:ext cx="146304" cy="146304"/>
          </a:xfrm>
          <a:prstGeom prst="ellipse">
            <a:avLst/>
          </a:prstGeom>
          <a:solidFill>
            <a:srgbClr val="C8EBDD"/>
          </a:solidFill>
          <a:ln w="6350">
            <a:solidFill>
              <a:srgbClr val="52514E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3264408" y="4270248"/>
            <a:ext cx="146304" cy="146304"/>
          </a:xfrm>
          <a:prstGeom prst="ellipse">
            <a:avLst/>
          </a:prstGeom>
          <a:solidFill>
            <a:srgbClr val="C8EBDD"/>
          </a:solidFill>
          <a:ln w="6350">
            <a:solidFill>
              <a:srgbClr val="52514E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3264408" y="4453128"/>
            <a:ext cx="146304" cy="146304"/>
          </a:xfrm>
          <a:prstGeom prst="ellipse">
            <a:avLst/>
          </a:prstGeom>
          <a:solidFill>
            <a:srgbClr val="C8EBDD"/>
          </a:solidFill>
          <a:ln w="6350">
            <a:solidFill>
              <a:srgbClr val="52514E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4453128" y="1984248"/>
            <a:ext cx="146304" cy="146304"/>
          </a:xfrm>
          <a:prstGeom prst="ellipse">
            <a:avLst/>
          </a:prstGeom>
          <a:solidFill>
            <a:srgbClr val="FAD3C2"/>
          </a:solidFill>
          <a:ln w="6350">
            <a:solidFill>
              <a:srgbClr val="52514E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4453128" y="2167128"/>
            <a:ext cx="146304" cy="146304"/>
          </a:xfrm>
          <a:prstGeom prst="ellipse">
            <a:avLst/>
          </a:prstGeom>
          <a:solidFill>
            <a:srgbClr val="FAD3C2"/>
          </a:solidFill>
          <a:ln w="6350">
            <a:solidFill>
              <a:srgbClr val="52514E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4453128" y="2350008"/>
            <a:ext cx="146304" cy="146304"/>
          </a:xfrm>
          <a:prstGeom prst="ellipse">
            <a:avLst/>
          </a:prstGeom>
          <a:solidFill>
            <a:srgbClr val="FAD3C2"/>
          </a:solidFill>
          <a:ln w="6350">
            <a:solidFill>
              <a:srgbClr val="52514E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4453128" y="2532888"/>
            <a:ext cx="146304" cy="146304"/>
          </a:xfrm>
          <a:prstGeom prst="ellipse">
            <a:avLst/>
          </a:prstGeom>
          <a:solidFill>
            <a:srgbClr val="FAD3C2"/>
          </a:solidFill>
          <a:ln w="6350">
            <a:solidFill>
              <a:srgbClr val="52514E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4453128" y="3081528"/>
            <a:ext cx="146304" cy="146304"/>
          </a:xfrm>
          <a:prstGeom prst="ellipse">
            <a:avLst/>
          </a:prstGeom>
          <a:solidFill>
            <a:srgbClr val="DDD8F4"/>
          </a:solidFill>
          <a:ln w="6350">
            <a:solidFill>
              <a:srgbClr val="52514E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4453128" y="3264408"/>
            <a:ext cx="146304" cy="146304"/>
          </a:xfrm>
          <a:prstGeom prst="ellipse">
            <a:avLst/>
          </a:prstGeom>
          <a:solidFill>
            <a:srgbClr val="DDD8F4"/>
          </a:solidFill>
          <a:ln w="6350">
            <a:solidFill>
              <a:srgbClr val="52514E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4453128" y="3447288"/>
            <a:ext cx="146304" cy="146304"/>
          </a:xfrm>
          <a:prstGeom prst="ellipse">
            <a:avLst/>
          </a:prstGeom>
          <a:solidFill>
            <a:srgbClr val="DDD8F4"/>
          </a:solidFill>
          <a:ln w="6350">
            <a:solidFill>
              <a:srgbClr val="52514E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4453128" y="3630168"/>
            <a:ext cx="146304" cy="146304"/>
          </a:xfrm>
          <a:prstGeom prst="ellipse">
            <a:avLst/>
          </a:prstGeom>
          <a:solidFill>
            <a:srgbClr val="DDD8F4"/>
          </a:solidFill>
          <a:ln w="6350">
            <a:solidFill>
              <a:srgbClr val="52514E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4453128" y="4178808"/>
            <a:ext cx="146304" cy="146304"/>
          </a:xfrm>
          <a:prstGeom prst="ellipse">
            <a:avLst/>
          </a:prstGeom>
          <a:solidFill>
            <a:srgbClr val="F7E3A1"/>
          </a:solidFill>
          <a:ln w="6350">
            <a:solidFill>
              <a:srgbClr val="52514E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4453128" y="4361688"/>
            <a:ext cx="146304" cy="146304"/>
          </a:xfrm>
          <a:prstGeom prst="ellipse">
            <a:avLst/>
          </a:prstGeom>
          <a:solidFill>
            <a:srgbClr val="F7E3A1"/>
          </a:solidFill>
          <a:ln w="6350">
            <a:solidFill>
              <a:srgbClr val="52514E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4453128" y="4544568"/>
            <a:ext cx="146304" cy="146304"/>
          </a:xfrm>
          <a:prstGeom prst="ellipse">
            <a:avLst/>
          </a:prstGeom>
          <a:solidFill>
            <a:srgbClr val="F7E3A1"/>
          </a:solidFill>
          <a:ln w="6350">
            <a:solidFill>
              <a:srgbClr val="52514E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4453128" y="4727448"/>
            <a:ext cx="146304" cy="146304"/>
          </a:xfrm>
          <a:prstGeom prst="ellipse">
            <a:avLst/>
          </a:prstGeom>
          <a:solidFill>
            <a:srgbClr val="F7E3A1"/>
          </a:solidFill>
          <a:ln w="6350">
            <a:solidFill>
              <a:srgbClr val="52514E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5596128" y="2167128"/>
            <a:ext cx="146304" cy="146304"/>
          </a:xfrm>
          <a:prstGeom prst="ellipse">
            <a:avLst/>
          </a:prstGeom>
          <a:solidFill>
            <a:srgbClr val="FAD3C2"/>
          </a:solidFill>
          <a:ln w="6350">
            <a:solidFill>
              <a:srgbClr val="52514E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5596128" y="2350008"/>
            <a:ext cx="146304" cy="146304"/>
          </a:xfrm>
          <a:prstGeom prst="ellipse">
            <a:avLst/>
          </a:prstGeom>
          <a:solidFill>
            <a:srgbClr val="FAD3C2"/>
          </a:solidFill>
          <a:ln w="6350">
            <a:solidFill>
              <a:srgbClr val="52514E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5596128" y="3264408"/>
            <a:ext cx="146304" cy="146304"/>
          </a:xfrm>
          <a:prstGeom prst="ellipse">
            <a:avLst/>
          </a:prstGeom>
          <a:solidFill>
            <a:srgbClr val="DDD8F4"/>
          </a:solidFill>
          <a:ln w="6350">
            <a:solidFill>
              <a:srgbClr val="52514E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5596128" y="3447288"/>
            <a:ext cx="146304" cy="146304"/>
          </a:xfrm>
          <a:prstGeom prst="ellipse">
            <a:avLst/>
          </a:prstGeom>
          <a:solidFill>
            <a:srgbClr val="DDD8F4"/>
          </a:solidFill>
          <a:ln w="6350">
            <a:solidFill>
              <a:srgbClr val="52514E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596128" y="4361688"/>
            <a:ext cx="146304" cy="146304"/>
          </a:xfrm>
          <a:prstGeom prst="ellipse">
            <a:avLst/>
          </a:prstGeom>
          <a:solidFill>
            <a:srgbClr val="F7E3A1"/>
          </a:solidFill>
          <a:ln w="6350">
            <a:solidFill>
              <a:srgbClr val="52514E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5596128" y="4544568"/>
            <a:ext cx="146304" cy="146304"/>
          </a:xfrm>
          <a:prstGeom prst="ellipse">
            <a:avLst/>
          </a:prstGeom>
          <a:solidFill>
            <a:srgbClr val="F7E3A1"/>
          </a:solidFill>
          <a:ln w="6350">
            <a:solidFill>
              <a:srgbClr val="52514E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6830568" y="2670048"/>
            <a:ext cx="146304" cy="146304"/>
          </a:xfrm>
          <a:prstGeom prst="ellipse">
            <a:avLst/>
          </a:prstGeom>
          <a:solidFill>
            <a:srgbClr val="FAD3C2"/>
          </a:solidFill>
          <a:ln w="6350">
            <a:solidFill>
              <a:srgbClr val="52514E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6830568" y="2944368"/>
            <a:ext cx="146304" cy="146304"/>
          </a:xfrm>
          <a:prstGeom prst="ellipse">
            <a:avLst/>
          </a:prstGeom>
          <a:solidFill>
            <a:srgbClr val="FAD3C2"/>
          </a:solidFill>
          <a:ln w="6350">
            <a:solidFill>
              <a:srgbClr val="52514E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6830568" y="3218688"/>
            <a:ext cx="146304" cy="146304"/>
          </a:xfrm>
          <a:prstGeom prst="ellipse">
            <a:avLst/>
          </a:prstGeom>
          <a:solidFill>
            <a:srgbClr val="DDD8F4"/>
          </a:solidFill>
          <a:ln w="6350">
            <a:solidFill>
              <a:srgbClr val="52514E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6830568" y="3493008"/>
            <a:ext cx="146304" cy="146304"/>
          </a:xfrm>
          <a:prstGeom prst="ellipse">
            <a:avLst/>
          </a:prstGeom>
          <a:solidFill>
            <a:srgbClr val="DDD8F4"/>
          </a:solidFill>
          <a:ln w="6350">
            <a:solidFill>
              <a:srgbClr val="52514E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6830568" y="3767328"/>
            <a:ext cx="146304" cy="146304"/>
          </a:xfrm>
          <a:prstGeom prst="ellipse">
            <a:avLst/>
          </a:prstGeom>
          <a:solidFill>
            <a:srgbClr val="F7E3A1"/>
          </a:solidFill>
          <a:ln w="6350">
            <a:solidFill>
              <a:srgbClr val="52514E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6830568" y="4041648"/>
            <a:ext cx="146304" cy="146304"/>
          </a:xfrm>
          <a:prstGeom prst="ellipse">
            <a:avLst/>
          </a:prstGeom>
          <a:solidFill>
            <a:srgbClr val="F7E3A1"/>
          </a:solidFill>
          <a:ln w="6350">
            <a:solidFill>
              <a:srgbClr val="52514E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8110728" y="2587752"/>
            <a:ext cx="146304" cy="146304"/>
          </a:xfrm>
          <a:prstGeom prst="ellipse">
            <a:avLst/>
          </a:prstGeom>
          <a:solidFill>
            <a:srgbClr val="FFFFFF"/>
          </a:solidFill>
          <a:ln w="6350">
            <a:solidFill>
              <a:srgbClr val="52514E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8110728" y="2971800"/>
            <a:ext cx="146304" cy="146304"/>
          </a:xfrm>
          <a:prstGeom prst="ellipse">
            <a:avLst/>
          </a:prstGeom>
          <a:solidFill>
            <a:srgbClr val="FFFFFF"/>
          </a:solidFill>
          <a:ln w="6350">
            <a:solidFill>
              <a:srgbClr val="52514E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8110728" y="3355848"/>
            <a:ext cx="146304" cy="146304"/>
          </a:xfrm>
          <a:prstGeom prst="ellipse">
            <a:avLst/>
          </a:prstGeom>
          <a:solidFill>
            <a:srgbClr val="FFFFFF"/>
          </a:solidFill>
          <a:ln w="6350">
            <a:solidFill>
              <a:srgbClr val="52514E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8110728" y="3739896"/>
            <a:ext cx="146304" cy="146304"/>
          </a:xfrm>
          <a:prstGeom prst="ellipse">
            <a:avLst/>
          </a:prstGeom>
          <a:solidFill>
            <a:srgbClr val="FFFFFF"/>
          </a:solidFill>
          <a:ln w="6350">
            <a:solidFill>
              <a:srgbClr val="52514E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8110728" y="4123944"/>
            <a:ext cx="146304" cy="146304"/>
          </a:xfrm>
          <a:prstGeom prst="ellipse">
            <a:avLst/>
          </a:prstGeom>
          <a:solidFill>
            <a:srgbClr val="FFFFFF"/>
          </a:solidFill>
          <a:ln w="6350">
            <a:solidFill>
              <a:srgbClr val="52514E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9345168" y="3035808"/>
            <a:ext cx="146304" cy="146304"/>
          </a:xfrm>
          <a:prstGeom prst="ellipse">
            <a:avLst/>
          </a:prstGeom>
          <a:solidFill>
            <a:srgbClr val="FAD3C2"/>
          </a:solidFill>
          <a:ln w="6350">
            <a:solidFill>
              <a:srgbClr val="EB6834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9345168" y="3675888"/>
            <a:ext cx="146304" cy="146304"/>
          </a:xfrm>
          <a:prstGeom prst="ellipse">
            <a:avLst/>
          </a:prstGeom>
          <a:solidFill>
            <a:srgbClr val="FAD3C2"/>
          </a:solidFill>
          <a:ln w="6350">
            <a:solidFill>
              <a:srgbClr val="EB6834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2075688" y="2441448"/>
            <a:ext cx="146304" cy="146304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252" name="Text 250"/>
          <p:cNvSpPr txBox="1"/>
          <p:nvPr/>
        </p:nvSpPr>
        <p:spPr>
          <a:xfrm>
            <a:off x="9555480" y="2971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000" dirty="0"/>
          </a:p>
        </p:txBody>
      </p:sp>
      <p:sp>
        <p:nvSpPr>
          <p:cNvPr id="253" name="Text 251"/>
          <p:cNvSpPr txBox="1"/>
          <p:nvPr/>
        </p:nvSpPr>
        <p:spPr>
          <a:xfrm>
            <a:off x="9555480" y="36118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pneumonia</a:t>
            </a:r>
            <a:endParaRPr lang="en-US" sz="1000" dirty="0"/>
          </a:p>
        </p:txBody>
      </p:sp>
      <p:sp>
        <p:nvSpPr>
          <p:cNvPr id="254" name="Shape 252"/>
          <p:cNvSpPr/>
          <p:nvPr/>
        </p:nvSpPr>
        <p:spPr>
          <a:xfrm>
            <a:off x="10241280" y="3268980"/>
            <a:ext cx="228600" cy="320040"/>
          </a:xfrm>
          <a:prstGeom prst="rightArrow">
            <a:avLst/>
          </a:prstGeom>
          <a:solidFill>
            <a:srgbClr val="52514E"/>
          </a:solidFill>
          <a:ln w="12700">
            <a:solidFill>
              <a:srgbClr val="52514E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10515600" y="2880360"/>
            <a:ext cx="1124712" cy="109728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256" name="Text 254"/>
          <p:cNvSpPr txBox="1"/>
          <p:nvPr/>
        </p:nvSpPr>
        <p:spPr>
          <a:xfrm>
            <a:off x="10552176" y="2880360"/>
            <a:ext cx="1051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13% normal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87% pneumonia</a:t>
            </a:r>
            <a:endParaRPr lang="en-US" sz="1600" dirty="0"/>
          </a:p>
        </p:txBody>
      </p:sp>
      <p:sp>
        <p:nvSpPr>
          <p:cNvPr id="257" name="Text 255"/>
          <p:cNvSpPr txBox="1"/>
          <p:nvPr/>
        </p:nvSpPr>
        <p:spPr>
          <a:xfrm>
            <a:off x="342900" y="5120640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entrada</a:t>
            </a:r>
            <a:endParaRPr lang="en-US" sz="1100" dirty="0"/>
          </a:p>
        </p:txBody>
      </p:sp>
      <p:sp>
        <p:nvSpPr>
          <p:cNvPr id="258" name="Text 256"/>
          <p:cNvSpPr txBox="1"/>
          <p:nvPr/>
        </p:nvSpPr>
        <p:spPr>
          <a:xfrm>
            <a:off x="342900" y="5504688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784 pixels</a:t>
            </a:r>
            <a:endParaRPr lang="en-US" sz="1100" dirty="0"/>
          </a:p>
        </p:txBody>
      </p:sp>
      <p:sp>
        <p:nvSpPr>
          <p:cNvPr id="259" name="Text 257"/>
          <p:cNvSpPr txBox="1"/>
          <p:nvPr/>
        </p:nvSpPr>
        <p:spPr>
          <a:xfrm>
            <a:off x="342900" y="5742432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900" dirty="0"/>
          </a:p>
        </p:txBody>
      </p:sp>
      <p:sp>
        <p:nvSpPr>
          <p:cNvPr id="260" name="Text 258"/>
          <p:cNvSpPr txBox="1"/>
          <p:nvPr/>
        </p:nvSpPr>
        <p:spPr>
          <a:xfrm>
            <a:off x="1577340" y="5120640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convolução 1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ReLU</a:t>
            </a:r>
            <a:endParaRPr lang="en-US" sz="1100" dirty="0"/>
          </a:p>
        </p:txBody>
      </p:sp>
      <p:sp>
        <p:nvSpPr>
          <p:cNvPr id="261" name="Text 259"/>
          <p:cNvSpPr txBox="1"/>
          <p:nvPr/>
        </p:nvSpPr>
        <p:spPr>
          <a:xfrm>
            <a:off x="1577340" y="5504688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× 28 × 28</a:t>
            </a:r>
            <a:endParaRPr lang="en-US" sz="1100" dirty="0"/>
          </a:p>
        </p:txBody>
      </p:sp>
      <p:sp>
        <p:nvSpPr>
          <p:cNvPr id="262" name="Text 260"/>
          <p:cNvSpPr txBox="1"/>
          <p:nvPr/>
        </p:nvSpPr>
        <p:spPr>
          <a:xfrm>
            <a:off x="1577340" y="5742432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B68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self$convolucao1</a:t>
            </a:r>
            <a:endParaRPr lang="en-US" sz="900" dirty="0"/>
          </a:p>
        </p:txBody>
      </p:sp>
      <p:sp>
        <p:nvSpPr>
          <p:cNvPr id="263" name="Text 261"/>
          <p:cNvSpPr txBox="1"/>
          <p:nvPr/>
        </p:nvSpPr>
        <p:spPr>
          <a:xfrm>
            <a:off x="2766060" y="5120640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pooling</a:t>
            </a:r>
            <a:endParaRPr lang="en-US" sz="1100" dirty="0"/>
          </a:p>
        </p:txBody>
      </p:sp>
      <p:sp>
        <p:nvSpPr>
          <p:cNvPr id="264" name="Text 262"/>
          <p:cNvSpPr txBox="1"/>
          <p:nvPr/>
        </p:nvSpPr>
        <p:spPr>
          <a:xfrm>
            <a:off x="2766060" y="5504688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× 14 × 14</a:t>
            </a:r>
            <a:endParaRPr lang="en-US" sz="1100" dirty="0"/>
          </a:p>
        </p:txBody>
      </p:sp>
      <p:sp>
        <p:nvSpPr>
          <p:cNvPr id="265" name="Text 263"/>
          <p:cNvSpPr txBox="1"/>
          <p:nvPr/>
        </p:nvSpPr>
        <p:spPr>
          <a:xfrm>
            <a:off x="2766060" y="5742432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B68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nnf_max_pool2d</a:t>
            </a:r>
            <a:endParaRPr lang="en-US" sz="900" dirty="0"/>
          </a:p>
        </p:txBody>
      </p:sp>
      <p:sp>
        <p:nvSpPr>
          <p:cNvPr id="266" name="Text 264"/>
          <p:cNvSpPr txBox="1"/>
          <p:nvPr/>
        </p:nvSpPr>
        <p:spPr>
          <a:xfrm>
            <a:off x="3954780" y="5120640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convolução 2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ReLU</a:t>
            </a:r>
            <a:endParaRPr lang="en-US" sz="1100" dirty="0"/>
          </a:p>
        </p:txBody>
      </p:sp>
      <p:sp>
        <p:nvSpPr>
          <p:cNvPr id="267" name="Text 265"/>
          <p:cNvSpPr txBox="1"/>
          <p:nvPr/>
        </p:nvSpPr>
        <p:spPr>
          <a:xfrm>
            <a:off x="3954780" y="5504688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× 14 × 14</a:t>
            </a:r>
            <a:endParaRPr lang="en-US" sz="1100" dirty="0"/>
          </a:p>
        </p:txBody>
      </p:sp>
      <p:sp>
        <p:nvSpPr>
          <p:cNvPr id="268" name="Text 266"/>
          <p:cNvSpPr txBox="1"/>
          <p:nvPr/>
        </p:nvSpPr>
        <p:spPr>
          <a:xfrm>
            <a:off x="3954780" y="5742432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B68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self$convolucao2</a:t>
            </a:r>
            <a:endParaRPr lang="en-US" sz="900" dirty="0"/>
          </a:p>
        </p:txBody>
      </p:sp>
      <p:sp>
        <p:nvSpPr>
          <p:cNvPr id="269" name="Text 267"/>
          <p:cNvSpPr txBox="1"/>
          <p:nvPr/>
        </p:nvSpPr>
        <p:spPr>
          <a:xfrm>
            <a:off x="5097780" y="5120640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pooling</a:t>
            </a:r>
            <a:endParaRPr lang="en-US" sz="1100" dirty="0"/>
          </a:p>
        </p:txBody>
      </p:sp>
      <p:sp>
        <p:nvSpPr>
          <p:cNvPr id="270" name="Text 268"/>
          <p:cNvSpPr txBox="1"/>
          <p:nvPr/>
        </p:nvSpPr>
        <p:spPr>
          <a:xfrm>
            <a:off x="5097780" y="5504688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× 7 × 7</a:t>
            </a:r>
            <a:endParaRPr lang="en-US" sz="1100" dirty="0"/>
          </a:p>
        </p:txBody>
      </p:sp>
      <p:sp>
        <p:nvSpPr>
          <p:cNvPr id="271" name="Text 269"/>
          <p:cNvSpPr txBox="1"/>
          <p:nvPr/>
        </p:nvSpPr>
        <p:spPr>
          <a:xfrm>
            <a:off x="5097780" y="5742432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B68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nnf_max_pool2d</a:t>
            </a:r>
            <a:endParaRPr lang="en-US" sz="900" dirty="0"/>
          </a:p>
        </p:txBody>
      </p:sp>
      <p:sp>
        <p:nvSpPr>
          <p:cNvPr id="272" name="Text 270"/>
          <p:cNvSpPr txBox="1"/>
          <p:nvPr/>
        </p:nvSpPr>
        <p:spPr>
          <a:xfrm>
            <a:off x="6332220" y="5120640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achatar</a:t>
            </a:r>
            <a:endParaRPr lang="en-US" sz="1100" dirty="0"/>
          </a:p>
        </p:txBody>
      </p:sp>
      <p:sp>
        <p:nvSpPr>
          <p:cNvPr id="273" name="Text 271"/>
          <p:cNvSpPr txBox="1"/>
          <p:nvPr/>
        </p:nvSpPr>
        <p:spPr>
          <a:xfrm>
            <a:off x="6332220" y="5504688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1.568</a:t>
            </a:r>
            <a:endParaRPr lang="en-US" sz="1100" dirty="0"/>
          </a:p>
        </p:txBody>
      </p:sp>
      <p:sp>
        <p:nvSpPr>
          <p:cNvPr id="274" name="Text 272"/>
          <p:cNvSpPr txBox="1"/>
          <p:nvPr/>
        </p:nvSpPr>
        <p:spPr>
          <a:xfrm>
            <a:off x="6332220" y="5742432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B68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torch_flatten</a:t>
            </a:r>
            <a:endParaRPr lang="en-US" sz="900" dirty="0"/>
          </a:p>
        </p:txBody>
      </p:sp>
      <p:sp>
        <p:nvSpPr>
          <p:cNvPr id="275" name="Text 273"/>
          <p:cNvSpPr txBox="1"/>
          <p:nvPr/>
        </p:nvSpPr>
        <p:spPr>
          <a:xfrm>
            <a:off x="7612380" y="5120640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camada densa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ReLU</a:t>
            </a:r>
            <a:endParaRPr lang="en-US" sz="1100" dirty="0"/>
          </a:p>
        </p:txBody>
      </p:sp>
      <p:sp>
        <p:nvSpPr>
          <p:cNvPr id="276" name="Text 274"/>
          <p:cNvSpPr txBox="1"/>
          <p:nvPr/>
        </p:nvSpPr>
        <p:spPr>
          <a:xfrm>
            <a:off x="7612380" y="5504688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</a:t>
            </a:r>
            <a:endParaRPr lang="en-US" sz="1100" dirty="0"/>
          </a:p>
        </p:txBody>
      </p:sp>
      <p:sp>
        <p:nvSpPr>
          <p:cNvPr id="277" name="Text 275"/>
          <p:cNvSpPr txBox="1"/>
          <p:nvPr/>
        </p:nvSpPr>
        <p:spPr>
          <a:xfrm>
            <a:off x="7612380" y="5742432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B68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self$densa</a:t>
            </a:r>
            <a:endParaRPr lang="en-US" sz="900" dirty="0"/>
          </a:p>
        </p:txBody>
      </p:sp>
      <p:sp>
        <p:nvSpPr>
          <p:cNvPr id="278" name="Text 276"/>
          <p:cNvSpPr txBox="1"/>
          <p:nvPr/>
        </p:nvSpPr>
        <p:spPr>
          <a:xfrm>
            <a:off x="8846820" y="5120640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saída</a:t>
            </a:r>
            <a:endParaRPr lang="en-US" sz="1100" dirty="0"/>
          </a:p>
        </p:txBody>
      </p:sp>
      <p:sp>
        <p:nvSpPr>
          <p:cNvPr id="279" name="Text 277"/>
          <p:cNvSpPr txBox="1"/>
          <p:nvPr/>
        </p:nvSpPr>
        <p:spPr>
          <a:xfrm>
            <a:off x="8846820" y="5504688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80" name="Text 278"/>
          <p:cNvSpPr txBox="1"/>
          <p:nvPr/>
        </p:nvSpPr>
        <p:spPr>
          <a:xfrm>
            <a:off x="8846820" y="5742432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B68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self$saida</a:t>
            </a:r>
            <a:endParaRPr lang="en-US" sz="900" dirty="0"/>
          </a:p>
        </p:txBody>
      </p:sp>
      <p:sp>
        <p:nvSpPr>
          <p:cNvPr id="281" name="Text 279"/>
          <p:cNvSpPr txBox="1"/>
          <p:nvPr/>
        </p:nvSpPr>
        <p:spPr>
          <a:xfrm>
            <a:off x="10492740" y="5120640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softmax</a:t>
            </a:r>
            <a:endParaRPr lang="en-US" sz="1100" dirty="0"/>
          </a:p>
        </p:txBody>
      </p:sp>
      <p:sp>
        <p:nvSpPr>
          <p:cNvPr id="282" name="Text 280"/>
          <p:cNvSpPr txBox="1"/>
          <p:nvPr/>
        </p:nvSpPr>
        <p:spPr>
          <a:xfrm>
            <a:off x="10492740" y="5504688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probabilidades</a:t>
            </a:r>
            <a:endParaRPr lang="en-US" sz="1100" dirty="0"/>
          </a:p>
        </p:txBody>
      </p:sp>
      <p:sp>
        <p:nvSpPr>
          <p:cNvPr id="283" name="Text 281"/>
          <p:cNvSpPr txBox="1"/>
          <p:nvPr/>
        </p:nvSpPr>
        <p:spPr>
          <a:xfrm>
            <a:off x="10492740" y="5742432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B68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nnf_softmax</a:t>
            </a:r>
            <a:endParaRPr lang="en-US" sz="900" dirty="0"/>
          </a:p>
        </p:txBody>
      </p:sp>
      <p:sp>
        <p:nvSpPr>
          <p:cNvPr id="284" name="Text 282"/>
          <p:cNvSpPr txBox="1"/>
          <p:nvPr/>
        </p:nvSpPr>
        <p:spPr>
          <a:xfrm>
            <a:off x="548640" y="605332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círculo é um neurônio e cada cor, um mapa.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Só alguns aparecem; os tamanhos reais e o nome no código estão embaixo.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Convolução: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neurônio se liga só aos vizinhos (em laranja, um exemplo). Camada densa e saída: liga-se a todos da coluna anterior.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medir o erro: entropia cruzada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perda = − log(probabilidade dada à classe certa)</a:t>
            </a:r>
            <a:endParaRPr lang="en-US" sz="2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48840"/>
          <a:ext cx="11094415" cy="914400"/>
        </p:xfrm>
        <a:graphic>
          <a:graphicData uri="http://schemas.openxmlformats.org/drawingml/2006/table">
            <a:tbl>
              <a:tblPr/>
              <a:tblGrid>
                <a:gridCol w="4480560"/>
                <a:gridCol w="1280160"/>
                <a:gridCol w="533095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Raio-X com pneumonia. A rede deu à pneumonia…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perda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leitura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90%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previsão certa e segura: erro pequeno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0,69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meio a meio: erro médio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10%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previsão errada com alta probabilidade: erro grande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4389120"/>
            <a:ext cx="1109441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que serve: 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aprender, a rede precisa de um único número que diga o quanto ela errou. É esse número que o treino tenta diminuir.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funciona: 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quanto menor a probabilidade dada à classe certa, maior a perda. Errar com alta probabilidade custa muito mais do que errar por pouco.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lote: 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perda é a média das perdas de cada imagem.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a rede aprende: descendo a curva do erro</a:t>
            </a:r>
            <a:endParaRPr lang="en-US" sz="3200" dirty="0"/>
          </a:p>
        </p:txBody>
      </p:sp>
      <p:pic>
        <p:nvPicPr>
          <p:cNvPr id="3" name="Image 0" descr="/home/user/topicos-avancados-ia/code/cnn-pneumonia-r/slides/img/descid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5120640" cy="372410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126480" y="1280160"/>
            <a:ext cx="5513832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Palpite: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rede calcula as probabilidades para um lote de imagens.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Erro: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entropia cruzada mede o quanto errou.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Backpropagation: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calcula, para cada peso, a inclinação da curva do erro: aumentar esse peso faz o erro subir ou descer? O cálculo começa na saída e volta até os filtros — daí o nome.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Adam: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dá o passo: muda cada peso um pouco no sentido que diminui o erro. É uma versão da descida do gradiente que ajusta sozinha o tamanho do passo de cada peso.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548640" y="5212080"/>
            <a:ext cx="11094415" cy="1234440"/>
          </a:xfrm>
          <a:prstGeom prst="roundRect">
            <a:avLst>
              <a:gd name="adj" fmla="val 888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5349240"/>
            <a:ext cx="105457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Lote: </a:t>
            </a:r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 imagens por vez.   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Época: </a:t>
            </a:r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passada por todas as 4.708 imagens de treino = 37 lotes. Com 10 épocas, os pesos são ajustados 370 vezes, sempre repetindo 1 → 2 → 3 → 4.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Treino, validação e teste — e o risco de decorar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474720" cy="2103120"/>
          </a:xfrm>
          <a:prstGeom prst="roundRect">
            <a:avLst>
              <a:gd name="adj" fmla="val 521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54480"/>
            <a:ext cx="2926080" cy="946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4.708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500884"/>
            <a:ext cx="2926080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treino: imagens usadas para ajustar os pesos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357116" y="1371600"/>
            <a:ext cx="3474720" cy="2103120"/>
          </a:xfrm>
          <a:prstGeom prst="roundRect">
            <a:avLst>
              <a:gd name="adj" fmla="val 521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631436" y="1554480"/>
            <a:ext cx="2926080" cy="946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524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4631436" y="2500884"/>
            <a:ext cx="2926080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validação: conferir o progresso a cada época, sem ajustar nada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165592" y="1371600"/>
            <a:ext cx="3474720" cy="2103120"/>
          </a:xfrm>
          <a:prstGeom prst="roundRect">
            <a:avLst>
              <a:gd name="adj" fmla="val 521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439912" y="1554480"/>
            <a:ext cx="2926080" cy="946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624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8439912" y="2500884"/>
            <a:ext cx="2926080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teste: a avaliação final, com imagens que a rede nunca viu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840480"/>
            <a:ext cx="11094415" cy="2468880"/>
          </a:xfrm>
          <a:prstGeom prst="roundRect">
            <a:avLst>
              <a:gd name="adj" fmla="val 444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069080"/>
            <a:ext cx="1054577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Overfitting: </a:t>
            </a:r>
            <a:pPr indent="0" marL="0">
              <a:spcAft>
                <a:spcPts val="1200"/>
              </a:spcAft>
              <a:buNone/>
            </a:pPr>
            <a:r>
              <a:rPr lang="en-US" sz="17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rede decora as imagens de treino em vez de aprender o padrão — vai bem nelas e mal nas novas. Por isso a nota que vale é a do teste.</a:t>
            </a:r>
            <a:endParaRPr lang="en-US" sz="17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Dropout: </a:t>
            </a:r>
            <a:pPr indent="0" marL="0">
              <a:spcAft>
                <a:spcPts val="1200"/>
              </a:spcAft>
              <a:buNone/>
            </a:pPr>
            <a:r>
              <a:rPr lang="en-US" sz="17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durante o treino, a cada lote, 30% dos neurônios da camada densa são desligados ao acaso. A rede não pode depender de poucos neurônios e generaliza melhor. Na hora de avaliar, todos voltam a funcionar.</a:t>
            </a:r>
            <a:endParaRPr lang="en-US" sz="17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dados: PneumoniaMNIST</a:t>
            </a:r>
            <a:endParaRPr lang="en-US" sz="3200" dirty="0"/>
          </a:p>
        </p:txBody>
      </p:sp>
      <p:pic>
        <p:nvPicPr>
          <p:cNvPr id="3" name="Image 0" descr="/home/user/topicos-avancados-ia/code/cnn-pneumonia-r/slides/img/amostr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34440"/>
            <a:ext cx="7315200" cy="312115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43891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raios-X do treino, com o diagnóstico. Figura gerada pelo script em R.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138160" y="1234440"/>
            <a:ext cx="3502152" cy="1600200"/>
          </a:xfrm>
          <a:prstGeom prst="roundRect">
            <a:avLst>
              <a:gd name="adj" fmla="val 685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412480" y="1417320"/>
            <a:ext cx="2953512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5.856</a:t>
            </a:r>
            <a:endParaRPr lang="en-US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8412480" y="2137410"/>
            <a:ext cx="2953512" cy="560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raios-X de tórax de crianças de 1 a 5 anos, cada um com o diagnóstico dado por médicos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8138160" y="3017520"/>
            <a:ext cx="3502152" cy="1600200"/>
          </a:xfrm>
          <a:prstGeom prst="roundRect">
            <a:avLst>
              <a:gd name="adj" fmla="val 685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412480" y="3200400"/>
            <a:ext cx="2953512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74%</a:t>
            </a:r>
            <a:endParaRPr lang="en-US" sz="3200" dirty="0"/>
          </a:p>
        </p:txBody>
      </p:sp>
      <p:sp>
        <p:nvSpPr>
          <p:cNvPr id="10" name="Text 7"/>
          <p:cNvSpPr txBox="1"/>
          <p:nvPr/>
        </p:nvSpPr>
        <p:spPr>
          <a:xfrm>
            <a:off x="8412480" y="3920490"/>
            <a:ext cx="2953512" cy="560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treino é pneumonia (3.494 de 4.708 imagens)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4800600"/>
            <a:ext cx="1109441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PneumoniaMNIST </a:t>
            </a:r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uma base pública de raios-X de tórax de um hospital infantil em Guangzhou, na China (Kermany et al., Cell, 2018), com duas classes: normal e pneumonia.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Faz parte do MedMNIST v2 </a:t>
            </a:r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(Yang et al., Scientific Data, 2023), uma coleção de bases de imagens médicas preparadas para ensino e pesquisa: todas as imagens reduzidas para 28 × 28 pixels, já divididas em treino, validação e teste, num único arquivo .npz.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nome </a:t>
            </a:r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vem do MNIST, uma base famosa de dígitos escritos à mão, também com imagens de 28 × 28.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Sua vez: normal ou pneumonia?</a:t>
            </a:r>
            <a:endParaRPr lang="en-US" sz="3200" dirty="0"/>
          </a:p>
        </p:txBody>
      </p:sp>
      <p:pic>
        <p:nvPicPr>
          <p:cNvPr id="3" name="Image 0" descr="/home/user/topicos-avancados-ia/code/cnn-pneumonia-r/slides/img/adivinhe_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0" y="1371600"/>
            <a:ext cx="3840480" cy="38404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828800" y="530352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3200" dirty="0"/>
          </a:p>
        </p:txBody>
      </p:sp>
      <p:pic>
        <p:nvPicPr>
          <p:cNvPr id="5" name="Image 1" descr="/home/user/topicos-avancados-ia/code/cnn-pneumonia-r/slides/img/adivinhe_1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371600"/>
            <a:ext cx="3840480" cy="384048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400800" y="530352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3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ferramenta: o pacote torch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585216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400"/>
              </a:spcAft>
              <a:buNone/>
            </a:pPr>
            <a:r>
              <a:rPr lang="en-US" sz="1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torch </a:t>
            </a:r>
            <a:pPr indent="0" marL="0">
              <a:spcAft>
                <a:spcPts val="1400"/>
              </a:spcAft>
              <a:buNone/>
            </a:pPr>
            <a:r>
              <a:rPr lang="en-US" sz="18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um pacote do R para criar e treinar redes neurais.</a:t>
            </a:r>
            <a:endParaRPr lang="en-US" sz="18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Tensor: </a:t>
            </a:r>
            <a:pPr indent="0" marL="0">
              <a:spcAft>
                <a:spcPts val="1400"/>
              </a:spcAft>
              <a:buNone/>
            </a:pPr>
            <a:r>
              <a:rPr lang="en-US" sz="18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tipo de dado do torch. É um array com várias dimensões, como os arrays do R. Um lote de treino é um tensor 128 × 1 × 28 × 28: 128 imagens, 1 canal (tons de cinza), 28 linhas e 28 colunas.</a:t>
            </a:r>
            <a:endParaRPr lang="en-US" sz="18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Camadas prontas: </a:t>
            </a:r>
            <a:pPr indent="0" marL="0">
              <a:spcAft>
                <a:spcPts val="1400"/>
              </a:spcAft>
              <a:buNone/>
            </a:pPr>
            <a:r>
              <a:rPr lang="en-US" sz="18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convolução, pooling, camada densa… basta informar os tamanhos.</a:t>
            </a:r>
            <a:endParaRPr lang="en-US" sz="18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Faz as contas do treino: </a:t>
            </a:r>
            <a:pPr indent="0" marL="0">
              <a:spcAft>
                <a:spcPts val="1400"/>
              </a:spcAft>
              <a:buNone/>
            </a:pPr>
            <a:r>
              <a:rPr lang="en-US" sz="18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 a backpropagation sozinho e já traz otimizadores como o Adam.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766560" y="1371600"/>
            <a:ext cx="4873752" cy="3291840"/>
          </a:xfrm>
          <a:prstGeom prst="roundRect">
            <a:avLst>
              <a:gd name="adj" fmla="val 3333"/>
            </a:avLst>
          </a:prstGeom>
          <a:solidFill>
            <a:srgbClr val="1A2A40"/>
          </a:solidFill>
          <a:ln w="12700">
            <a:solidFill>
              <a:srgbClr val="1A2A4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040880" y="1600200"/>
            <a:ext cx="4325112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3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instalar (só uma vez)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install.packages("torch")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library(torch)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install_torch()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9D3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teste: tensor 2 x 3 sorteado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torch_randn(2, 3)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ideia da aula vira uma função do torch</a:t>
            </a:r>
            <a:endParaRPr lang="en-US" sz="32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474720"/>
                <a:gridCol w="487375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Ideia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Função no torch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faz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Convolução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EB683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nn_conv2d()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passa filtros 3 × 3 pela imagem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ReLU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EB683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nnf_relu()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zera os valores negativos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Pooling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EB683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nnf_max_pool2d()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reduz cada mapa pela metade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Achatar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EB683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torch_flatten()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põe os mapas em fila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Camada densa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EB683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nn_linear()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somas ponderadas de todas as entradas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Dropout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EB683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nn_dropout()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desliga neurônios ao acaso no treino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Entropia cruzada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EB683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nnf_cross_entropy()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mede o erro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Adam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EB683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optim_adam()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ajusta os pesos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Lotes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EB683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dataloader()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 as imagens de 128 em 128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6692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Padrão dos nomes: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nn_ cria uma peça que fica guardada dentro da rede; nnf_ é uma função aplicada direto aos dados.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R: preparar os dados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Depois da leitura do arquivo, as imagens são um array do R de 4.708 × 28 × 28, com números de 0 a 255. A função preparar() as transforma em tensores: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5852160" cy="3176626"/>
          </a:xfrm>
          <a:prstGeom prst="roundRect">
            <a:avLst>
              <a:gd name="adj" fmla="val 3454"/>
            </a:avLst>
          </a:prstGeom>
          <a:solidFill>
            <a:srgbClr val="1A2A40"/>
          </a:solidFill>
          <a:ln w="12700">
            <a:solidFill>
              <a:srgbClr val="1A2A4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103120"/>
            <a:ext cx="5486400" cy="5468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&lt;- torch_tensor(imagens / 255, dtype = torch_float())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675120" y="2103120"/>
            <a:ext cx="4967935" cy="5468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divide por 255 (pixels de 0 a 1) e guarda num tensor de números decimais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675120" y="2649931"/>
            <a:ext cx="4967935" cy="0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2649931"/>
            <a:ext cx="5486400" cy="5468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&lt;- (x - 0.5) / 0.5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675120" y="2649931"/>
            <a:ext cx="4967935" cy="5468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muda a escala para −1 a 1, centrada no zero (ajuda o treino)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675120" y="3196742"/>
            <a:ext cx="4967935" cy="0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3196742"/>
            <a:ext cx="5486400" cy="5468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&lt;- x$unsqueeze(2)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675120" y="3196742"/>
            <a:ext cx="4967935" cy="5468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 a dimensão do canal: 4.708 × 1 × 28 × 28 (1 canal = tons de cinza)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675120" y="3743554"/>
            <a:ext cx="4967935" cy="0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3743554"/>
            <a:ext cx="548640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 &lt;- torch_tensor(as.integer(rotulos) + 1L,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dtype = torch_long())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675120" y="3743554"/>
            <a:ext cx="4967935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diagnósticos 0 e 1 viram 1 e 2: no torch as classes são numeradas a partir de 1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675120" y="4374490"/>
            <a:ext cx="4967935" cy="0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4374490"/>
            <a:ext cx="548640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lotes &lt;- dataloader(tensor_dataset(treino$x, treino$y),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batch_size = 128, shuffle = TRUE)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675120" y="4374490"/>
            <a:ext cx="4967935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junta imagens e diagnósticos e entrega em lotes de 128, embaralhados a cada época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R: as peças da rede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nn_module cria o molde da rede. Em initialize ficam as peças, cada uma guardada com um nome em self$: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94960" cy="4059936"/>
          </a:xfrm>
          <a:prstGeom prst="roundRect">
            <a:avLst>
              <a:gd name="adj" fmla="val 2703"/>
            </a:avLst>
          </a:prstGeom>
          <a:solidFill>
            <a:srgbClr val="1A2A40"/>
          </a:solidFill>
          <a:ln w="12700">
            <a:solidFill>
              <a:srgbClr val="1A2A4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920240"/>
            <a:ext cx="5029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CNN &lt;- nn_module("CNNSimples",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217920" y="1920240"/>
            <a:ext cx="54251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 o molde da rede, chamado CNNSimples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217920" y="2340864"/>
            <a:ext cx="5425135" cy="0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2340864"/>
            <a:ext cx="5029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initialize = function() {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217920" y="2340864"/>
            <a:ext cx="54251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lista de peças: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217920" y="2761488"/>
            <a:ext cx="5425135" cy="0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2761488"/>
            <a:ext cx="5029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self$convolucao1 &lt;- nn_conv2d(1, 16,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kernel_size = 3, padding = 1)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217920" y="2761488"/>
            <a:ext cx="542513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convolução: entra 1 imagem, saem 16 mapas (16 filtros 3 × 3). padding = 1 põe uma borda de zeros para o mapa continuar 28 × 28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217920" y="3602736"/>
            <a:ext cx="5425135" cy="0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3602736"/>
            <a:ext cx="5029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self$convolucao2 &lt;- nn_conv2d(16, 32,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kernel_size = 3, padding = 1)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0" y="3602736"/>
            <a:ext cx="542513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convolução: entram os 16 mapas, saem 32 (32 filtros)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217920" y="4443984"/>
            <a:ext cx="5425135" cy="0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4443984"/>
            <a:ext cx="5029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self$densa &lt;- nn_linear(32 * 7 * 7, 64)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217920" y="4443984"/>
            <a:ext cx="54251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camada densa: entram 1.568 números, saem 64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217920" y="4864608"/>
            <a:ext cx="5425135" cy="0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77240" y="4864608"/>
            <a:ext cx="5029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self$saida &lt;- nn_linear(64, 2)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4864608"/>
            <a:ext cx="54251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camada de saída: entram 64, saem 2 pontuações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217920" y="5285232"/>
            <a:ext cx="5425135" cy="0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77240" y="5285232"/>
            <a:ext cx="5029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self$dropout &lt;- nn_dropout(0.3)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217920" y="5285232"/>
            <a:ext cx="54251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dropout: desliga 30% ao acaso no treino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60807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Ao todo, 105.346 pesos a aprender — 95% deles na camada densa.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R: o caminho da imagem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forward fica a ordem das peças. x começa como o lote de imagens e é substituído a cada passo: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4754880" cy="4786884"/>
          </a:xfrm>
          <a:prstGeom prst="roundRect">
            <a:avLst>
              <a:gd name="adj" fmla="val 2308"/>
            </a:avLst>
          </a:prstGeom>
          <a:solidFill>
            <a:srgbClr val="1A2A40"/>
          </a:solidFill>
          <a:ln w="12700">
            <a:solidFill>
              <a:srgbClr val="1A2A4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874520"/>
            <a:ext cx="4389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&lt;- self$convolucao1(x)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577840" y="1874520"/>
            <a:ext cx="606521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convolução 1: 16 mapas 28 × 28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577840" y="2304288"/>
            <a:ext cx="6065215" cy="0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2304288"/>
            <a:ext cx="4389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&lt;- nnf_relu(x)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577840" y="2304288"/>
            <a:ext cx="606521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ReLU: negativos viram zero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577840" y="2734056"/>
            <a:ext cx="6065215" cy="0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2734056"/>
            <a:ext cx="4389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&lt;- nnf_max_pool2d(x, 2)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577840" y="2734056"/>
            <a:ext cx="606521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pooling 2 × 2: 16 mapas 14 × 14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577840" y="3163824"/>
            <a:ext cx="6065215" cy="0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3163824"/>
            <a:ext cx="4389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&lt;- self$convolucao2(x)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577840" y="3163824"/>
            <a:ext cx="606521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convolução 2: 32 mapas 14 × 14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577840" y="3593592"/>
            <a:ext cx="6065215" cy="0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3593592"/>
            <a:ext cx="4389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&lt;- nnf_relu(x)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577840" y="3593592"/>
            <a:ext cx="606521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ReLU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577840" y="4023360"/>
            <a:ext cx="6065215" cy="0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77240" y="4023360"/>
            <a:ext cx="4389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&lt;- nnf_max_pool2d(x, 2)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577840" y="4023360"/>
            <a:ext cx="606521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pooling 2 × 2: 32 mapas 7 × 7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577840" y="4453128"/>
            <a:ext cx="6065215" cy="0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77240" y="4453128"/>
            <a:ext cx="4389120" cy="6446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&lt;- torch_flatten(x, start_dim = 2)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577840" y="4453128"/>
            <a:ext cx="6065215" cy="6446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achatar: 1.568 números por imagem (start_dim = 2 porque a dimensão 1 é o lote: cada imagem continua separada)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5577840" y="5097780"/>
            <a:ext cx="6065215" cy="0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77240" y="5097780"/>
            <a:ext cx="4389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&lt;- nnf_relu(self$densa(x))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5577840" y="5097780"/>
            <a:ext cx="606521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camada densa + ReLU: 64 números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5577840" y="5527548"/>
            <a:ext cx="6065215" cy="0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77240" y="5527548"/>
            <a:ext cx="4389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&lt;- self$dropout(x)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5577840" y="5527548"/>
            <a:ext cx="606521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dropout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5577840" y="5957316"/>
            <a:ext cx="6065215" cy="0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77240" y="5957316"/>
            <a:ext cx="4389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self$saida(x)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577840" y="5957316"/>
            <a:ext cx="606521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saída: 2 pontuações, o resultado final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R: o treino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6035040" cy="4709160"/>
          </a:xfrm>
          <a:prstGeom prst="roundRect">
            <a:avLst>
              <a:gd name="adj" fmla="val 2330"/>
            </a:avLst>
          </a:prstGeom>
          <a:solidFill>
            <a:srgbClr val="1A2A40"/>
          </a:solidFill>
          <a:ln w="12700">
            <a:solidFill>
              <a:srgbClr val="1A2A4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417320"/>
            <a:ext cx="5669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otimizador &lt;- optim_adam(modelo$parameters, lr = 0.001)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858000" y="1417320"/>
            <a:ext cx="478505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 o Adam, que vai ajustar os pesos da rede; lr é o tamanho do passo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0" y="2011680"/>
            <a:ext cx="4785055" cy="0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201168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(epoca in 1:10) {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858000" y="2011680"/>
            <a:ext cx="4785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repete por 10 épocas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858000" y="2468880"/>
            <a:ext cx="4785055" cy="0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46888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coro::loop(for (lote in lotes) {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858000" y="2468880"/>
            <a:ext cx="4785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cada lote de 128 imagens (coro::loop percorre o dataloader)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858000" y="2926080"/>
            <a:ext cx="4785055" cy="0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292608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otimizador$zero_grad()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0" y="2926080"/>
            <a:ext cx="4785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zera as inclinações do lote anterior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858000" y="3383280"/>
            <a:ext cx="4785055" cy="0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338328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previsao &lt;- modelo(lote[[1]])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0" y="3383280"/>
            <a:ext cx="4785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palpite: passa as imagens pela rede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858000" y="3840480"/>
            <a:ext cx="4785055" cy="0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7240" y="384048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perda &lt;- nnf_cross_entropy(previsao, lote[[2]])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858000" y="3840480"/>
            <a:ext cx="4785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erro: compara com os diagnósticos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858000" y="4297680"/>
            <a:ext cx="4785055" cy="0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429768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perda$backward()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858000" y="4297680"/>
            <a:ext cx="4785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backpropagation: a inclinação de cada peso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6858000" y="4754880"/>
            <a:ext cx="4785055" cy="0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" y="475488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otimizador$step()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6858000" y="4754880"/>
            <a:ext cx="4785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Adam: cada peso dá um passo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6858000" y="5212080"/>
            <a:ext cx="4785055" cy="0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77240" y="521208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73152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Hora da prática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83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9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script cnn_pneumonia.R no RStudio, uma seção de cada vez (selecione e aperte Ctrl+Enter)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48640" y="2743200"/>
            <a:ext cx="2606040" cy="1508760"/>
          </a:xfrm>
          <a:prstGeom prst="roundRect">
            <a:avLst>
              <a:gd name="adj" fmla="val 7273"/>
            </a:avLst>
          </a:prstGeom>
          <a:solidFill>
            <a:srgbClr val="1A2A40"/>
          </a:solidFill>
          <a:ln w="12700">
            <a:solidFill>
              <a:srgbClr val="1A2A4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9260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pacotes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342900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carrega o torch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383280" y="2743200"/>
            <a:ext cx="2606040" cy="1508760"/>
          </a:xfrm>
          <a:prstGeom prst="roundRect">
            <a:avLst>
              <a:gd name="adj" fmla="val 7273"/>
            </a:avLst>
          </a:prstGeom>
          <a:solidFill>
            <a:srgbClr val="1A2A40"/>
          </a:solidFill>
          <a:ln w="12700">
            <a:solidFill>
              <a:srgbClr val="1A2A4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611880" y="29260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funções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3611880" y="342900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ler o arquivo, desenhar, AUC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7920" y="2743200"/>
            <a:ext cx="2606040" cy="1508760"/>
          </a:xfrm>
          <a:prstGeom prst="roundRect">
            <a:avLst>
              <a:gd name="adj" fmla="val 7273"/>
            </a:avLst>
          </a:prstGeom>
          <a:solidFill>
            <a:srgbClr val="1A2A40"/>
          </a:solidFill>
          <a:ln w="12700">
            <a:solidFill>
              <a:srgbClr val="1A2A4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46520" y="29260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dados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6446520" y="342900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ler e ver 10 raios-X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9052560" y="2743200"/>
            <a:ext cx="2606040" cy="1508760"/>
          </a:xfrm>
          <a:prstGeom prst="roundRect">
            <a:avLst>
              <a:gd name="adj" fmla="val 7273"/>
            </a:avLst>
          </a:prstGeom>
          <a:solidFill>
            <a:srgbClr val="1A2A40"/>
          </a:solidFill>
          <a:ln w="12700">
            <a:solidFill>
              <a:srgbClr val="1A2A4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81160" y="29260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tensores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9281160" y="342900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preparar() e os lotes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4526280"/>
            <a:ext cx="2606040" cy="1508760"/>
          </a:xfrm>
          <a:prstGeom prst="roundRect">
            <a:avLst>
              <a:gd name="adj" fmla="val 7273"/>
            </a:avLst>
          </a:prstGeom>
          <a:solidFill>
            <a:srgbClr val="1A2A40"/>
          </a:solidFill>
          <a:ln w="12700">
            <a:solidFill>
              <a:srgbClr val="1A2A4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47091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a CNN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521208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montar a rede e contar os pesos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383280" y="4526280"/>
            <a:ext cx="2606040" cy="1508760"/>
          </a:xfrm>
          <a:prstGeom prst="roundRect">
            <a:avLst>
              <a:gd name="adj" fmla="val 7273"/>
            </a:avLst>
          </a:prstGeom>
          <a:solidFill>
            <a:srgbClr val="1A2A40"/>
          </a:solidFill>
          <a:ln w="12700">
            <a:solidFill>
              <a:srgbClr val="1A2A4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611880" y="47091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treino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3611880" y="521208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épocas, perda e AUC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217920" y="4526280"/>
            <a:ext cx="2606040" cy="1508760"/>
          </a:xfrm>
          <a:prstGeom prst="roundRect">
            <a:avLst>
              <a:gd name="adj" fmla="val 7273"/>
            </a:avLst>
          </a:prstGeom>
          <a:solidFill>
            <a:srgbClr val="1A2A40"/>
          </a:solidFill>
          <a:ln w="12700">
            <a:solidFill>
              <a:srgbClr val="1A2A4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446520" y="47091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· teste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6446520" y="521208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acurácia e matriz de confusão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9052560" y="4526280"/>
            <a:ext cx="2606040" cy="1508760"/>
          </a:xfrm>
          <a:prstGeom prst="roundRect">
            <a:avLst>
              <a:gd name="adj" fmla="val 7273"/>
            </a:avLst>
          </a:prstGeom>
          <a:solidFill>
            <a:srgbClr val="1A2A40"/>
          </a:solidFill>
          <a:ln w="12700">
            <a:solidFill>
              <a:srgbClr val="1A2A4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281160" y="47091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· em ação</a:t>
            </a:r>
            <a:endParaRPr lang="en-US" sz="2000" dirty="0"/>
          </a:p>
        </p:txBody>
      </p:sp>
      <p:sp>
        <p:nvSpPr>
          <p:cNvPr id="27" name="Text 25"/>
          <p:cNvSpPr txBox="1"/>
          <p:nvPr/>
        </p:nvSpPr>
        <p:spPr>
          <a:xfrm>
            <a:off x="9281160" y="521208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raios-X com a resposta da rede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 no teste: 624 raios-X novos</a:t>
            </a:r>
            <a:endParaRPr lang="en-US" sz="32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67512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194560"/>
                <a:gridCol w="2194560"/>
              </a:tblGrid>
              <a:tr h="914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previsto: normal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previsto: pneumonia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real: normal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BD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D3C2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real: pneumonia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D3C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384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BDD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4343400"/>
            <a:ext cx="66751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Matriz de confusão: </a:t>
            </a:r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linha é o diagnóstico real; cada coluna, o que a rede previu. Verde: acertos. Laranja: erros.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 alarmes falsos: </a:t>
            </a:r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crianças saudáveis classificadas como pneumonia.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pneumonias perdidas: </a:t>
            </a:r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crianças doentes classificadas como normais.</a:t>
            </a:r>
            <a:endParaRPr lang="en-US" sz="1600" dirty="0"/>
          </a:p>
        </p:txBody>
      </p:sp>
      <p:sp>
        <p:nvSpPr>
          <p:cNvPr id="5" name="Shape 2"/>
          <p:cNvSpPr/>
          <p:nvPr/>
        </p:nvSpPr>
        <p:spPr>
          <a:xfrm>
            <a:off x="7680960" y="1371600"/>
            <a:ext cx="3959352" cy="1554480"/>
          </a:xfrm>
          <a:prstGeom prst="roundRect">
            <a:avLst>
              <a:gd name="adj" fmla="val 705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955280" y="1554480"/>
            <a:ext cx="3410712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86,9%</a:t>
            </a:r>
            <a:endParaRPr lang="en-US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7955280" y="2253996"/>
            <a:ext cx="3410712" cy="5349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acurácia: 542 acertos em 624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7680960" y="3063240"/>
            <a:ext cx="3959352" cy="1554480"/>
          </a:xfrm>
          <a:prstGeom prst="roundRect">
            <a:avLst>
              <a:gd name="adj" fmla="val 705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955280" y="3246120"/>
            <a:ext cx="3410712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98,5%</a:t>
            </a:r>
            <a:endParaRPr lang="en-US" sz="3200" dirty="0"/>
          </a:p>
        </p:txBody>
      </p:sp>
      <p:sp>
        <p:nvSpPr>
          <p:cNvPr id="10" name="Text 7"/>
          <p:cNvSpPr txBox="1"/>
          <p:nvPr/>
        </p:nvSpPr>
        <p:spPr>
          <a:xfrm>
            <a:off x="7955280" y="3945636"/>
            <a:ext cx="3410712" cy="5349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sensibilidade: das 390 pneumonias, 384 detectadas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7680960" y="4754880"/>
            <a:ext cx="3959352" cy="1554480"/>
          </a:xfrm>
          <a:prstGeom prst="roundRect">
            <a:avLst>
              <a:gd name="adj" fmla="val 705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955280" y="4937760"/>
            <a:ext cx="3410712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67,5%</a:t>
            </a:r>
            <a:endParaRPr lang="en-US" sz="3200" dirty="0"/>
          </a:p>
        </p:txBody>
      </p:sp>
      <p:sp>
        <p:nvSpPr>
          <p:cNvPr id="13" name="Text 10"/>
          <p:cNvSpPr txBox="1"/>
          <p:nvPr/>
        </p:nvSpPr>
        <p:spPr>
          <a:xfrm>
            <a:off x="7955280" y="5637276"/>
            <a:ext cx="3410712" cy="5349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especificidade: dos 234 normais, 158 reconhecidos</a:t>
            </a:r>
            <a:endParaRPr lang="en-US" sz="1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o resultado ensina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394960" cy="4937760"/>
          </a:xfrm>
          <a:prstGeom prst="roundRect">
            <a:avLst>
              <a:gd name="adj" fmla="val 222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0020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A rede herda o desequilíbrio dos dados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56032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74% dos raios-X de treino são de pneumonia. O treino diminui o erro médio, e como há quase 3 pneumonias para cada normal, os erros em pneumonias pesam mais nessa média. Os pesos ficam ajustados para favorecer pneumonia: em imagens de padrão pouco claro, a probabilidade calculada tende a passar de 50% para pneumonia. Daí 76 alarmes falsos contra 6 pneumonias perdidas.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245352" y="1371600"/>
            <a:ext cx="5394960" cy="4937760"/>
          </a:xfrm>
          <a:prstGeom prst="roundRect">
            <a:avLst>
              <a:gd name="adj" fmla="val 222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19672" y="160020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O corte de 50% é uma escolha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6519672" y="256032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rede entrega uma probabilidade. Quem decide a partir de quanto chamar de pneumonia é quem usa o modelo. Subir o corte reduz os alarmes falsos, mas deixa passar mais pneumonias. Em saúde, deixar passar uma doença costuma ser o erro mais grave. O exercício 1 explora essa troca.</a:t>
            </a:r>
            <a:endParaRPr lang="en-US" sz="17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Exercícios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234440"/>
            <a:ext cx="5394960" cy="2560320"/>
          </a:xfrm>
          <a:prstGeom prst="roundRect">
            <a:avLst>
              <a:gd name="adj" fmla="val 4286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3716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Mude o corte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783080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seção 7, troque 0.5 por 0.9 e rode a seção de novo (não precisa treinar):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822960" y="2423160"/>
            <a:ext cx="4846320" cy="685800"/>
          </a:xfrm>
          <a:prstGeom prst="roundRect">
            <a:avLst>
              <a:gd name="adj" fmla="val 16000"/>
            </a:avLst>
          </a:prstGeom>
          <a:solidFill>
            <a:srgbClr val="1A2A40"/>
          </a:solidFill>
          <a:ln w="12700">
            <a:solidFill>
              <a:srgbClr val="1A2A4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242316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previsto &lt;- as.integer(p_teste &gt; 0.9)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15468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acontece com os alarmes falsos? E com as pneumonias perdidas?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45352" y="1234440"/>
            <a:ext cx="5394960" cy="2560320"/>
          </a:xfrm>
          <a:prstGeom prst="roundRect">
            <a:avLst>
              <a:gd name="adj" fmla="val 4286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19672" y="13716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Pese as classes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19672" y="1783080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seção 6, troque a linha da perda por esta e rode de novo as seções 5, 6 e 7: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519672" y="2423160"/>
            <a:ext cx="4846320" cy="685800"/>
          </a:xfrm>
          <a:prstGeom prst="roundRect">
            <a:avLst>
              <a:gd name="adj" fmla="val 16000"/>
            </a:avLst>
          </a:prstGeom>
          <a:solidFill>
            <a:srgbClr val="1A2A40"/>
          </a:solidFill>
          <a:ln w="12700">
            <a:solidFill>
              <a:srgbClr val="1A2A4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56832" y="242316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perda &lt;- nnf_cross_entropy(previsao, lote[[2]],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weight = torch_tensor(c(1.94, 0.67)))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519672" y="315468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peso maior vai para os normais, que são minoria. A matriz fica mais equilibrada?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3931920"/>
            <a:ext cx="5394960" cy="2560320"/>
          </a:xfrm>
          <a:prstGeom prst="roundRect">
            <a:avLst>
              <a:gd name="adj" fmla="val 4286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406908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Mais filtros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4480560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seção 5, dobre os filtros das duas convoluções e ajuste a entrada da camada densa: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22960" y="5120640"/>
            <a:ext cx="4846320" cy="685800"/>
          </a:xfrm>
          <a:prstGeom prst="roundRect">
            <a:avLst>
              <a:gd name="adj" fmla="val 16000"/>
            </a:avLst>
          </a:prstGeom>
          <a:solidFill>
            <a:srgbClr val="1A2A40"/>
          </a:solidFill>
          <a:ln w="12700">
            <a:solidFill>
              <a:srgbClr val="1A2A4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60120" y="512064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nn_conv2d(1, 32, ...)    nn_conv2d(32, 64, ...)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self$densa &lt;- nn_linear(64 * 7 * 7, 64)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585216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Quantos pesos a rede passa a ter? A acurácia melhora?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245352" y="3931920"/>
            <a:ext cx="5394960" cy="2560320"/>
          </a:xfrm>
          <a:prstGeom prst="roundRect">
            <a:avLst>
              <a:gd name="adj" fmla="val 4286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519672" y="406908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 Provoque overfitting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6519672" y="4480560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seção 5, apague a linha do dropout no forward. Na seção 6, troque 1:10 por 1:30.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519672" y="5120640"/>
            <a:ext cx="4846320" cy="685800"/>
          </a:xfrm>
          <a:prstGeom prst="roundRect">
            <a:avLst>
              <a:gd name="adj" fmla="val 16000"/>
            </a:avLst>
          </a:prstGeom>
          <a:solidFill>
            <a:srgbClr val="1A2A40"/>
          </a:solidFill>
          <a:ln w="12700">
            <a:solidFill>
              <a:srgbClr val="1A2A4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656832" y="512064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&lt;- self$dropout(x)    # apagar esta linha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519672" y="585216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perda do treino continua caindo? E a AUC da validação?</a:t>
            </a:r>
            <a:endParaRPr lang="en-US" sz="13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spc="200" kern="0" dirty="0">
                <a:solidFill>
                  <a:srgbClr val="C9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Resumindo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1094415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CNN procura padrões na imagem com filtros aprendidos no treino e depois combina esses padrões para decidir.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 aprende medindo o erro (entropia cruzada) e ajustando os pesos para diminuí-lo (backpropagation e Adam).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R, o pacote torch monta e treina a rede: 105 mil pesos, 86,9% de acerto em raios-X nunca vistos.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rede herda o desequilíbrio dos dados: só a acurácia não basta para avaliar.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297680"/>
            <a:ext cx="1109441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9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Referências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9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LeCun et al. Gradient-based learning applied to document recognition. Proc. IEEE 86(11), 1998.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9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Goodfellow, Bengio, Courville. Deep Learning. MIT Press, 2016.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9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Kermany et al. Identifying medical diagnoses and treatable diseases by image-based deep learning. Cell 172(5), 2018.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9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Yang et al. MedMNIST v2. Scientific Data 10, 41, 2023.  ·  Pacote torch para R: torch.mlverse.org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Redes Neurais Convolucionais em R</dc:title>
  <dc:subject>PptxGenJS Presentation</dc:subject>
  <dc:creator>PptxGenJS</dc:creator>
  <cp:lastModifiedBy>PptxGenJS</cp:lastModifiedBy>
  <cp:revision>1</cp:revision>
  <dcterms:created xsi:type="dcterms:W3CDTF">2026-09-28T19:39:12Z</dcterms:created>
  <dcterms:modified xsi:type="dcterms:W3CDTF">2026-09-28T19:39:12Z</dcterms:modified>
</cp:coreProperties>
</file>