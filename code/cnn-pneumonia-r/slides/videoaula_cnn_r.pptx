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Apresente-se: nome, curso, disciplina. Gancho: 'Um computador consegue olhar um raio-X de tórax e dizer se a criança tem pneumonia? Nesta aula eu mostro como, com uma rede neural convolucional treinada em 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[0:30–1:00] Mostre o roteiro: primeiro a teoria (o que é uma CNN e como ela aprende), depois os dados, o código em R, a prática com os resultados e, no final, exercícios.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[1:00–2:00] Defina a tarefa: entra uma imagem, sai a probabilidade de pneumonia. É um problema de classificação: duas classes possíveis. O modelo aprende com exemplos já diagnosticados.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[2:00–3:30] Antes da CNN, a peça básica. Um neurônio é uma soma ponderada: pega as entradas, multiplica cada uma por um peso, soma, e soma mais um número fixo. Faça a conta do exemplo. A rede neural junta muitos desses em camadas. Os pesos começam sorteados e são ajustados no treino, a partir dos exemplos. Camada densa é o nome da camada em que cada neurônio olha todas as entradas.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[3:30–4:45] Dê a visão geral antes dos detalhes. Uma CNN é uma rede neural especializada em imagens. Ela tem duas partes: a primeira procura padrões na imagem, com três peças — convolução, ReLU e pooling — repetidas; a segunda pega os padrões encontrados e decide. Por que não uma rede comum? Ela veria os pixels como colunas soltas, sem saber quem é vizinho de quem, e teria de aprender de novo o mesmo padrão em cada posição da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[4:45–5:30] O computador não vê um pulmão, vê uma matriz de números. Estes são pixels reais deste raio-X, lidos pelo script em R. A CNN vai procurar padrões nessa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[5:30–6:45] O coração da CNN. Explique a conta devagar: casa por casa, multiplica e soma. Com este filtro, a coluna da esquerda entra com sinal negativo e a da direita com positivo: se a direita é mais clara, o resultado é alto. Numa região lisa, os dois lados se cancelam. Depois o filtro desliza e repete a conta por toda a imagem; o resultado é uma nova imagem, chamada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[6:45–7:45] Ponto central: os filtros não são programados. Começam com números aleatórios e o treino os ajusta — como, eu mostro daqui a pouco. Aqui, à esquerda, o resultado real de passar um filtro de borda vertical, escolhido à mão, por este raio-X: o mapa acende nas bordas das costelas e dos pulmões. Na rede, são 16 filtros diferentes, cada um gerando o seu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[7:45–8:45] Mostre o antes e depois: o azul some, fica só o laranja. Dois motivos. Primeiro, ela limpa o mapa: fica só onde o filtro achou o padrão. Segundo: sem ela, empilhar camadas não adiantaria, porque multiplicar e somar várias vezes seguidas dá o mesmo que multiplicar e somar uma vez só — use o exemplo de dobrar e triplicar, que dá multiplicar por 6. O corte no zero quebra isso. Por fim, mostre onde ela fica: sempre logo depois da convolução.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[8:45–9:45] Pooling: de cada bloco de 2 por 2, fica o maior valor. O mapa encolhe pela metade em cada direção, mas o sinal forte continua lá — compare o mapa real de 28 por 28 com o de 14 por 14. E responda a dúvida natural: sim, o que sai daqui é uma imagem menor, que entra na próxima convolução.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[9:45–10:45] Junte as peças e siga um raio-X. Entra 1 imagem de 28 por 28. A primeira convolução gera 16 mapas; o pooling os reduz para 14 por 14. A segunda convolução gera 32 mapas, reduzidos para 7 por 7. Aí começa a parte 2: achatar, camada densa e saída. Explique cada número: 14 e 7 vêm do pooling; 1.568 é 32 vezes 7 vezes 7. E por que a 2ª convolução tem mais filtros: ela combina os padrões simples da 1ª em padrões mais complexos, e há muito mais combinações do que padrões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[10:45–11:45] Achatar: a camada densa trabalha com uma lista, então os 32 mapas são postos em fila — 1.568 números, como uma linha de uma tabela. Camada densa: são 64 neurônios, cada um uma soma ponderada de todos os 1.568 números. É aqui que os padrões encontrados na parte 1 são combinados para chegar à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[11:45–12:45] A rede termina com dois números, as pontuações — uma para normal, outra para pneumonia. Sozinhas elas não são probabilidades. O softmax as converte: eleva e a cada pontuação e divide pelo total; aqui dá 13% e 87%. A resposta final é a classe mais provável.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[12:45–13:45] Para aprender, a rede precisa medir o erro. Na classificação, a medida é a entropia cruzada: o menos logaritmo da probabilidade que a rede deu à classe correta. Leia a tabela: 90% na classe certa, perda baixa; 10%, perda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[13:45–15:00] Imagine a curva do erro em função de um peso. O peso começa sorteado, em algum ponto da curva. A backpropagation calcula a inclinação ali — se a curva desce para a direita, o peso deve aumentar. O Adam dá um passo nessa direção. Repetindo, o peso chega perto do menor erro. A rede faz isso ao mesmo tempo para seus 105 mil pesos, inclusive os números dos filtros. É assim que os filtros são aprendidos.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[15:00–15:45] Analogia: treino são os exercícios resolvidos, validação é o simulado, teste é a prova. Medir a nota no treino seria dar ao aluno a prova que ele usou para estudar. O dropout é uma defesa contra decorar.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[15:45–16:30] Apresente a base: radiografias reais de crianças, com o diagnóstico. Explique o nome: PneumoniaMNIST é a parte de pneumonia do MedMNIST, uma coleção que deixa todas as imagens no mesmo formato, pequenas e já divididas. Destaque o desequilíbrio: 74% pneumonia. Esse número volta nos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[16:30–17:00] Peça para quem assiste pausar o vídeo e tentar. Resposta: A é PNEUMONIA, B é NORMAL — no pulmão normal os campos pulmonares ficam mais escuros e nítidos; na pneumonia aparecem regiões mais claras e opacas. Em 28 × 28 nem sempre é fácil: é esse padrão que a rede precisa aprender.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[17:00–17:45] O torch é o pacote que traz redes neurais para o R. O conceito novo é o tensor, que é só um array de várias dimensões — a turma já conhece array no R. Mostre a instalação: três linhas, uma vez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[17:45–18:30] Este slide é a ponte entre a teoria e o código: cada conceito visto até aqui tem uma função no torch. Não precisa decorar — é só para reconhecer as funções quando elas aparecerem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[18:30–19:15] Linha por linha. Normalizar os pixels para perto de zero ajuda o treino. O unsqueeze só acrescenta a dimensão do canal, que a convolução espera. E o detalhe do R: as classes no torch começam em 1, por isso o +1. O dataloader é quem entrega os lotes para 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[19:15–20:15] Mapeie cada linha na teoria. Os números das convoluções são entradas e saídas: 1 imagem entra, 16 mapas saem; 16 entram, 32 saem. Na camada densa, 32 × 7 × 7 é exatamente o 1.568 da jornada. A rede tem 105 mil pesos — o script em R imprime esse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[20:15–21:00] Uma linha para cada peça, na ordem da jornada. Chame atenção para o x: ele é reescrito a cada linha, então cada passo recebe o resultado do anterior. O softmax não está aqui: ele é aplicado depois, na hora de calcular as probabilidades.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[21:00–22:00] Ligue cada linha aos quatro passos: palpite, erro, backpropagation e Adam. lote[[1]] são as imagens do lote e lote[[2]] os diagnósticos. O zero_grad existe porque o torch acumula as inclinações; é preciso zerar antes de cada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[22:00–26:00] PRÁTICA NO RSTUDIO (câmera opcional aqui). Rode seção por seção e comente o que aparece. Seção 3: os 10 raios-X e a contagem 1214 normal × 3494 pneumonia. Seção 5: a rede impressa e o total de 105.346 pesos. Seção 6: a cada época, a perda cai e a AUC da validação sobe. Seção 7: acurácia, AUC e matriz de confusão do teste. Seção 8: a rede dando a probabilidade de pneumonia de raios-X que ela nunca viu.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[26:00–27:00] Leia a matriz: a diagonal são os acertos. A rede quase não deixa passar pneumonia — só 6 em 390 —, mas dá alarme falso em 76 das 234 crianças saudáveis. Se a execução da gravação der números um pouco diferentes, leia os da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[27:00–28:00] Duas lições. A primeira: a rede não tem opinião; ela aprendeu a diminuir o erro médio num treino em que a maioria é pneumonia, e isso a empurra para esse lado. A segunda: a probabilidade é da rede, mas o corte é uma decisão de quem usa o modelo, e depende do custo de cada tipo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[28:00–29:15] Proponha os exercícios, do mais fácil ao mais difícil. Dica do 1: é a troca entre sensibilidade e especificidade. Os pesos do 2 são o inverso da frequência de cada classe no treino: 4708 / (2 × 1214) = 1,94 e 4708 / (2 × 3494) = 0,67.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[29:15–29:45] Feche com o resumo e agradeça.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· 1ª VA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Neurais Convolucionais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Classificando raios-X de tórax (normal ou pneumonia) com o pacote torch do 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Pires Aquino de Carvalho · UFRPE</a:t>
            </a:r>
            <a:endParaRPr lang="en-US" sz="1400" dirty="0"/>
          </a:p>
        </p:txBody>
      </p:sp>
      <p:pic>
        <p:nvPicPr>
          <p:cNvPr id="6" name="Image 0" descr="/home/user/topicos-avancados-ia/code/cnn-pneumonia-r/slides/img/raiox_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3716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CNN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e cada uma das peças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 aprende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erro e ajustar os pesos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raios-X de tórax de crianças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em 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pacote torch, linha a linha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e resultados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script rodando no RStudio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 sozinho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este raio-X mostra pneumonia?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raiox_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raio-X de tórax, 28 × 28 pixels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251460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31920" y="17373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7373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949440" y="251460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1737360"/>
            <a:ext cx="3959352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pneumonia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ex.: 87% → pneumonia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7548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coloca cada raio-X em uma de duas classes: normal ou pneumonia.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supervisionado: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a partir de milhares de raios-X que já têm o diagnóstico dado por médicos.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da CNN: o que é uma rede neural?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737360"/>
            <a:ext cx="1920240" cy="118872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2926080"/>
            <a:ext cx="1920240" cy="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flipV="1">
            <a:off x="1188720" y="2926080"/>
            <a:ext cx="1920240" cy="118872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2514600"/>
            <a:ext cx="822960" cy="8229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023360" y="2770632"/>
            <a:ext cx="36576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56032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AD3C2"/>
          </a:solidFill>
          <a:ln w="12700">
            <a:solidFill>
              <a:srgbClr val="FAD3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+ w₁x₁ + w₂x₂ + w₃x₃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neurônio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463040"/>
            <a:ext cx="52395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cada entrada por um peso e soma tudo (isso se chama soma ponderada), mais um número fixo, b. Ex.: entradas 2, 1, 3 e pesos 0,5, −1, 2 → 1 − 1 + 6 = 6, mais b.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escolhidos à mão: começam sorteados e são ajustados no treino, a partir dos exemplos.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neurônios organizados em camadas. A saída de uma camada é a entrada da próxima.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densa: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em que cada neurônio recebe todas as saídas da camada anterior.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CNN?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Convolucional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(CNN, do inglês Convolutional Neural Network) é uma rede neural feita para imagens. Em vez de tratar os 784 pixels como 784 colunas soltas, ela procura padrões em pedaços pequenos da imagem — bordas, texturas, manchas — em qualquer lugar em que apareçam.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926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encontrar padrões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3611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36118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611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36118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repetida 2 vezes. Transforma a imagem em mapas que mostram onde cada padrão aparece.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71032" y="3794760"/>
            <a:ext cx="246888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274320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9672" y="2926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decidir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19672" y="36118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91272" y="3611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65592" y="36118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65592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densa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37192" y="3611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11512" y="36118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11512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4526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os padrões encontrados e dá a probabilidade de cada classe.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próximos slides, cada peça, uma de cada vez.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computador, imagem é uma tabela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raiox_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74920" y="329184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60720" y="1371600"/>
            <a:ext cx="566928" cy="566928"/>
          </a:xfrm>
          <a:prstGeom prst="rect">
            <a:avLst/>
          </a:prstGeom>
          <a:solidFill>
            <a:srgbClr val="5454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27648" y="1371600"/>
            <a:ext cx="566928" cy="566928"/>
          </a:xfrm>
          <a:prstGeom prst="rect">
            <a:avLst/>
          </a:prstGeom>
          <a:solidFill>
            <a:srgbClr val="3939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7648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94576" y="1371600"/>
            <a:ext cx="566928" cy="566928"/>
          </a:xfrm>
          <a:prstGeom prst="rect">
            <a:avLst/>
          </a:prstGeom>
          <a:solidFill>
            <a:srgbClr val="3232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94576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61504" y="1371600"/>
            <a:ext cx="566928" cy="566928"/>
          </a:xfrm>
          <a:prstGeom prst="rect">
            <a:avLst/>
          </a:prstGeom>
          <a:solidFill>
            <a:srgbClr val="26262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61504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28432" y="1371600"/>
            <a:ext cx="566928" cy="566928"/>
          </a:xfrm>
          <a:prstGeom prst="rect">
            <a:avLst/>
          </a:prstGeom>
          <a:solidFill>
            <a:srgbClr val="3939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2843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95360" y="1371600"/>
            <a:ext cx="566928" cy="566928"/>
          </a:xfrm>
          <a:prstGeom prst="rect">
            <a:avLst/>
          </a:prstGeom>
          <a:solidFill>
            <a:srgbClr val="3E3E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60720" y="1938528"/>
            <a:ext cx="566928" cy="566928"/>
          </a:xfrm>
          <a:prstGeom prst="rect">
            <a:avLst/>
          </a:prstGeom>
          <a:solidFill>
            <a:srgbClr val="5555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27648" y="1938528"/>
            <a:ext cx="566928" cy="566928"/>
          </a:xfrm>
          <a:prstGeom prst="rect">
            <a:avLst/>
          </a:prstGeom>
          <a:solidFill>
            <a:srgbClr val="4141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27648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94576" y="1938528"/>
            <a:ext cx="566928" cy="566928"/>
          </a:xfrm>
          <a:prstGeom prst="rect">
            <a:avLst/>
          </a:prstGeom>
          <a:solidFill>
            <a:srgbClr val="3636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94576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61504" y="1938528"/>
            <a:ext cx="566928" cy="566928"/>
          </a:xfrm>
          <a:prstGeom prst="rect">
            <a:avLst/>
          </a:prstGeom>
          <a:solidFill>
            <a:srgbClr val="3131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61504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28432" y="1938528"/>
            <a:ext cx="566928" cy="566928"/>
          </a:xfrm>
          <a:prstGeom prst="rect">
            <a:avLst/>
          </a:prstGeom>
          <a:solidFill>
            <a:srgbClr val="45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28432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595360" y="1938528"/>
            <a:ext cx="566928" cy="566928"/>
          </a:xfrm>
          <a:prstGeom prst="rect">
            <a:avLst/>
          </a:prstGeom>
          <a:solidFill>
            <a:srgbClr val="4646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0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60720" y="2505456"/>
            <a:ext cx="566928" cy="566928"/>
          </a:xfrm>
          <a:prstGeom prst="rect">
            <a:avLst/>
          </a:prstGeom>
          <a:solidFill>
            <a:srgbClr val="5050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60720" y="2505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27648" y="2505456"/>
            <a:ext cx="566928" cy="566928"/>
          </a:xfrm>
          <a:prstGeom prst="rect">
            <a:avLst/>
          </a:prstGeom>
          <a:solidFill>
            <a:srgbClr val="44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27648" y="2505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894576" y="2505456"/>
            <a:ext cx="566928" cy="566928"/>
          </a:xfrm>
          <a:prstGeom prst="rect">
            <a:avLst/>
          </a:prstGeom>
          <a:solidFill>
            <a:srgbClr val="3B3B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94576" y="2505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461504" y="2505456"/>
            <a:ext cx="566928" cy="566928"/>
          </a:xfrm>
          <a:prstGeom prst="rect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61504" y="2505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028432" y="2505456"/>
            <a:ext cx="566928" cy="566928"/>
          </a:xfrm>
          <a:prstGeom prst="rect">
            <a:avLst/>
          </a:prstGeom>
          <a:solidFill>
            <a:srgbClr val="4848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028432" y="2505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595360" y="2505456"/>
            <a:ext cx="566928" cy="566928"/>
          </a:xfrm>
          <a:prstGeom prst="rect">
            <a:avLst/>
          </a:prstGeom>
          <a:solidFill>
            <a:srgbClr val="4343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95360" y="2505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760720" y="3072384"/>
            <a:ext cx="566928" cy="566928"/>
          </a:xfrm>
          <a:prstGeom prst="rect">
            <a:avLst/>
          </a:prstGeom>
          <a:solidFill>
            <a:srgbClr val="4F4F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760720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27648" y="3072384"/>
            <a:ext cx="566928" cy="566928"/>
          </a:xfrm>
          <a:prstGeom prst="rect">
            <a:avLst/>
          </a:prstGeom>
          <a:solidFill>
            <a:srgbClr val="44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327648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894576" y="3072384"/>
            <a:ext cx="566928" cy="566928"/>
          </a:xfrm>
          <a:prstGeom prst="rect">
            <a:avLst/>
          </a:prstGeom>
          <a:solidFill>
            <a:srgbClr val="3838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94576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461504" y="3072384"/>
            <a:ext cx="566928" cy="566928"/>
          </a:xfrm>
          <a:prstGeom prst="rect">
            <a:avLst/>
          </a:prstGeom>
          <a:solidFill>
            <a:srgbClr val="3A3A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461504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28432" y="3072384"/>
            <a:ext cx="566928" cy="566928"/>
          </a:xfrm>
          <a:prstGeom prst="rect">
            <a:avLst/>
          </a:prstGeom>
          <a:solidFill>
            <a:srgbClr val="5050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028432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595360" y="3072384"/>
            <a:ext cx="566928" cy="566928"/>
          </a:xfrm>
          <a:prstGeom prst="rect">
            <a:avLst/>
          </a:prstGeom>
          <a:solidFill>
            <a:srgbClr val="4848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595360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5760720" y="3639312"/>
            <a:ext cx="566928" cy="566928"/>
          </a:xfrm>
          <a:prstGeom prst="rect">
            <a:avLst/>
          </a:prstGeom>
          <a:solidFill>
            <a:srgbClr val="53535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760720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27648" y="3639312"/>
            <a:ext cx="566928" cy="566928"/>
          </a:xfrm>
          <a:prstGeom prst="rect">
            <a:avLst/>
          </a:prstGeom>
          <a:solidFill>
            <a:srgbClr val="4848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327648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894576" y="3639312"/>
            <a:ext cx="566928" cy="566928"/>
          </a:xfrm>
          <a:prstGeom prst="rect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894576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461504" y="3639312"/>
            <a:ext cx="566928" cy="566928"/>
          </a:xfrm>
          <a:prstGeom prst="rect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461504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28432" y="3639312"/>
            <a:ext cx="566928" cy="566928"/>
          </a:xfrm>
          <a:prstGeom prst="rect">
            <a:avLst/>
          </a:prstGeom>
          <a:solidFill>
            <a:srgbClr val="4A4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028432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595360" y="3639312"/>
            <a:ext cx="566928" cy="566928"/>
          </a:xfrm>
          <a:prstGeom prst="rect">
            <a:avLst/>
          </a:prstGeom>
          <a:solidFill>
            <a:srgbClr val="4242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595360" y="3639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5760720" y="4206240"/>
            <a:ext cx="566928" cy="566928"/>
          </a:xfrm>
          <a:prstGeom prst="rect">
            <a:avLst/>
          </a:prstGeom>
          <a:solidFill>
            <a:srgbClr val="3939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7607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327648" y="4206240"/>
            <a:ext cx="566928" cy="566928"/>
          </a:xfrm>
          <a:prstGeom prst="rect">
            <a:avLst/>
          </a:prstGeom>
          <a:solidFill>
            <a:srgbClr val="303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32764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894576" y="4206240"/>
            <a:ext cx="566928" cy="566928"/>
          </a:xfrm>
          <a:prstGeom prst="rect">
            <a:avLst/>
          </a:prstGeom>
          <a:solidFill>
            <a:srgbClr val="3E3E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894576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7461504" y="4206240"/>
            <a:ext cx="566928" cy="566928"/>
          </a:xfrm>
          <a:prstGeom prst="rect">
            <a:avLst/>
          </a:prstGeom>
          <a:solidFill>
            <a:srgbClr val="4747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461504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8028432" y="4206240"/>
            <a:ext cx="566928" cy="566928"/>
          </a:xfrm>
          <a:prstGeom prst="rect">
            <a:avLst/>
          </a:prstGeom>
          <a:solidFill>
            <a:srgbClr val="4D4D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8028432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8595360" y="4206240"/>
            <a:ext cx="566928" cy="566928"/>
          </a:xfrm>
          <a:prstGeom prst="rect">
            <a:avLst/>
          </a:prstGeom>
          <a:solidFill>
            <a:srgbClr val="4F4F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5953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9418320" y="1463040"/>
            <a:ext cx="22219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recorte de 6 × 6 pixels deste raio-X, como o R o lê.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é o tom de cinza de um pixel: 0 é preto, 255 é branco.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imagem: 28 × 28 = 784 números.</a:t>
            </a:r>
            <a:pPr indent="0" marL="0">
              <a:spcAft>
                <a:spcPts val="10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Convolução: um filtro que desliza pela imagem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pedaço da imagem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645920" y="1737360"/>
            <a:ext cx="822960" cy="82296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2468880" y="1737360"/>
            <a:ext cx="822960" cy="822960"/>
          </a:xfrm>
          <a:prstGeom prst="rect">
            <a:avLst/>
          </a:prstGeom>
          <a:solidFill>
            <a:srgbClr val="C8C8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822960" cy="82296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645920" y="2560320"/>
            <a:ext cx="822960" cy="82296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2468880" y="2560320"/>
            <a:ext cx="822960" cy="822960"/>
          </a:xfrm>
          <a:prstGeom prst="rect">
            <a:avLst/>
          </a:prstGeom>
          <a:solidFill>
            <a:srgbClr val="C8C8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22960" y="3383280"/>
            <a:ext cx="822960" cy="82296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645920" y="3383280"/>
            <a:ext cx="822960" cy="822960"/>
          </a:xfrm>
          <a:prstGeom prst="rect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592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2468880" y="3383280"/>
            <a:ext cx="822960" cy="822960"/>
          </a:xfrm>
          <a:prstGeom prst="rect">
            <a:avLst/>
          </a:prstGeom>
          <a:solidFill>
            <a:srgbClr val="C8C8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888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2606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3 × 3 (pesos)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06240" y="1737360"/>
            <a:ext cx="822960" cy="82296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5029200" y="1737360"/>
            <a:ext cx="822960" cy="82296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5852160" y="1737360"/>
            <a:ext cx="822960" cy="82296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00" dirty="0"/>
          </a:p>
        </p:txBody>
      </p:sp>
      <p:sp>
        <p:nvSpPr>
          <p:cNvPr id="30" name="Shape 28"/>
          <p:cNvSpPr/>
          <p:nvPr/>
        </p:nvSpPr>
        <p:spPr>
          <a:xfrm>
            <a:off x="4206240" y="2560320"/>
            <a:ext cx="822960" cy="82296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300" dirty="0"/>
          </a:p>
        </p:txBody>
      </p:sp>
      <p:sp>
        <p:nvSpPr>
          <p:cNvPr id="32" name="Shape 30"/>
          <p:cNvSpPr/>
          <p:nvPr/>
        </p:nvSpPr>
        <p:spPr>
          <a:xfrm>
            <a:off x="5029200" y="2560320"/>
            <a:ext cx="822960" cy="82296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34" name="Shape 32"/>
          <p:cNvSpPr/>
          <p:nvPr/>
        </p:nvSpPr>
        <p:spPr>
          <a:xfrm>
            <a:off x="5852160" y="2560320"/>
            <a:ext cx="822960" cy="82296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5216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00" dirty="0"/>
          </a:p>
        </p:txBody>
      </p:sp>
      <p:sp>
        <p:nvSpPr>
          <p:cNvPr id="36" name="Shape 34"/>
          <p:cNvSpPr/>
          <p:nvPr/>
        </p:nvSpPr>
        <p:spPr>
          <a:xfrm>
            <a:off x="4206240" y="3383280"/>
            <a:ext cx="822960" cy="82296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0624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2300" dirty="0"/>
          </a:p>
        </p:txBody>
      </p:sp>
      <p:sp>
        <p:nvSpPr>
          <p:cNvPr id="38" name="Shape 36"/>
          <p:cNvSpPr/>
          <p:nvPr/>
        </p:nvSpPr>
        <p:spPr>
          <a:xfrm>
            <a:off x="5029200" y="3383280"/>
            <a:ext cx="822960" cy="82296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40" name="Shape 38"/>
          <p:cNvSpPr/>
          <p:nvPr/>
        </p:nvSpPr>
        <p:spPr>
          <a:xfrm>
            <a:off x="5852160" y="3383280"/>
            <a:ext cx="822960" cy="82296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5216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00" dirty="0"/>
          </a:p>
        </p:txBody>
      </p:sp>
      <p:sp>
        <p:nvSpPr>
          <p:cNvPr id="42" name="Text 40"/>
          <p:cNvSpPr txBox="1"/>
          <p:nvPr/>
        </p:nvSpPr>
        <p:spPr>
          <a:xfrm>
            <a:off x="6812280" y="2606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43" name="Shape 41"/>
          <p:cNvSpPr/>
          <p:nvPr/>
        </p:nvSpPr>
        <p:spPr>
          <a:xfrm>
            <a:off x="7589520" y="1737360"/>
            <a:ext cx="4050792" cy="246888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0" y="1920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570</a:t>
            </a:r>
            <a:endParaRPr lang="en-US" sz="48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2971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alto: aqui existe uma borda vertical (escuro à esquerda, claro à direita)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45720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pequena tabela de pesos, 3 × 3. Ele é colocado sobre um pedaço da imagem; multiplica casa por casa e soma: 3 × (−10 + 0 + 200) = 570. Numa região lisa, o resultado seria perto de zero.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Deslizar: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anda uma casa para o lado e repete a conta, até cobrir a imagem inteira. Cada conta vira um pixel de uma nova imagem, o mapa, que mostra onde o padrão aparece.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vêm os números dos filtros?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raiox_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7432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29000" y="260604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pic>
        <p:nvPicPr>
          <p:cNvPr id="5" name="Image 1" descr="/home/user/topicos-avancados-ia/code/cnn-pneumonia-r/slides/img/mapa_fil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371600"/>
            <a:ext cx="2743200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raio-X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0233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filtro de borda vertical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63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positivo (escuro → claro)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negativo (claro → escuro)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borda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132320" y="1371600"/>
            <a:ext cx="450799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escreve esses números.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início do treino, os pesos de cada filtro são sorteados — o filtro ainda não detecta nada útil.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ajusta os pesos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a pouco, para diminuir o erro da rede. Assim, cada filtro vira um detector de algum padrão que ajuda a separar normal de pneumonia.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filtro é só um conjunto de 9 pesos,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iguais aos pesos do neurônio do começo da aula — por isso é aprendido do mesmo jeito.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deste vídeo aprende 16 filtros na 1ª convolução e 32 na 2ª. O filtro de borda ao lado foi escolhido à mão só para ilustrar.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ReLU: ficar só com o que o filtro encontrou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mapa_fil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56032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46120" y="2487168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pic>
        <p:nvPicPr>
          <p:cNvPr id="5" name="Image 1" descr="/home/user/topicos-avancados-ia/code/cnn-pneumonia-r/slides/img/mapa_rel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2560320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filtro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84048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ReLU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914400" y="4663440"/>
            <a:ext cx="548640" cy="54864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463040" y="4663440"/>
            <a:ext cx="548640" cy="54864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4630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011680" y="4663440"/>
            <a:ext cx="548640" cy="54864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0116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560320" y="4663440"/>
            <a:ext cx="548640" cy="54864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5603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1546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3749040" y="4663440"/>
            <a:ext cx="548640" cy="54864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7490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297680" y="4663440"/>
            <a:ext cx="548640" cy="548640"/>
          </a:xfrm>
          <a:prstGeom prst="rect">
            <a:avLst/>
          </a:prstGeom>
          <a:solidFill>
            <a:srgbClr val="F2F4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2976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46320" y="4663440"/>
            <a:ext cx="548640" cy="54864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8463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394960" y="4663440"/>
            <a:ext cx="548640" cy="54864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39496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394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ReLU(x) = max(0, x)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6766560" y="1280160"/>
            <a:ext cx="4873752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número negativo do mapa vira 0; os positivos continuam iguais (veja os números embaixo).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1, limpar o mapa: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mapa, número positivo alto quer dizer “o padrão do filtro está aqui”; número negativo quer dizer “aqui há o contrário do padrão”. A próxima camada só precisa saber onde o padrão está. A ReLU apaga o resto: o azul some e fica só o laranja.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2, fazer cada camada valer a pena: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ReLU, cada camada só multiplica e soma, e várias contas de multiplicar e somar seguidas se resumem a uma só (dobrar e depois triplicar é o mesmo que multiplicar por 6). Dez camadas fariam o mesmo que uma. O corte no zero entre elas impede esse resumo, e cada camada consegue aprender algo novo.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ela fica: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depois de cada convolução, antes do pooling (convolução → ReLU → pooling). Também aparece depois da camada densa, que vem mais adiante.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Pooling: resumir o mapa pela metade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51560" y="1371600"/>
            <a:ext cx="502920" cy="50292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371600"/>
            <a:ext cx="502920" cy="50292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502920" cy="50292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1874520"/>
            <a:ext cx="502920" cy="50292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1874520"/>
            <a:ext cx="502920" cy="50292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544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57400" y="1874520"/>
            <a:ext cx="502920" cy="50292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57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2377440"/>
            <a:ext cx="502920" cy="50292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54480" y="2377440"/>
            <a:ext cx="502920" cy="502920"/>
          </a:xfrm>
          <a:prstGeom prst="rect">
            <a:avLst/>
          </a:prstGeom>
          <a:solidFill>
            <a:srgbClr val="DDD8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54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057400" y="2377440"/>
            <a:ext cx="502920" cy="502920"/>
          </a:xfrm>
          <a:prstGeom prst="rect">
            <a:avLst/>
          </a:prstGeom>
          <a:solidFill>
            <a:srgbClr val="DDD8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57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51560" y="2880360"/>
            <a:ext cx="502920" cy="50292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554480" y="2880360"/>
            <a:ext cx="502920" cy="502920"/>
          </a:xfrm>
          <a:prstGeom prst="rect">
            <a:avLst/>
          </a:prstGeom>
          <a:solidFill>
            <a:srgbClr val="DDD8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544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057400" y="2880360"/>
            <a:ext cx="502920" cy="502920"/>
          </a:xfrm>
          <a:prstGeom prst="rect">
            <a:avLst/>
          </a:prstGeom>
          <a:solidFill>
            <a:srgbClr val="DDD8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574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0" y="2194560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1874520"/>
            <a:ext cx="502920" cy="50292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832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86200" y="1874520"/>
            <a:ext cx="502920" cy="50292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86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83280" y="2377440"/>
            <a:ext cx="502920" cy="50292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83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886200" y="2377440"/>
            <a:ext cx="502920" cy="502920"/>
          </a:xfrm>
          <a:prstGeom prst="rect">
            <a:avLst/>
          </a:prstGeom>
          <a:solidFill>
            <a:srgbClr val="DDD8F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886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480560" y="1874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o maior de cada bloco 2 × 2</a:t>
            </a:r>
            <a:endParaRPr lang="en-US" sz="1400" dirty="0"/>
          </a:p>
        </p:txBody>
      </p:sp>
      <p:pic>
        <p:nvPicPr>
          <p:cNvPr id="45" name="Image 0" descr="/home/user/topicos-avancados-ia/code/cnn-pneumonia-r/slides/img/mapa_re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2377440" cy="237744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3108960" y="4736592"/>
            <a:ext cx="45720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pic>
        <p:nvPicPr>
          <p:cNvPr id="47" name="Image 1" descr="/home/user/topicos-avancados-ia/code/cnn-pneumonia-r/slides/img/mapa_p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4297680"/>
            <a:ext cx="1188720" cy="1188720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548640" y="6126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3520440" y="5532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14</a:t>
            </a:r>
            <a:endParaRPr lang="en-US" sz="1400" dirty="0"/>
          </a:p>
        </p:txBody>
      </p:sp>
      <p:sp>
        <p:nvSpPr>
          <p:cNvPr id="50" name="Text 46"/>
          <p:cNvSpPr txBox="1"/>
          <p:nvPr/>
        </p:nvSpPr>
        <p:spPr>
          <a:xfrm>
            <a:off x="6766560" y="1371600"/>
            <a:ext cx="487375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 mapa em blocos de 2 × 2 pixels e guarda só o maior valor de cada bloco.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fica com metade da largura e metade da altura (um quarto dos números), mas os lugares onde o padrão foi encontrado continuam marcados.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com o mapa 4 vezes menor, as camadas seguintes têm menos contas a fazer. 2) importa saber se o padrão apareceu naquela região, não em qual pixel exato: se uma borda está num pixel ou no vizinho, dentro do mesmo bloco, o maior valor do bloco é o mesmo.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depois?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reduzido é uma imagem menor. Ele vira a entrada da próxima convolução, que procura padrões nesses mapas.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de um raio-X pela rede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raio-X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67128" y="2194560"/>
            <a:ext cx="256032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1448" y="137160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2888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1 + ReLU + pooling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mapas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2697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14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59936" y="2194560"/>
            <a:ext cx="256032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37160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5696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2 + ReLU + pooling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25696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mapas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697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7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52744" y="2194560"/>
            <a:ext cx="256032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37160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18504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697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45552" y="2194560"/>
            <a:ext cx="256032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137160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11312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densa + ReLU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2697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738360" y="2194560"/>
            <a:ext cx="256032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137160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AD3C2"/>
          </a:solidFill>
          <a:ln w="12700">
            <a:solidFill>
              <a:srgbClr val="FAD3C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0412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104120" y="2194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2697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pontuações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52044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“16 mapas 14 × 14”: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dos 16 filtros gera um mapa; cada mapa tem 14 linhas e 14 colunas.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→ 14 → 7: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pooling corta o tamanho pela metade.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32 filtros na 2ª convolução e só 16 na 1ª?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1ª procura padrões simples (bordas, contrastes), e há poucos tipos deles. Os filtros da 2ª olham os 16 mapas da 1ª ao mesmo tempo e combinam esses padrões simples em padrões mais complexos (formas, texturas). Há muito mais combinações possíveis, então vale ter mais filtros. E como o pooling encolheu os mapas, 32 mapas de 14 × 14 (6.272 números) ainda ocupam metade do espaço de 16 mapas de 28 × 28 (12.544). Os valores exatos, 16 e 32, são escolhas de quem monta a rede.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1.568 = 32 × 7 × 7: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números dos 32 mapas, postos em fila.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Achatar e camada densa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Achatar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densa recebe uma lista de números, não uma grade. Achatar é enfileirar os 32 mapas de 7 × 7 numa única fila de 1.568 números — como transformar cada imagem numa linha de tabela com 1.568 colunas.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densa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4572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neurônios iguais ao do começo da aula: cada um faz uma soma ponderada dos 1.568 números, seguida de ReLU. Cada neurônio combina vários padrões encontrados num único número. O 64 é outra escolha de quem monta a rede.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2286000"/>
            <a:ext cx="457200" cy="45720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2743200"/>
            <a:ext cx="457200" cy="457200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3200400"/>
            <a:ext cx="457200" cy="45720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1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0" y="3200400"/>
            <a:ext cx="457200" cy="457200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28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23160" y="2834640"/>
            <a:ext cx="36576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2788920"/>
            <a:ext cx="329184" cy="329184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2608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2788920"/>
            <a:ext cx="329184" cy="329184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5526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84448" y="2788920"/>
            <a:ext cx="329184" cy="329184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84448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13632" y="2788920"/>
            <a:ext cx="329184" cy="329184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13632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42816" y="2788920"/>
            <a:ext cx="329184" cy="329184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428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2788920"/>
            <a:ext cx="329184" cy="329184"/>
          </a:xfrm>
          <a:prstGeom prst="rect">
            <a:avLst/>
          </a:prstGeom>
          <a:solidFill>
            <a:srgbClr val="FAD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01184" y="2788920"/>
            <a:ext cx="329184" cy="329184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01184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30368" y="2788920"/>
            <a:ext cx="329184" cy="329184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30368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59552" y="2788920"/>
            <a:ext cx="329184" cy="329184"/>
          </a:xfrm>
          <a:prstGeom prst="rect">
            <a:avLst/>
          </a:prstGeom>
          <a:solidFill>
            <a:srgbClr val="C8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59552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5120" y="22860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0" y="2926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5661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18320" y="2606040"/>
            <a:ext cx="411480" cy="411480"/>
          </a:xfrm>
          <a:prstGeom prst="ellipse">
            <a:avLst/>
          </a:prstGeom>
          <a:solidFill>
            <a:srgbClr val="FAD3C2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18320" y="3246120"/>
            <a:ext cx="411480" cy="411480"/>
          </a:xfrm>
          <a:prstGeom prst="ellipse">
            <a:avLst/>
          </a:prstGeom>
          <a:solidFill>
            <a:srgbClr val="FAD3C2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86600" y="2487168"/>
            <a:ext cx="2331720" cy="320040"/>
          </a:xfrm>
          <a:prstGeom prst="line">
            <a:avLst/>
          </a:prstGeom>
          <a:noFill/>
          <a:ln w="12700">
            <a:solidFill>
              <a:srgbClr val="DCDC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86600" y="2487168"/>
            <a:ext cx="2331720" cy="960120"/>
          </a:xfrm>
          <a:prstGeom prst="line">
            <a:avLst/>
          </a:prstGeom>
          <a:noFill/>
          <a:ln w="12700">
            <a:solidFill>
              <a:srgbClr val="DCDC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7086600" y="2807208"/>
            <a:ext cx="2331720" cy="320040"/>
          </a:xfrm>
          <a:prstGeom prst="line">
            <a:avLst/>
          </a:prstGeom>
          <a:noFill/>
          <a:ln w="12700">
            <a:solidFill>
              <a:srgbClr val="DCDC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86600" y="3127248"/>
            <a:ext cx="2331720" cy="320040"/>
          </a:xfrm>
          <a:prstGeom prst="line">
            <a:avLst/>
          </a:prstGeom>
          <a:noFill/>
          <a:ln w="12700">
            <a:solidFill>
              <a:srgbClr val="DCDC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7086600" y="2807208"/>
            <a:ext cx="2331720" cy="960120"/>
          </a:xfrm>
          <a:prstGeom prst="line">
            <a:avLst/>
          </a:prstGeom>
          <a:noFill/>
          <a:ln w="12700">
            <a:solidFill>
              <a:srgbClr val="DCDC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086600" y="3447288"/>
            <a:ext cx="2331720" cy="320040"/>
          </a:xfrm>
          <a:prstGeom prst="line">
            <a:avLst/>
          </a:prstGeom>
          <a:noFill/>
          <a:ln w="12700">
            <a:solidFill>
              <a:srgbClr val="DCDCD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neurônio recebe todas as entradas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saída: 2 pontuações que viram probabilidades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rede: pontuações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  ·  3,1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pneumonia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77640" y="2240280"/>
            <a:ext cx="36576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3716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softmax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20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  ·  87%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pneumonia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2240280"/>
            <a:ext cx="365760" cy="320040"/>
          </a:xfrm>
          <a:prstGeom prst="rightArrow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3716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920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maior probabilidade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camada tem 2 neurônios, um para cada classe. Cada um dá um número qualquer (pode ser negativo, pode ser 50): quanto maior, mais a imagem se parece com aquela classe.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as pontuações em probabilidades que somam 100%.  p(pneumonia) = e^3,1 / (e^1,2 + e^3,1) = 0,87.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maior probabilidade — o mesmo que cortar em 50%.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medir o erro: entropia cruzada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 = − log(probabilidade dada à classe certa)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280160"/>
                <a:gridCol w="5330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Raio-X com pneumonia. A rede deu à pneumonia…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certa e segura: erro pequeno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 a meio: erro médio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errada com alta probabilidade: erro grande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8912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aprender, a rede precisa de um único número que diga o quanto ela errou. É esse número que o treino tenta diminuir.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 a probabilidade dada à classe certa, maior a perda. Errar com alta probabilidade custa muito mais do que errar por pouco.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lote: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é a média das perdas de cada imagem.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rede aprende: descendo a curva do erro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desc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7241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280160"/>
            <a:ext cx="55138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Palpite: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calcula as probabilidades para um lote de imagens.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Erro: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entropia cruzada mede o quanto errou.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Backpropagation: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calcula, para cada peso, a inclinação da curva do erro: aumentar esse peso faz o erro subir ou descer? O cálculo começa na saída e volta até os filtros — daí o nome.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Adam: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o passo: muda cada peso um pouco no sentido que diminui o erro. É uma versão da descida do gradiente que ajusta sozinha o tamanho do passo de cada peso.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521208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3492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Lote: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imagens por vez.  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Época: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passada por todas as 4.708 imagens de treino = 37 lotes. Com 10 épocas, os pesos são ajustados 370 vezes, sempre repetindo 1 → 2 → 3 → 4.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Treino, validação e teste — e o risco de decorar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4.708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00884"/>
            <a:ext cx="292608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imagens usadas para ajustar os pesos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57116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1436" y="1554480"/>
            <a:ext cx="292608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31436" y="2500884"/>
            <a:ext cx="292608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conferir o progresso a cada época, sem ajustar nada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65592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39912" y="1554480"/>
            <a:ext cx="292608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39912" y="2500884"/>
            <a:ext cx="292608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a avaliação final, com imagens que a rede nunca viu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94415" cy="246888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decora as imagens de treino em vez de aprender o padrão — vai bem nelas e mal nas novas. Por isso a nota que vale é a do teste.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treino, a cada lote, 30% dos neurônios da camada densa são desligados ao acaso. A rede não pode depender de poucos neurônios e generaliza melhor. Na hora de avaliar, todos voltam a funcionar.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dados: PneumoniaMNIST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amost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315200" cy="31211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raios-X do treino, com o diagnóstico. Figura gerada pelo script em R.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138160" y="1234440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417320"/>
            <a:ext cx="29535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5.856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37410"/>
            <a:ext cx="2953512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raios-X de tórax de crianças de 1 a 5 anos, cada um com o diagnóstico dado por médicos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38160" y="3017520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0" y="3200400"/>
            <a:ext cx="295351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920490"/>
            <a:ext cx="2953512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treino é pneumonia (3.494 de 4.708 imagens)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006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PneumoniaMNIST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base pública de raios-X de tórax de um hospital infantil em Guangzhou, na China (Kermany et al., Cell, 2018), com duas classes: normal e pneumonia.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parte do MedMNIST v2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(Yang et al., Scientific Data, 2023), uma coleção de bases de imagens médicas preparadas para ensino e pesquisa: todas as imagens reduzidas para 28 × 28 pixels, já divididas em treino, validação e teste, num único arquivo .npz.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do MNIST, uma base famosa de dígitos escritos à mão, também com imagens de 28 × 28.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vez: normal ou pneumonia?</a:t>
            </a:r>
            <a:endParaRPr lang="en-US" sz="3200" dirty="0"/>
          </a:p>
        </p:txBody>
      </p:sp>
      <p:pic>
        <p:nvPicPr>
          <p:cNvPr id="3" name="Image 0" descr="/home/user/topicos-avancados-ia/code/cnn-pneumonia-r/slides/img/adivinh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371600"/>
            <a:ext cx="384048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pic>
        <p:nvPicPr>
          <p:cNvPr id="5" name="Image 1" descr="/home/user/topicos-avancados-ia/code/cnn-pneumonia-r/slides/img/adivinhe_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3840480" cy="3840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ferramenta: o pacote torch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pacote do R para criar e treinar redes neurais.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dado do torch. É um array com várias dimensões, como os arrays do R. Um lote de treino é um tensor 128 × 1 × 28 × 28: 128 imagens, 1 canal (tons de cinza), 28 linhas e 28 colunas.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prontas: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convolução, pooling, camada densa… basta informar os tamanhos.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as contas do treino: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 backpropagation sozinho e já traz otimizadores como o Adam.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0" y="1371600"/>
            <a:ext cx="4873752" cy="3291840"/>
          </a:xfrm>
          <a:prstGeom prst="roundRect">
            <a:avLst>
              <a:gd name="adj" fmla="val 333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00200"/>
            <a:ext cx="43251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(só uma vez)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install.packages("torch")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library(torch)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install_torch()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teste: tensor 2 x 3 sorteado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torch_randn(2, 3)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ideia da aula vira uma função do torch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48737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no torch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nn_conv2d()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 filtros 3 × 3 pela imagem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nnf_relu()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zera os valores negativos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nnf_max_pool2d()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 cada mapa pela metade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Achatar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torch_flatten()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põe os mapas em fila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densa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nn_linear()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somas ponderadas de todas as entradas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nn_dropout()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desliga neurônios ao acaso no treino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Entropia cruzada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nnf_cross_entropy()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 o erro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optim_adam()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 os pesos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B68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dataloader()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as imagens de 128 em 128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dos nomes: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 cria uma peça que fica guardada dentro da rede; nnf_ é uma função aplicada direto aos dados.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R: preparar os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leitura do arquivo, as imagens são um array do R de 4.708 × 28 × 28, com números de 0 a 255. A função preparar() as transforma em tensores: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852160" cy="3176626"/>
          </a:xfrm>
          <a:prstGeom prst="roundRect">
            <a:avLst>
              <a:gd name="adj" fmla="val 3454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54864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torch_tensor(imagens / 255, dtype = torch_float())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103120"/>
            <a:ext cx="4967935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por 255 (pixels de 0 a 1) e guarda num tensor de números decimais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2649931"/>
            <a:ext cx="49679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49931"/>
            <a:ext cx="54864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(x - 0.5) / 0.5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49931"/>
            <a:ext cx="4967935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escala para −1 a 1, centrada no zero (ajuda o treino)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3196742"/>
            <a:ext cx="49679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96742"/>
            <a:ext cx="54864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x$unsqueeze(2)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196742"/>
            <a:ext cx="4967935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dimensão do canal: 4.708 × 1 × 28 × 28 (1 canal = tons de cinza)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3743554"/>
            <a:ext cx="49679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43554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torch_tensor(as.integer(rotulos) + 1L,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dtype = torch_long())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743554"/>
            <a:ext cx="496793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0 e 1 viram 1 e 2: no torch as classes são numeradas a partir de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4374490"/>
            <a:ext cx="49679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74490"/>
            <a:ext cx="5486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lotes &lt;- dataloader(tensor_dataset(treino$x, treino$y),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batch_size = 128, shuffle = TRUE)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374490"/>
            <a:ext cx="496793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imagens e diagnósticos e entrega em lotes de 128, embaralhados a cada época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R: as peças da rede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nn_module cria o molde da rede. Em initialize ficam as peças, cada uma guardada com um nome em self$: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59936"/>
          </a:xfrm>
          <a:prstGeom prst="roundRect">
            <a:avLst>
              <a:gd name="adj" fmla="val 270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&lt;- nn_module("CNNSimples",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920240"/>
            <a:ext cx="5425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molde da rede, chamado CNNSimples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340864"/>
            <a:ext cx="54251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408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initialize = function() {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40864"/>
            <a:ext cx="5425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peças: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761488"/>
            <a:ext cx="54251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6148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self$convolucao1 &lt;- nn_conv2d(1, 16,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kernel_size = 3, padding = 1)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61488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convolução: entra 1 imagem, saem 16 mapas (16 filtros 3 × 3). padding = 1 põe uma borda de zeros para o mapa continuar 28 × 28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602736"/>
            <a:ext cx="54251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0273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self$convolucao2 &lt;- nn_conv2d(16, 32,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kernel_size = 3, padding = 1)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02736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convolução: entram os 16 mapas, saem 32 (32 filtros)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4443984"/>
            <a:ext cx="54251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4398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self$densa &lt;- nn_linear(32 * 7 * 7, 64)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443984"/>
            <a:ext cx="5425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densa: entram 1.568 números, saem 64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864608"/>
            <a:ext cx="54251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86460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self$saida &lt;- nn_linear(64, 2)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864608"/>
            <a:ext cx="5425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saída: entram 64, saem 2 pontuações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5285232"/>
            <a:ext cx="542513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852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self$dropout &lt;- nn_dropout(0.3)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5285232"/>
            <a:ext cx="5425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desliga 30% ao acaso no treino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todo, 105.346 pesos a aprender — 95% deles na camada densa.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R: o caminho da imagem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forward fica a ordem das peças. x começa como o lote de imagens e é substituído a cada passo: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4786884"/>
          </a:xfrm>
          <a:prstGeom prst="roundRect">
            <a:avLst>
              <a:gd name="adj" fmla="val 2308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self$convolucao1(x)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874520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1: 16 mapas 28 × 28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77840" y="2304288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04288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nnf_relu(x)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304288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negativos viram zero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77840" y="2734056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34056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nnf_max_pool2d(x, 2)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734056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2 × 2: 16 mapas 14 × 14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3163824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63824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self$convolucao2(x)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163824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2: 32 mapas 14 × 14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77840" y="3593592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93592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nnf_relu(x)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593592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77840" y="4023360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nnf_max_pool2d(x, 2)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4023360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2 × 2: 32 mapas 7 × 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77840" y="4453128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453128"/>
            <a:ext cx="438912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torch_flatten(x, start_dim = 2)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4453128"/>
            <a:ext cx="6065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achatar: 1.568 números por imagem (start_dim = 2 porque a dimensão 1 é o lote: cada imagem continua separada)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77840" y="5097780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97780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nnf_relu(self$densa(x))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5097780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densa + ReLU: 64 números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577840" y="5527548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527548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self$dropout(x)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5527548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577840" y="5957316"/>
            <a:ext cx="606521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957316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self$saida(x)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5957316"/>
            <a:ext cx="60652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2 pontuações, o resultado final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R: o treino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035040" cy="4709160"/>
          </a:xfrm>
          <a:prstGeom prst="roundRect">
            <a:avLst>
              <a:gd name="adj" fmla="val 233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otimizador &lt;- optim_adam(modelo$parameters, lr = 0.001)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417320"/>
            <a:ext cx="4785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Adam, que vai ajustar os pesos da rede; lr é o tamanho do passo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(epoca in 1:10) {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0116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por 10 épocas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24688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68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coro::loop(for (lote in lotes) {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4688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lote de 128 imagens (coro::loop percorre o dataloader)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29260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otimizador$zero_grad()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9260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 as inclinações do lote anterior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0" y="33832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previsao &lt;- modelo(lote[[1]])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3832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palpite: passa as imagens pela rede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0" y="38404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840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perda &lt;- nnf_cross_entropy(previsao, lote[[2]])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8404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erro: compara com os diagnósticos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0" y="42976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97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perda$backward()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2976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backpropagation: a inclinação de cada peso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0" y="47548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otimizador$step()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75488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Adam: cada peso dá um passo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0" y="5212080"/>
            <a:ext cx="4785055" cy="0"/>
          </a:xfrm>
          <a:prstGeom prst="line">
            <a:avLst/>
          </a:prstGeom>
          <a:noFill/>
          <a:ln w="9525">
            <a:solidFill>
              <a:srgbClr val="DCDC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212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da prática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script cnn_pneumonia.R no RStudio, uma seção de cada vez (selecione e aperte Ctrl+Enter)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pacotes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o torch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7432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funções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arquivo, desenhar, AUC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dados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 ver 10 raios-X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27432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tensores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preparar() e os lotes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 CNN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12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rede e contar os pesos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45262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1188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treino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5212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épocas, perda e AUC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45262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teste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212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e matriz de confusão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52560" y="45262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em ação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5212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raios-X com a resposta da rede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no teste: 624 raios-X novos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normal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pneumonia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normal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3C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pneumonia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BD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o diagnóstico real; cada coluna, o que a rede previu. Verde: acertos. Laranja: erros.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alarmes falsos: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saudáveis classificadas como pneumonia.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pneumonias perdidas: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doentes classificadas como normais.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371600"/>
            <a:ext cx="3959352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554480"/>
            <a:ext cx="3410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86,9%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53996"/>
            <a:ext cx="341071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acurácia: 542 acertos em 624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3063240"/>
            <a:ext cx="3959352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3246120"/>
            <a:ext cx="3410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98,5%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945636"/>
            <a:ext cx="341071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sensibilidade: das 390 pneumonias, 384 detectadas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80960" y="4754880"/>
            <a:ext cx="3959352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4937760"/>
            <a:ext cx="3410712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67,5%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5637276"/>
            <a:ext cx="341071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especificidade: dos 234 normais, 158 reconhecidos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resultado ensina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 rede herda o desequilíbrio dos dados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dos raios-X de treino são de pneumonia. O treino diminui o erro médio, e como há quase 3 pneumonias para cada normal, os erros em pneumonias pesam mais nessa média. Os pesos ficam ajustados para favorecer pneumonia: em imagens de padrão pouco claro, a probabilidade calculada tende a passar de 50% para pneumonia. Daí 76 alarmes falsos contra 6 pneumonias perdidas.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600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 corte de 50% é uma escolha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5603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entrega uma probabilidade. Quem decide a partir de quanto chamar de pneumonia é quem usa o modelo. Subir o corte reduz os alarmes falsos, mas deixa passar mais pneumonias. Em saúde, deixar passar uma doença costuma ser o erro mais grave. O exercício 1 explora essa troca.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Mude o corte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seção 7, troque 0.5 por 0.9 e rode a seção de novo (não precisa treinar):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23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previsto &lt;- as.integer(p_teste &gt; 0.9)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com os alarmes falsos? E com as pneumonias perdidas?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2344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371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Pese as classes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783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seção 6, troque a linha da perda por esta e rode de novo as seções 5, 6 e 7: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9672" y="242316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6832" y="2423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perda &lt;- nnf_cross_entropy(previsao, lote[[2]],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 = torch_tensor(c(1.94, 0.67)))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peso maior vai para os normais, que são minoria. A matriz fica mais equilibrada?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Mais filtros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80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seção 5, dobre os filtros das duas convoluções e ajuste a entrada da camada densa: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nn_conv2d(1, 32, ...)    nn_conv2d(32, 64, 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self$densa &lt;- nn_linear(64 * 7 * 7, 64)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52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pesos a rede passa a ter? A acurácia melhora?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45352" y="393192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Provoque overfitting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4805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seção 5, apague a linha do dropout no forward. Na seção 6, troque 1:10 por 1:30.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512064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self$dropout(x)    # apagar esta linha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5852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do treino continua caindo? E a AUC da validação?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Resumindo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CNN procura padrões na imagem com filtros aprendidos no treino e depois combina esses padrões para decidir.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aprende medindo o erro (entropia cruzada) e ajustando os pesos para diminuí-lo (backpropagation e Adam).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R, o pacote torch monta e treina a rede: 105 mil pesos, 86,9% de acerto em raios-X nunca vistos.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herda o desequilíbrio dos dados: só a acurácia não basta para avaliar.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 et al. Gradient-based learning applied to document recognition. Proc. IEEE 86(11), 1998.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Bengio, Courville. Deep Learning. MIT Press, 2016.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Kermany et al. Identifying medical diagnoses and treatable diseases by image-based deep learning. Cell 172(5), 2018.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MedMNIST v2. Scientific Data 10, 41, 2023.  ·  Pacote torch para R: torch.mlverse.org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Neurais Convolucionais em R</dc:title>
  <dc:subject>PptxGenJS Presentation</dc:subject>
  <dc:creator>PptxGenJS</dc:creator>
  <cp:lastModifiedBy>PptxGenJS</cp:lastModifiedBy>
  <cp:revision>1</cp:revision>
  <dcterms:created xsi:type="dcterms:W3CDTF">2026-09-28T19:12:43Z</dcterms:created>
  <dcterms:modified xsi:type="dcterms:W3CDTF">2026-09-28T19:12:43Z</dcterms:modified>
</cp:coreProperties>
</file>