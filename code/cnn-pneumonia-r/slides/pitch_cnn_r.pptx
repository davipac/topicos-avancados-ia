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[0:00–0:20] Apresente-se. Gancho: 'Uma rede neural consegue olhar um raio-X de tórax e dizer se a criança tem pneumonia? Eu treinei uma em 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[0:20–1:00] A tarefa: entra um raio-X de 28 × 28 pixels, sai a probabilidade de pneumonia. A rede aprende com milhares de raios-X de crianças já diagnosticados por médicos (base PneumoniaMNIST).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[1:00–2:15] Como funciona, em uma imagem. Parte 1: as convoluções passam filtros pela imagem e geram mapas de onde cada padrão aparece; a ReLU zera os negativos e o pooling reduz os mapas pela metade. Parte 2: achatar, camada densa e 2 neurônios de saída, que o softmax transforma em probabilidades. Os filtros não são escritos à mão: começam sorteados e o treino os ajusta para diminuir o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[2:15–3:15] O script tem quatro etapas: ler o arquivo, preparar os tensores, montar a rede e treinar. À direita, o caminho da imagem no código — uma linha para cada peça do desenho anterior. Tudo em R, com o pacote torch.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[3:15–4:15] O resultado nos 624 raios-X de teste, que a rede nunca viu: 86,9% de acerto. Quase nenhuma pneumonia passa (6 em 390), mas há 76 alarmes falsos em crianças saudáveis — a rede puxa para pneumonia porque 74% do treino é pneumonia.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[4:15–5:00] Feche com as três ideias: como a CNN funciona, o resultado em R, e a limitação com o próximo passo. Agradeça.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Dados · 1ª VA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Neurais Convolucionais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Classificando raios-X de tórax (normal ou pneumonia) com o pacote torch do 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 Pires Aquino de Carvalho · UFRPE</a:t>
            </a:r>
            <a:endParaRPr lang="en-US" sz="1400" dirty="0"/>
          </a:p>
        </p:txBody>
      </p:sp>
      <p:pic>
        <p:nvPicPr>
          <p:cNvPr id="6" name="Image 0" descr="/home/user/topicos-avancados-ia/code/cnn-pneumonia-r/slides/img/raiox_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371600"/>
            <a:ext cx="3017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problema: este raio-X mostra pneumonia?</a:t>
            </a:r>
            <a:endParaRPr lang="en-US" sz="3200" dirty="0"/>
          </a:p>
        </p:txBody>
      </p:sp>
      <p:pic>
        <p:nvPicPr>
          <p:cNvPr id="3" name="Image 0" descr="/home/user/topicos-avancados-ia/code/cnn-pneumonia-r/slides/img/raiox_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2377440" cy="2377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raio-X de tórax, 28 × 28 pixels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3200400" y="2514600"/>
            <a:ext cx="457200" cy="320040"/>
          </a:xfrm>
          <a:prstGeom prst="rightArrow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931920" y="17373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931920" y="17373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6949440" y="2514600"/>
            <a:ext cx="457200" cy="320040"/>
          </a:xfrm>
          <a:prstGeom prst="rightArrow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80960" y="1737360"/>
            <a:ext cx="3959352" cy="18288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55280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 de pneumonia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2377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ex.: 87% → pneumonia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75488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coloca cada raio-X em uma de duas classes: normal ou pneumonia.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supervisionado: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aprende a partir de milhares de raios-X que já têm o diagnóstico dado por médicos.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rede completa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1188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1 · encontrar padrões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600200" y="1627632"/>
            <a:ext cx="4663440" cy="0"/>
          </a:xfrm>
          <a:prstGeom prst="line">
            <a:avLst/>
          </a:prstGeom>
          <a:noFill/>
          <a:ln w="19050">
            <a:solidFill>
              <a:srgbClr val="EB68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0" y="118872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2 · decidir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1627632"/>
            <a:ext cx="5239512" cy="0"/>
          </a:xfrm>
          <a:prstGeom prst="line">
            <a:avLst/>
          </a:prstGeom>
          <a:noFill/>
          <a:ln w="19050">
            <a:solidFill>
              <a:srgbClr val="EB68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987552" y="1965960"/>
            <a:ext cx="1088136" cy="118872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987552" y="1965960"/>
            <a:ext cx="1088136" cy="50292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2084832"/>
            <a:ext cx="1088136" cy="64008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987552" y="2148840"/>
            <a:ext cx="1088136" cy="32004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987552" y="2148840"/>
            <a:ext cx="1088136" cy="704088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987552" y="2331720"/>
            <a:ext cx="1088136" cy="13716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987552" y="2331720"/>
            <a:ext cx="1088136" cy="521208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87552" y="2331720"/>
            <a:ext cx="1088136" cy="905256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987552" y="2514600"/>
            <a:ext cx="1088136" cy="338328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987552" y="2514600"/>
            <a:ext cx="1088136" cy="722376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987552" y="2514600"/>
            <a:ext cx="1088136" cy="1106424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987552" y="2697480"/>
            <a:ext cx="1088136" cy="539496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987552" y="2697480"/>
            <a:ext cx="1088136" cy="923544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987552" y="2697480"/>
            <a:ext cx="1088136" cy="1307592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987552" y="2880360"/>
            <a:ext cx="1088136" cy="740664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987552" y="2880360"/>
            <a:ext cx="1088136" cy="1124712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987552" y="2880360"/>
            <a:ext cx="1088136" cy="150876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987552" y="3063240"/>
            <a:ext cx="1088136" cy="941832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987552" y="3063240"/>
            <a:ext cx="1088136" cy="132588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987552" y="3063240"/>
            <a:ext cx="1088136" cy="1709928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987552" y="3246120"/>
            <a:ext cx="1088136" cy="114300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987552" y="3246120"/>
            <a:ext cx="1088136" cy="1527048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7552" y="2084832"/>
            <a:ext cx="1088136" cy="1527048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7552" y="2468880"/>
            <a:ext cx="1088136" cy="114300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7552" y="2084832"/>
            <a:ext cx="1088136" cy="1709928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7552" y="2468880"/>
            <a:ext cx="1088136" cy="132588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7552" y="2852928"/>
            <a:ext cx="1088136" cy="941832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7552" y="2468880"/>
            <a:ext cx="1088136" cy="150876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7552" y="2852928"/>
            <a:ext cx="1088136" cy="1124712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7552" y="3236976"/>
            <a:ext cx="1088136" cy="740664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87552" y="2852928"/>
            <a:ext cx="1088136" cy="1307592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7552" y="3236976"/>
            <a:ext cx="1088136" cy="923544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7552" y="3621024"/>
            <a:ext cx="1088136" cy="539496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7552" y="3236976"/>
            <a:ext cx="1088136" cy="1106424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87552" y="3621024"/>
            <a:ext cx="1088136" cy="722376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87552" y="4005072"/>
            <a:ext cx="1088136" cy="338328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87552" y="3621024"/>
            <a:ext cx="1088136" cy="905256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87552" y="4005072"/>
            <a:ext cx="1088136" cy="521208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87552" y="4389120"/>
            <a:ext cx="1088136" cy="13716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87552" y="4005072"/>
            <a:ext cx="1088136" cy="704088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87552" y="4389120"/>
            <a:ext cx="1088136" cy="32004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987552" y="4709160"/>
            <a:ext cx="1088136" cy="64008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87552" y="4389120"/>
            <a:ext cx="1088136" cy="50292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87552" y="4773168"/>
            <a:ext cx="1088136" cy="118872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221992" y="1965960"/>
            <a:ext cx="1042416" cy="36576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21992" y="2148840"/>
            <a:ext cx="1042416" cy="18288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221992" y="2331720"/>
            <a:ext cx="1042416" cy="18288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21992" y="2514600"/>
            <a:ext cx="1042416" cy="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221992" y="2697480"/>
            <a:ext cx="1042416" cy="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2221992" y="2697480"/>
            <a:ext cx="1042416" cy="18288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2221992" y="2880360"/>
            <a:ext cx="1042416" cy="18288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2221992" y="2880360"/>
            <a:ext cx="1042416" cy="36576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221992" y="3611880"/>
            <a:ext cx="1042416" cy="36576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21992" y="3794760"/>
            <a:ext cx="1042416" cy="18288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21992" y="3977640"/>
            <a:ext cx="1042416" cy="18288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21992" y="4160520"/>
            <a:ext cx="1042416" cy="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21992" y="4343400"/>
            <a:ext cx="1042416" cy="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2221992" y="4343400"/>
            <a:ext cx="1042416" cy="18288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2221992" y="4526280"/>
            <a:ext cx="1042416" cy="18288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2221992" y="4526280"/>
            <a:ext cx="1042416" cy="36576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3410712" y="2057400"/>
            <a:ext cx="1042416" cy="27432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3410712" y="2057400"/>
            <a:ext cx="1042416" cy="45720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3410712" y="2057400"/>
            <a:ext cx="1042416" cy="192024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3410712" y="2057400"/>
            <a:ext cx="1042416" cy="210312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3410712" y="2240280"/>
            <a:ext cx="1042416" cy="9144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3410712" y="2240280"/>
            <a:ext cx="1042416" cy="27432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3410712" y="2240280"/>
            <a:ext cx="1042416" cy="45720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3410712" y="2240280"/>
            <a:ext cx="1042416" cy="173736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3410712" y="2240280"/>
            <a:ext cx="1042416" cy="192024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3410712" y="2240280"/>
            <a:ext cx="1042416" cy="210312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3410712" y="2423160"/>
            <a:ext cx="1042416" cy="9144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3410712" y="2423160"/>
            <a:ext cx="1042416" cy="27432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3410712" y="2423160"/>
            <a:ext cx="1042416" cy="45720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3410712" y="2423160"/>
            <a:ext cx="1042416" cy="173736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3410712" y="2423160"/>
            <a:ext cx="1042416" cy="192024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V="1">
            <a:off x="3410712" y="2423160"/>
            <a:ext cx="1042416" cy="210312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V="1">
            <a:off x="3410712" y="2606040"/>
            <a:ext cx="1042416" cy="9144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3410712" y="2606040"/>
            <a:ext cx="1042416" cy="27432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3410712" y="2606040"/>
            <a:ext cx="1042416" cy="173736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V="1">
            <a:off x="3410712" y="2606040"/>
            <a:ext cx="1042416" cy="192024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410712" y="2331720"/>
            <a:ext cx="1042416" cy="82296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410712" y="2514600"/>
            <a:ext cx="1042416" cy="64008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V="1">
            <a:off x="3410712" y="3154680"/>
            <a:ext cx="1042416" cy="82296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V="1">
            <a:off x="3410712" y="3154680"/>
            <a:ext cx="1042416" cy="100584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410712" y="2331720"/>
            <a:ext cx="1042416" cy="100584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410712" y="2514600"/>
            <a:ext cx="1042416" cy="82296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410712" y="2697480"/>
            <a:ext cx="1042416" cy="64008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3410712" y="3337560"/>
            <a:ext cx="1042416" cy="64008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3410712" y="3337560"/>
            <a:ext cx="1042416" cy="82296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V="1">
            <a:off x="3410712" y="3337560"/>
            <a:ext cx="1042416" cy="100584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410712" y="2514600"/>
            <a:ext cx="1042416" cy="100584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410712" y="2697480"/>
            <a:ext cx="1042416" cy="82296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410712" y="2880360"/>
            <a:ext cx="1042416" cy="64008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3410712" y="3520440"/>
            <a:ext cx="1042416" cy="64008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V="1">
            <a:off x="3410712" y="3520440"/>
            <a:ext cx="1042416" cy="82296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3410712" y="3520440"/>
            <a:ext cx="1042416" cy="100584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410712" y="2697480"/>
            <a:ext cx="1042416" cy="100584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410712" y="2880360"/>
            <a:ext cx="1042416" cy="82296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3410712" y="3703320"/>
            <a:ext cx="1042416" cy="64008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3410712" y="3703320"/>
            <a:ext cx="1042416" cy="82296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410712" y="2331720"/>
            <a:ext cx="1042416" cy="192024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410712" y="2514600"/>
            <a:ext cx="1042416" cy="173736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410712" y="3977640"/>
            <a:ext cx="1042416" cy="27432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410712" y="4160520"/>
            <a:ext cx="1042416" cy="9144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410712" y="2331720"/>
            <a:ext cx="1042416" cy="210312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410712" y="2514600"/>
            <a:ext cx="1042416" cy="192024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410712" y="2697480"/>
            <a:ext cx="1042416" cy="173736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410712" y="3977640"/>
            <a:ext cx="1042416" cy="45720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410712" y="4160520"/>
            <a:ext cx="1042416" cy="27432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410712" y="4343400"/>
            <a:ext cx="1042416" cy="9144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410712" y="2514600"/>
            <a:ext cx="1042416" cy="210312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410712" y="2697480"/>
            <a:ext cx="1042416" cy="192024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410712" y="2880360"/>
            <a:ext cx="1042416" cy="173736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410712" y="4160520"/>
            <a:ext cx="1042416" cy="45720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410712" y="4343400"/>
            <a:ext cx="1042416" cy="27432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410712" y="4526280"/>
            <a:ext cx="1042416" cy="9144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410712" y="2697480"/>
            <a:ext cx="1042416" cy="210312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410712" y="2880360"/>
            <a:ext cx="1042416" cy="192024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3410712" y="4343400"/>
            <a:ext cx="1042416" cy="45720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410712" y="4526280"/>
            <a:ext cx="1042416" cy="27432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599432" y="2057400"/>
            <a:ext cx="996696" cy="18288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599432" y="2240280"/>
            <a:ext cx="996696" cy="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599432" y="2423160"/>
            <a:ext cx="996696" cy="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flipV="1">
            <a:off x="4599432" y="2423160"/>
            <a:ext cx="996696" cy="18288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599432" y="3154680"/>
            <a:ext cx="996696" cy="18288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599432" y="3337560"/>
            <a:ext cx="996696" cy="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599432" y="3520440"/>
            <a:ext cx="996696" cy="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flipV="1">
            <a:off x="4599432" y="3520440"/>
            <a:ext cx="996696" cy="18288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599432" y="4251960"/>
            <a:ext cx="996696" cy="18288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599432" y="4434840"/>
            <a:ext cx="996696" cy="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599432" y="4617720"/>
            <a:ext cx="996696" cy="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flipV="1">
            <a:off x="4599432" y="4617720"/>
            <a:ext cx="996696" cy="18288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742432" y="2240280"/>
            <a:ext cx="1088136" cy="50292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742432" y="2423160"/>
            <a:ext cx="1088136" cy="59436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flipV="1">
            <a:off x="5742432" y="3291840"/>
            <a:ext cx="1088136" cy="4572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742432" y="3520440"/>
            <a:ext cx="1088136" cy="4572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flipV="1">
            <a:off x="5742432" y="3840480"/>
            <a:ext cx="1088136" cy="59436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flipV="1">
            <a:off x="5742432" y="4114800"/>
            <a:ext cx="1088136" cy="50292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flipV="1">
            <a:off x="6976872" y="2660904"/>
            <a:ext cx="1133856" cy="82296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976872" y="2743200"/>
            <a:ext cx="1133856" cy="301752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976872" y="2743200"/>
            <a:ext cx="1133856" cy="68580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976872" y="2743200"/>
            <a:ext cx="1133856" cy="1069848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976872" y="2743200"/>
            <a:ext cx="1133856" cy="1453896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flipV="1">
            <a:off x="6976872" y="2660904"/>
            <a:ext cx="1133856" cy="356616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976872" y="3017520"/>
            <a:ext cx="1133856" cy="27432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976872" y="3017520"/>
            <a:ext cx="1133856" cy="41148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976872" y="3017520"/>
            <a:ext cx="1133856" cy="795528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976872" y="3017520"/>
            <a:ext cx="1133856" cy="1179576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flipV="1">
            <a:off x="6976872" y="2660904"/>
            <a:ext cx="1133856" cy="630936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flipV="1">
            <a:off x="6976872" y="3044952"/>
            <a:ext cx="1133856" cy="246888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976872" y="3291840"/>
            <a:ext cx="1133856" cy="13716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976872" y="3291840"/>
            <a:ext cx="1133856" cy="521208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976872" y="3291840"/>
            <a:ext cx="1133856" cy="905256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flipV="1">
            <a:off x="6976872" y="2660904"/>
            <a:ext cx="1133856" cy="905256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flipV="1">
            <a:off x="6976872" y="3044952"/>
            <a:ext cx="1133856" cy="521208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flipV="1">
            <a:off x="6976872" y="3429000"/>
            <a:ext cx="1133856" cy="13716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976872" y="3566160"/>
            <a:ext cx="1133856" cy="246888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976872" y="3566160"/>
            <a:ext cx="1133856" cy="630936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 flipV="1">
            <a:off x="6976872" y="2660904"/>
            <a:ext cx="1133856" cy="1179576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 flipV="1">
            <a:off x="6976872" y="3044952"/>
            <a:ext cx="1133856" cy="795528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 flipV="1">
            <a:off x="6976872" y="3429000"/>
            <a:ext cx="1133856" cy="41148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flipV="1">
            <a:off x="6976872" y="3813048"/>
            <a:ext cx="1133856" cy="27432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976872" y="3840480"/>
            <a:ext cx="1133856" cy="356616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 flipV="1">
            <a:off x="6976872" y="2660904"/>
            <a:ext cx="1133856" cy="1453896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 flipV="1">
            <a:off x="6976872" y="3044952"/>
            <a:ext cx="1133856" cy="1069848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flipV="1">
            <a:off x="6976872" y="3429000"/>
            <a:ext cx="1133856" cy="68580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flipV="1">
            <a:off x="6976872" y="3813048"/>
            <a:ext cx="1133856" cy="301752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976872" y="4114800"/>
            <a:ext cx="1133856" cy="82296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257032" y="2660904"/>
            <a:ext cx="1088136" cy="448056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257032" y="2660904"/>
            <a:ext cx="1088136" cy="1088136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257032" y="3044952"/>
            <a:ext cx="1088136" cy="64008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257032" y="3044952"/>
            <a:ext cx="1088136" cy="704088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flipV="1">
            <a:off x="8257032" y="3108960"/>
            <a:ext cx="1088136" cy="32004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257032" y="3429000"/>
            <a:ext cx="1088136" cy="320040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flipV="1">
            <a:off x="8257032" y="3108960"/>
            <a:ext cx="1088136" cy="704088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 flipV="1">
            <a:off x="8257032" y="3749040"/>
            <a:ext cx="1088136" cy="64008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 flipV="1">
            <a:off x="8257032" y="3108960"/>
            <a:ext cx="1088136" cy="1088136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flipV="1">
            <a:off x="8257032" y="3749040"/>
            <a:ext cx="1088136" cy="448056"/>
          </a:xfrm>
          <a:prstGeom prst="line">
            <a:avLst/>
          </a:prstGeom>
          <a:noFill/>
          <a:ln w="6350">
            <a:solidFill>
              <a:srgbClr val="DCDCD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flipV="1">
            <a:off x="987552" y="2514600"/>
            <a:ext cx="1088136" cy="338328"/>
          </a:xfrm>
          <a:prstGeom prst="line">
            <a:avLst/>
          </a:prstGeom>
          <a:noFill/>
          <a:ln w="19050">
            <a:solidFill>
              <a:srgbClr val="EB6834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flipV="1">
            <a:off x="987552" y="2514600"/>
            <a:ext cx="1088136" cy="722376"/>
          </a:xfrm>
          <a:prstGeom prst="line">
            <a:avLst/>
          </a:prstGeom>
          <a:noFill/>
          <a:ln w="19050">
            <a:solidFill>
              <a:srgbClr val="EB6834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flipV="1">
            <a:off x="987552" y="2514600"/>
            <a:ext cx="1088136" cy="1106424"/>
          </a:xfrm>
          <a:prstGeom prst="line">
            <a:avLst/>
          </a:prstGeom>
          <a:noFill/>
          <a:ln w="19050">
            <a:solidFill>
              <a:srgbClr val="EB6834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841248" y="2011680"/>
            <a:ext cx="146304" cy="146304"/>
          </a:xfrm>
          <a:prstGeom prst="ellipse">
            <a:avLst/>
          </a:prstGeom>
          <a:solidFill>
            <a:srgbClr val="FFFFFF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841248" y="2395728"/>
            <a:ext cx="146304" cy="146304"/>
          </a:xfrm>
          <a:prstGeom prst="ellipse">
            <a:avLst/>
          </a:prstGeom>
          <a:solidFill>
            <a:srgbClr val="FFFFFF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841248" y="2779776"/>
            <a:ext cx="146304" cy="146304"/>
          </a:xfrm>
          <a:prstGeom prst="ellipse">
            <a:avLst/>
          </a:prstGeom>
          <a:solidFill>
            <a:srgbClr val="FFFFFF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41248" y="3163824"/>
            <a:ext cx="146304" cy="146304"/>
          </a:xfrm>
          <a:prstGeom prst="ellipse">
            <a:avLst/>
          </a:prstGeom>
          <a:solidFill>
            <a:srgbClr val="FFFFFF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841248" y="3547872"/>
            <a:ext cx="146304" cy="146304"/>
          </a:xfrm>
          <a:prstGeom prst="ellipse">
            <a:avLst/>
          </a:prstGeom>
          <a:solidFill>
            <a:srgbClr val="FFFFFF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841248" y="3931920"/>
            <a:ext cx="146304" cy="146304"/>
          </a:xfrm>
          <a:prstGeom prst="ellipse">
            <a:avLst/>
          </a:prstGeom>
          <a:solidFill>
            <a:srgbClr val="FFFFFF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841248" y="4315968"/>
            <a:ext cx="146304" cy="146304"/>
          </a:xfrm>
          <a:prstGeom prst="ellipse">
            <a:avLst/>
          </a:prstGeom>
          <a:solidFill>
            <a:srgbClr val="FFFFFF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841248" y="4700016"/>
            <a:ext cx="146304" cy="146304"/>
          </a:xfrm>
          <a:prstGeom prst="ellipse">
            <a:avLst/>
          </a:prstGeom>
          <a:solidFill>
            <a:srgbClr val="FFFFFF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2075688" y="1892808"/>
            <a:ext cx="146304" cy="146304"/>
          </a:xfrm>
          <a:prstGeom prst="ellipse">
            <a:avLst/>
          </a:prstGeom>
          <a:solidFill>
            <a:srgbClr val="CADCFC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2075688" y="2075688"/>
            <a:ext cx="146304" cy="146304"/>
          </a:xfrm>
          <a:prstGeom prst="ellipse">
            <a:avLst/>
          </a:prstGeom>
          <a:solidFill>
            <a:srgbClr val="CADCFC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2075688" y="2258568"/>
            <a:ext cx="146304" cy="146304"/>
          </a:xfrm>
          <a:prstGeom prst="ellipse">
            <a:avLst/>
          </a:prstGeom>
          <a:solidFill>
            <a:srgbClr val="CADCFC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2075688" y="2441448"/>
            <a:ext cx="146304" cy="146304"/>
          </a:xfrm>
          <a:prstGeom prst="ellipse">
            <a:avLst/>
          </a:prstGeom>
          <a:solidFill>
            <a:srgbClr val="CADCFC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2075688" y="2624328"/>
            <a:ext cx="146304" cy="146304"/>
          </a:xfrm>
          <a:prstGeom prst="ellipse">
            <a:avLst/>
          </a:prstGeom>
          <a:solidFill>
            <a:srgbClr val="CADCFC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2075688" y="2807208"/>
            <a:ext cx="146304" cy="146304"/>
          </a:xfrm>
          <a:prstGeom prst="ellipse">
            <a:avLst/>
          </a:prstGeom>
          <a:solidFill>
            <a:srgbClr val="CADCFC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2075688" y="2990088"/>
            <a:ext cx="146304" cy="146304"/>
          </a:xfrm>
          <a:prstGeom prst="ellipse">
            <a:avLst/>
          </a:prstGeom>
          <a:solidFill>
            <a:srgbClr val="CADCFC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2075688" y="3172968"/>
            <a:ext cx="146304" cy="146304"/>
          </a:xfrm>
          <a:prstGeom prst="ellipse">
            <a:avLst/>
          </a:prstGeom>
          <a:solidFill>
            <a:srgbClr val="CADCFC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2075688" y="3538728"/>
            <a:ext cx="146304" cy="146304"/>
          </a:xfrm>
          <a:prstGeom prst="ellipse">
            <a:avLst/>
          </a:prstGeom>
          <a:solidFill>
            <a:srgbClr val="C8EBDD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2075688" y="3721608"/>
            <a:ext cx="146304" cy="146304"/>
          </a:xfrm>
          <a:prstGeom prst="ellipse">
            <a:avLst/>
          </a:prstGeom>
          <a:solidFill>
            <a:srgbClr val="C8EBDD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2075688" y="3904488"/>
            <a:ext cx="146304" cy="146304"/>
          </a:xfrm>
          <a:prstGeom prst="ellipse">
            <a:avLst/>
          </a:prstGeom>
          <a:solidFill>
            <a:srgbClr val="C8EBDD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2075688" y="4087368"/>
            <a:ext cx="146304" cy="146304"/>
          </a:xfrm>
          <a:prstGeom prst="ellipse">
            <a:avLst/>
          </a:prstGeom>
          <a:solidFill>
            <a:srgbClr val="C8EBDD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2075688" y="4270248"/>
            <a:ext cx="146304" cy="146304"/>
          </a:xfrm>
          <a:prstGeom prst="ellipse">
            <a:avLst/>
          </a:prstGeom>
          <a:solidFill>
            <a:srgbClr val="C8EBDD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2075688" y="4453128"/>
            <a:ext cx="146304" cy="146304"/>
          </a:xfrm>
          <a:prstGeom prst="ellipse">
            <a:avLst/>
          </a:prstGeom>
          <a:solidFill>
            <a:srgbClr val="C8EBDD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2075688" y="4636008"/>
            <a:ext cx="146304" cy="146304"/>
          </a:xfrm>
          <a:prstGeom prst="ellipse">
            <a:avLst/>
          </a:prstGeom>
          <a:solidFill>
            <a:srgbClr val="C8EBDD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2075688" y="4818888"/>
            <a:ext cx="146304" cy="146304"/>
          </a:xfrm>
          <a:prstGeom prst="ellipse">
            <a:avLst/>
          </a:prstGeom>
          <a:solidFill>
            <a:srgbClr val="C8EBDD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3264408" y="2258568"/>
            <a:ext cx="146304" cy="146304"/>
          </a:xfrm>
          <a:prstGeom prst="ellipse">
            <a:avLst/>
          </a:prstGeom>
          <a:solidFill>
            <a:srgbClr val="CADCFC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3264408" y="2441448"/>
            <a:ext cx="146304" cy="146304"/>
          </a:xfrm>
          <a:prstGeom prst="ellipse">
            <a:avLst/>
          </a:prstGeom>
          <a:solidFill>
            <a:srgbClr val="CADCFC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3264408" y="2624328"/>
            <a:ext cx="146304" cy="146304"/>
          </a:xfrm>
          <a:prstGeom prst="ellipse">
            <a:avLst/>
          </a:prstGeom>
          <a:solidFill>
            <a:srgbClr val="CADCFC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3264408" y="2807208"/>
            <a:ext cx="146304" cy="146304"/>
          </a:xfrm>
          <a:prstGeom prst="ellipse">
            <a:avLst/>
          </a:prstGeom>
          <a:solidFill>
            <a:srgbClr val="CADCFC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3264408" y="3904488"/>
            <a:ext cx="146304" cy="146304"/>
          </a:xfrm>
          <a:prstGeom prst="ellipse">
            <a:avLst/>
          </a:prstGeom>
          <a:solidFill>
            <a:srgbClr val="C8EBDD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3264408" y="4087368"/>
            <a:ext cx="146304" cy="146304"/>
          </a:xfrm>
          <a:prstGeom prst="ellipse">
            <a:avLst/>
          </a:prstGeom>
          <a:solidFill>
            <a:srgbClr val="C8EBDD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3264408" y="4270248"/>
            <a:ext cx="146304" cy="146304"/>
          </a:xfrm>
          <a:prstGeom prst="ellipse">
            <a:avLst/>
          </a:prstGeom>
          <a:solidFill>
            <a:srgbClr val="C8EBDD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3264408" y="4453128"/>
            <a:ext cx="146304" cy="146304"/>
          </a:xfrm>
          <a:prstGeom prst="ellipse">
            <a:avLst/>
          </a:prstGeom>
          <a:solidFill>
            <a:srgbClr val="C8EBDD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4453128" y="1984248"/>
            <a:ext cx="146304" cy="146304"/>
          </a:xfrm>
          <a:prstGeom prst="ellipse">
            <a:avLst/>
          </a:prstGeom>
          <a:solidFill>
            <a:srgbClr val="FAD3C2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4453128" y="2167128"/>
            <a:ext cx="146304" cy="146304"/>
          </a:xfrm>
          <a:prstGeom prst="ellipse">
            <a:avLst/>
          </a:prstGeom>
          <a:solidFill>
            <a:srgbClr val="FAD3C2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4453128" y="2350008"/>
            <a:ext cx="146304" cy="146304"/>
          </a:xfrm>
          <a:prstGeom prst="ellipse">
            <a:avLst/>
          </a:prstGeom>
          <a:solidFill>
            <a:srgbClr val="FAD3C2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453128" y="2532888"/>
            <a:ext cx="146304" cy="146304"/>
          </a:xfrm>
          <a:prstGeom prst="ellipse">
            <a:avLst/>
          </a:prstGeom>
          <a:solidFill>
            <a:srgbClr val="FAD3C2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4453128" y="3081528"/>
            <a:ext cx="146304" cy="146304"/>
          </a:xfrm>
          <a:prstGeom prst="ellipse">
            <a:avLst/>
          </a:prstGeom>
          <a:solidFill>
            <a:srgbClr val="DDD8F4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4453128" y="3264408"/>
            <a:ext cx="146304" cy="146304"/>
          </a:xfrm>
          <a:prstGeom prst="ellipse">
            <a:avLst/>
          </a:prstGeom>
          <a:solidFill>
            <a:srgbClr val="DDD8F4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4453128" y="3447288"/>
            <a:ext cx="146304" cy="146304"/>
          </a:xfrm>
          <a:prstGeom prst="ellipse">
            <a:avLst/>
          </a:prstGeom>
          <a:solidFill>
            <a:srgbClr val="DDD8F4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4453128" y="3630168"/>
            <a:ext cx="146304" cy="146304"/>
          </a:xfrm>
          <a:prstGeom prst="ellipse">
            <a:avLst/>
          </a:prstGeom>
          <a:solidFill>
            <a:srgbClr val="DDD8F4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4453128" y="4178808"/>
            <a:ext cx="146304" cy="146304"/>
          </a:xfrm>
          <a:prstGeom prst="ellipse">
            <a:avLst/>
          </a:prstGeom>
          <a:solidFill>
            <a:srgbClr val="F7E3A1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4453128" y="4361688"/>
            <a:ext cx="146304" cy="146304"/>
          </a:xfrm>
          <a:prstGeom prst="ellipse">
            <a:avLst/>
          </a:prstGeom>
          <a:solidFill>
            <a:srgbClr val="F7E3A1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4453128" y="4544568"/>
            <a:ext cx="146304" cy="146304"/>
          </a:xfrm>
          <a:prstGeom prst="ellipse">
            <a:avLst/>
          </a:prstGeom>
          <a:solidFill>
            <a:srgbClr val="F7E3A1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4453128" y="4727448"/>
            <a:ext cx="146304" cy="146304"/>
          </a:xfrm>
          <a:prstGeom prst="ellipse">
            <a:avLst/>
          </a:prstGeom>
          <a:solidFill>
            <a:srgbClr val="F7E3A1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5596128" y="2167128"/>
            <a:ext cx="146304" cy="146304"/>
          </a:xfrm>
          <a:prstGeom prst="ellipse">
            <a:avLst/>
          </a:prstGeom>
          <a:solidFill>
            <a:srgbClr val="FAD3C2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5596128" y="2350008"/>
            <a:ext cx="146304" cy="146304"/>
          </a:xfrm>
          <a:prstGeom prst="ellipse">
            <a:avLst/>
          </a:prstGeom>
          <a:solidFill>
            <a:srgbClr val="FAD3C2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5596128" y="3264408"/>
            <a:ext cx="146304" cy="146304"/>
          </a:xfrm>
          <a:prstGeom prst="ellipse">
            <a:avLst/>
          </a:prstGeom>
          <a:solidFill>
            <a:srgbClr val="DDD8F4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5596128" y="3447288"/>
            <a:ext cx="146304" cy="146304"/>
          </a:xfrm>
          <a:prstGeom prst="ellipse">
            <a:avLst/>
          </a:prstGeom>
          <a:solidFill>
            <a:srgbClr val="DDD8F4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5596128" y="4361688"/>
            <a:ext cx="146304" cy="146304"/>
          </a:xfrm>
          <a:prstGeom prst="ellipse">
            <a:avLst/>
          </a:prstGeom>
          <a:solidFill>
            <a:srgbClr val="F7E3A1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5596128" y="4544568"/>
            <a:ext cx="146304" cy="146304"/>
          </a:xfrm>
          <a:prstGeom prst="ellipse">
            <a:avLst/>
          </a:prstGeom>
          <a:solidFill>
            <a:srgbClr val="F7E3A1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6830568" y="2670048"/>
            <a:ext cx="146304" cy="146304"/>
          </a:xfrm>
          <a:prstGeom prst="ellipse">
            <a:avLst/>
          </a:prstGeom>
          <a:solidFill>
            <a:srgbClr val="FAD3C2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6830568" y="2944368"/>
            <a:ext cx="146304" cy="146304"/>
          </a:xfrm>
          <a:prstGeom prst="ellipse">
            <a:avLst/>
          </a:prstGeom>
          <a:solidFill>
            <a:srgbClr val="FAD3C2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6830568" y="3218688"/>
            <a:ext cx="146304" cy="146304"/>
          </a:xfrm>
          <a:prstGeom prst="ellipse">
            <a:avLst/>
          </a:prstGeom>
          <a:solidFill>
            <a:srgbClr val="DDD8F4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6830568" y="3493008"/>
            <a:ext cx="146304" cy="146304"/>
          </a:xfrm>
          <a:prstGeom prst="ellipse">
            <a:avLst/>
          </a:prstGeom>
          <a:solidFill>
            <a:srgbClr val="DDD8F4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6830568" y="3767328"/>
            <a:ext cx="146304" cy="146304"/>
          </a:xfrm>
          <a:prstGeom prst="ellipse">
            <a:avLst/>
          </a:prstGeom>
          <a:solidFill>
            <a:srgbClr val="F7E3A1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830568" y="4041648"/>
            <a:ext cx="146304" cy="146304"/>
          </a:xfrm>
          <a:prstGeom prst="ellipse">
            <a:avLst/>
          </a:prstGeom>
          <a:solidFill>
            <a:srgbClr val="F7E3A1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110728" y="2587752"/>
            <a:ext cx="146304" cy="146304"/>
          </a:xfrm>
          <a:prstGeom prst="ellipse">
            <a:avLst/>
          </a:prstGeom>
          <a:solidFill>
            <a:srgbClr val="FFFFFF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110728" y="2971800"/>
            <a:ext cx="146304" cy="146304"/>
          </a:xfrm>
          <a:prstGeom prst="ellipse">
            <a:avLst/>
          </a:prstGeom>
          <a:solidFill>
            <a:srgbClr val="FFFFFF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110728" y="3355848"/>
            <a:ext cx="146304" cy="146304"/>
          </a:xfrm>
          <a:prstGeom prst="ellipse">
            <a:avLst/>
          </a:prstGeom>
          <a:solidFill>
            <a:srgbClr val="FFFFFF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110728" y="3739896"/>
            <a:ext cx="146304" cy="146304"/>
          </a:xfrm>
          <a:prstGeom prst="ellipse">
            <a:avLst/>
          </a:prstGeom>
          <a:solidFill>
            <a:srgbClr val="FFFFFF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110728" y="4123944"/>
            <a:ext cx="146304" cy="146304"/>
          </a:xfrm>
          <a:prstGeom prst="ellipse">
            <a:avLst/>
          </a:prstGeom>
          <a:solidFill>
            <a:srgbClr val="FFFFFF"/>
          </a:solidFill>
          <a:ln w="6350">
            <a:solidFill>
              <a:srgbClr val="52514E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345168" y="3035808"/>
            <a:ext cx="146304" cy="146304"/>
          </a:xfrm>
          <a:prstGeom prst="ellipse">
            <a:avLst/>
          </a:prstGeom>
          <a:solidFill>
            <a:srgbClr val="FAD3C2"/>
          </a:solidFill>
          <a:ln w="6350">
            <a:solidFill>
              <a:srgbClr val="EB6834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345168" y="3675888"/>
            <a:ext cx="146304" cy="146304"/>
          </a:xfrm>
          <a:prstGeom prst="ellipse">
            <a:avLst/>
          </a:prstGeom>
          <a:solidFill>
            <a:srgbClr val="FAD3C2"/>
          </a:solidFill>
          <a:ln w="6350">
            <a:solidFill>
              <a:srgbClr val="EB6834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2075688" y="2441448"/>
            <a:ext cx="146304" cy="14630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52" name="Text 250"/>
          <p:cNvSpPr txBox="1"/>
          <p:nvPr/>
        </p:nvSpPr>
        <p:spPr>
          <a:xfrm>
            <a:off x="9555480" y="2971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00" dirty="0"/>
          </a:p>
        </p:txBody>
      </p:sp>
      <p:sp>
        <p:nvSpPr>
          <p:cNvPr id="253" name="Text 251"/>
          <p:cNvSpPr txBox="1"/>
          <p:nvPr/>
        </p:nvSpPr>
        <p:spPr>
          <a:xfrm>
            <a:off x="9555480" y="3611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</a:t>
            </a:r>
            <a:endParaRPr lang="en-US" sz="1000" dirty="0"/>
          </a:p>
        </p:txBody>
      </p:sp>
      <p:sp>
        <p:nvSpPr>
          <p:cNvPr id="254" name="Shape 252"/>
          <p:cNvSpPr/>
          <p:nvPr/>
        </p:nvSpPr>
        <p:spPr>
          <a:xfrm>
            <a:off x="10241280" y="3268980"/>
            <a:ext cx="228600" cy="320040"/>
          </a:xfrm>
          <a:prstGeom prst="rightArrow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10515600" y="2880360"/>
            <a:ext cx="1124712" cy="109728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56" name="Text 254"/>
          <p:cNvSpPr txBox="1"/>
          <p:nvPr/>
        </p:nvSpPr>
        <p:spPr>
          <a:xfrm>
            <a:off x="10552176" y="2880360"/>
            <a:ext cx="1051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 normal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pneumonia</a:t>
            </a:r>
            <a:endParaRPr lang="en-US" sz="1600" dirty="0"/>
          </a:p>
        </p:txBody>
      </p:sp>
      <p:sp>
        <p:nvSpPr>
          <p:cNvPr id="257" name="Text 255"/>
          <p:cNvSpPr txBox="1"/>
          <p:nvPr/>
        </p:nvSpPr>
        <p:spPr>
          <a:xfrm>
            <a:off x="342900" y="51206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100" dirty="0"/>
          </a:p>
        </p:txBody>
      </p:sp>
      <p:sp>
        <p:nvSpPr>
          <p:cNvPr id="258" name="Text 256"/>
          <p:cNvSpPr txBox="1"/>
          <p:nvPr/>
        </p:nvSpPr>
        <p:spPr>
          <a:xfrm>
            <a:off x="342900" y="55046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 pixels</a:t>
            </a:r>
            <a:endParaRPr lang="en-US" sz="1100" dirty="0"/>
          </a:p>
        </p:txBody>
      </p:sp>
      <p:sp>
        <p:nvSpPr>
          <p:cNvPr id="259" name="Text 257"/>
          <p:cNvSpPr txBox="1"/>
          <p:nvPr/>
        </p:nvSpPr>
        <p:spPr>
          <a:xfrm>
            <a:off x="342900" y="57424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60" name="Text 258"/>
          <p:cNvSpPr txBox="1"/>
          <p:nvPr/>
        </p:nvSpPr>
        <p:spPr>
          <a:xfrm>
            <a:off x="1577340" y="51206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convolução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ReLU</a:t>
            </a:r>
            <a:endParaRPr lang="en-US" sz="1100" dirty="0"/>
          </a:p>
        </p:txBody>
      </p:sp>
      <p:sp>
        <p:nvSpPr>
          <p:cNvPr id="261" name="Text 259"/>
          <p:cNvSpPr txBox="1"/>
          <p:nvPr/>
        </p:nvSpPr>
        <p:spPr>
          <a:xfrm>
            <a:off x="1577340" y="55046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× 28 × 28</a:t>
            </a:r>
            <a:endParaRPr lang="en-US" sz="1100" dirty="0"/>
          </a:p>
        </p:txBody>
      </p:sp>
      <p:sp>
        <p:nvSpPr>
          <p:cNvPr id="262" name="Text 260"/>
          <p:cNvSpPr txBox="1"/>
          <p:nvPr/>
        </p:nvSpPr>
        <p:spPr>
          <a:xfrm>
            <a:off x="1577340" y="57424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self$convolucao1</a:t>
            </a:r>
            <a:endParaRPr lang="en-US" sz="900" dirty="0"/>
          </a:p>
        </p:txBody>
      </p:sp>
      <p:sp>
        <p:nvSpPr>
          <p:cNvPr id="263" name="Text 261"/>
          <p:cNvSpPr txBox="1"/>
          <p:nvPr/>
        </p:nvSpPr>
        <p:spPr>
          <a:xfrm>
            <a:off x="2766060" y="51206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100" dirty="0"/>
          </a:p>
        </p:txBody>
      </p:sp>
      <p:sp>
        <p:nvSpPr>
          <p:cNvPr id="264" name="Text 262"/>
          <p:cNvSpPr txBox="1"/>
          <p:nvPr/>
        </p:nvSpPr>
        <p:spPr>
          <a:xfrm>
            <a:off x="2766060" y="55046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× 14 × 14</a:t>
            </a:r>
            <a:endParaRPr lang="en-US" sz="1100" dirty="0"/>
          </a:p>
        </p:txBody>
      </p:sp>
      <p:sp>
        <p:nvSpPr>
          <p:cNvPr id="265" name="Text 263"/>
          <p:cNvSpPr txBox="1"/>
          <p:nvPr/>
        </p:nvSpPr>
        <p:spPr>
          <a:xfrm>
            <a:off x="2766060" y="57424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nnf_max_pool2d</a:t>
            </a:r>
            <a:endParaRPr lang="en-US" sz="900" dirty="0"/>
          </a:p>
        </p:txBody>
      </p:sp>
      <p:sp>
        <p:nvSpPr>
          <p:cNvPr id="266" name="Text 264"/>
          <p:cNvSpPr txBox="1"/>
          <p:nvPr/>
        </p:nvSpPr>
        <p:spPr>
          <a:xfrm>
            <a:off x="3954780" y="51206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convolução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ReLU</a:t>
            </a:r>
            <a:endParaRPr lang="en-US" sz="1100" dirty="0"/>
          </a:p>
        </p:txBody>
      </p:sp>
      <p:sp>
        <p:nvSpPr>
          <p:cNvPr id="267" name="Text 265"/>
          <p:cNvSpPr txBox="1"/>
          <p:nvPr/>
        </p:nvSpPr>
        <p:spPr>
          <a:xfrm>
            <a:off x="3954780" y="55046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× 14 × 14</a:t>
            </a:r>
            <a:endParaRPr lang="en-US" sz="1100" dirty="0"/>
          </a:p>
        </p:txBody>
      </p:sp>
      <p:sp>
        <p:nvSpPr>
          <p:cNvPr id="268" name="Text 266"/>
          <p:cNvSpPr txBox="1"/>
          <p:nvPr/>
        </p:nvSpPr>
        <p:spPr>
          <a:xfrm>
            <a:off x="3954780" y="57424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self$convolucao2</a:t>
            </a:r>
            <a:endParaRPr lang="en-US" sz="900" dirty="0"/>
          </a:p>
        </p:txBody>
      </p:sp>
      <p:sp>
        <p:nvSpPr>
          <p:cNvPr id="269" name="Text 267"/>
          <p:cNvSpPr txBox="1"/>
          <p:nvPr/>
        </p:nvSpPr>
        <p:spPr>
          <a:xfrm>
            <a:off x="5097780" y="51206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100" dirty="0"/>
          </a:p>
        </p:txBody>
      </p:sp>
      <p:sp>
        <p:nvSpPr>
          <p:cNvPr id="270" name="Text 268"/>
          <p:cNvSpPr txBox="1"/>
          <p:nvPr/>
        </p:nvSpPr>
        <p:spPr>
          <a:xfrm>
            <a:off x="5097780" y="55046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× 7 × 7</a:t>
            </a:r>
            <a:endParaRPr lang="en-US" sz="1100" dirty="0"/>
          </a:p>
        </p:txBody>
      </p:sp>
      <p:sp>
        <p:nvSpPr>
          <p:cNvPr id="271" name="Text 269"/>
          <p:cNvSpPr txBox="1"/>
          <p:nvPr/>
        </p:nvSpPr>
        <p:spPr>
          <a:xfrm>
            <a:off x="5097780" y="57424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nnf_max_pool2d</a:t>
            </a:r>
            <a:endParaRPr lang="en-US" sz="900" dirty="0"/>
          </a:p>
        </p:txBody>
      </p:sp>
      <p:sp>
        <p:nvSpPr>
          <p:cNvPr id="272" name="Text 270"/>
          <p:cNvSpPr txBox="1"/>
          <p:nvPr/>
        </p:nvSpPr>
        <p:spPr>
          <a:xfrm>
            <a:off x="6332220" y="51206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achatar</a:t>
            </a:r>
            <a:endParaRPr lang="en-US" sz="1100" dirty="0"/>
          </a:p>
        </p:txBody>
      </p:sp>
      <p:sp>
        <p:nvSpPr>
          <p:cNvPr id="273" name="Text 271"/>
          <p:cNvSpPr txBox="1"/>
          <p:nvPr/>
        </p:nvSpPr>
        <p:spPr>
          <a:xfrm>
            <a:off x="6332220" y="55046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1.568</a:t>
            </a:r>
            <a:endParaRPr lang="en-US" sz="1100" dirty="0"/>
          </a:p>
        </p:txBody>
      </p:sp>
      <p:sp>
        <p:nvSpPr>
          <p:cNvPr id="274" name="Text 272"/>
          <p:cNvSpPr txBox="1"/>
          <p:nvPr/>
        </p:nvSpPr>
        <p:spPr>
          <a:xfrm>
            <a:off x="6332220" y="57424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torch_flatten</a:t>
            </a:r>
            <a:endParaRPr lang="en-US" sz="900" dirty="0"/>
          </a:p>
        </p:txBody>
      </p:sp>
      <p:sp>
        <p:nvSpPr>
          <p:cNvPr id="275" name="Text 273"/>
          <p:cNvSpPr txBox="1"/>
          <p:nvPr/>
        </p:nvSpPr>
        <p:spPr>
          <a:xfrm>
            <a:off x="7612380" y="51206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densa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ReLU</a:t>
            </a:r>
            <a:endParaRPr lang="en-US" sz="1100" dirty="0"/>
          </a:p>
        </p:txBody>
      </p:sp>
      <p:sp>
        <p:nvSpPr>
          <p:cNvPr id="276" name="Text 274"/>
          <p:cNvSpPr txBox="1"/>
          <p:nvPr/>
        </p:nvSpPr>
        <p:spPr>
          <a:xfrm>
            <a:off x="7612380" y="55046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277" name="Text 275"/>
          <p:cNvSpPr txBox="1"/>
          <p:nvPr/>
        </p:nvSpPr>
        <p:spPr>
          <a:xfrm>
            <a:off x="7612380" y="57424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self$densa</a:t>
            </a:r>
            <a:endParaRPr lang="en-US" sz="900" dirty="0"/>
          </a:p>
        </p:txBody>
      </p:sp>
      <p:sp>
        <p:nvSpPr>
          <p:cNvPr id="278" name="Text 276"/>
          <p:cNvSpPr txBox="1"/>
          <p:nvPr/>
        </p:nvSpPr>
        <p:spPr>
          <a:xfrm>
            <a:off x="8846820" y="51206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100" dirty="0"/>
          </a:p>
        </p:txBody>
      </p:sp>
      <p:sp>
        <p:nvSpPr>
          <p:cNvPr id="279" name="Text 277"/>
          <p:cNvSpPr txBox="1"/>
          <p:nvPr/>
        </p:nvSpPr>
        <p:spPr>
          <a:xfrm>
            <a:off x="8846820" y="55046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0" name="Text 278"/>
          <p:cNvSpPr txBox="1"/>
          <p:nvPr/>
        </p:nvSpPr>
        <p:spPr>
          <a:xfrm>
            <a:off x="8846820" y="57424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self$saida</a:t>
            </a:r>
            <a:endParaRPr lang="en-US" sz="900" dirty="0"/>
          </a:p>
        </p:txBody>
      </p:sp>
      <p:sp>
        <p:nvSpPr>
          <p:cNvPr id="281" name="Text 279"/>
          <p:cNvSpPr txBox="1"/>
          <p:nvPr/>
        </p:nvSpPr>
        <p:spPr>
          <a:xfrm>
            <a:off x="10492740" y="51206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100" dirty="0"/>
          </a:p>
        </p:txBody>
      </p:sp>
      <p:sp>
        <p:nvSpPr>
          <p:cNvPr id="282" name="Text 280"/>
          <p:cNvSpPr txBox="1"/>
          <p:nvPr/>
        </p:nvSpPr>
        <p:spPr>
          <a:xfrm>
            <a:off x="10492740" y="55046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probabilidades</a:t>
            </a:r>
            <a:endParaRPr lang="en-US" sz="1100" dirty="0"/>
          </a:p>
        </p:txBody>
      </p:sp>
      <p:sp>
        <p:nvSpPr>
          <p:cNvPr id="283" name="Text 281"/>
          <p:cNvSpPr txBox="1"/>
          <p:nvPr/>
        </p:nvSpPr>
        <p:spPr>
          <a:xfrm>
            <a:off x="10492740" y="57424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nnf_softmax</a:t>
            </a:r>
            <a:endParaRPr lang="en-US" sz="900" dirty="0"/>
          </a:p>
        </p:txBody>
      </p:sp>
      <p:sp>
        <p:nvSpPr>
          <p:cNvPr id="284" name="Text 282"/>
          <p:cNvSpPr txBox="1"/>
          <p:nvPr/>
        </p:nvSpPr>
        <p:spPr>
          <a:xfrm>
            <a:off x="548640" y="605332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círculo é um neurônio e cada cor, um mapa.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alguns aparecem; os tamanhos reais e o nome no código estão embaixo.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Convolução: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neurônio se liga só aos vizinhos (em laranja, um exemplo). Camada densa e saída: liga-se a todos da coluna anterior.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R, de ponta a ponta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1005840"/>
          </a:xfrm>
          <a:prstGeom prst="roundRect">
            <a:avLst>
              <a:gd name="adj" fmla="val 1090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Ler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.npz lido em R puro, sem Python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5120640" cy="1005840"/>
          </a:xfrm>
          <a:prstGeom prst="roundRect">
            <a:avLst>
              <a:gd name="adj" fmla="val 1090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6700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Preparar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em tensores de −1 a 1, em lotes de 128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5120640" cy="1005840"/>
          </a:xfrm>
          <a:prstGeom prst="roundRect">
            <a:avLst>
              <a:gd name="adj" fmla="val 1090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58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Montar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51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nn_module: 2 convoluções e 1 camada densa, 105 mil pesos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5120640" cy="1005840"/>
          </a:xfrm>
          <a:prstGeom prst="roundRect">
            <a:avLst>
              <a:gd name="adj" fmla="val 1090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0474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Treinar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440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épocas com entropia cruzada e Adam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5605272" cy="4572000"/>
          </a:xfrm>
          <a:prstGeom prst="roundRect">
            <a:avLst>
              <a:gd name="adj" fmla="val 2400"/>
            </a:avLst>
          </a:prstGeom>
          <a:solidFill>
            <a:srgbClr val="1A2A4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1600200"/>
            <a:ext cx="505663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caminho da imagem pela rede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self$convolucao1(x)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nnf_relu(x)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nnf_max_pool2d(x, 2)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self$convolucao2(x)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nnf_relu(x)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nnf_max_pool2d(x, 2)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torch_flatten(x, start_dim = 2)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nnf_relu(self$densa(x))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self$dropout(x)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self$saida(x)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1722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único script, cnn_pneumonia.R, com o pacote torch e o R base.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no teste: 624 raios-X novos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675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94560"/>
                <a:gridCol w="2194560"/>
              </a:tblGrid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previsto: normal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previsto: pneumonia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real: normal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3C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real: pneumonia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BD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343400"/>
            <a:ext cx="6675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confusão: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é o diagnóstico real; cada coluna, o que a rede previu. Verde: acertos. Laranja: erros.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alarmes falsos: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saudáveis classificadas como pneumonia.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pneumonias perdidas: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doentes classificadas como normais.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80960" y="1371600"/>
            <a:ext cx="3959352" cy="1554480"/>
          </a:xfrm>
          <a:prstGeom prst="roundRect">
            <a:avLst>
              <a:gd name="adj" fmla="val 705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55280" y="1554480"/>
            <a:ext cx="3410712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86,9%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253996"/>
            <a:ext cx="3410712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acurácia: 542 acertos em 624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80960" y="3063240"/>
            <a:ext cx="3959352" cy="1554480"/>
          </a:xfrm>
          <a:prstGeom prst="roundRect">
            <a:avLst>
              <a:gd name="adj" fmla="val 705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55280" y="3246120"/>
            <a:ext cx="3410712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98,5%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3945636"/>
            <a:ext cx="3410712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sensibilidade: das 390 pneumonias, 384 detectadas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680960" y="4754880"/>
            <a:ext cx="3959352" cy="1554480"/>
          </a:xfrm>
          <a:prstGeom prst="roundRect">
            <a:avLst>
              <a:gd name="adj" fmla="val 705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4937760"/>
            <a:ext cx="3410712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67,5%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5637276"/>
            <a:ext cx="3410712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especificidade: dos 234 normais, 158 reconhecidos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fica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CNN encontra padrões na imagem com filtros aprendidos e depois combina esses padrões para decidir.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R, com torch: 105 mil pesos, 86,9% de acerto e 98,5% das pneumonias detectadas em raios-X nunca vistos.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fraco: 76 alarmes falsos em 234 normais, herança dos dados (74% pneumonia). Próximo passo: pesar as classes ou mudar o corte de 50%.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 ·  Davi Pires Aquino de Carvalho · UFRPE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 em R: pneumonia em raios-X (pitch)</dc:title>
  <dc:subject>PptxGenJS Presentation</dc:subject>
  <dc:creator>PptxGenJS</dc:creator>
  <cp:lastModifiedBy>PptxGenJS</cp:lastModifiedBy>
  <cp:revision>1</cp:revision>
  <dcterms:created xsi:type="dcterms:W3CDTF">2026-09-28T21:29:18Z</dcterms:created>
  <dcterms:modified xsi:type="dcterms:W3CDTF">2026-09-28T21:29:18Z</dcterms:modified>
</cp:coreProperties>
</file>